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7"/>
  </p:notesMasterIdLst>
  <p:sldIdLst>
    <p:sldId id="273" r:id="rId2"/>
    <p:sldId id="257" r:id="rId3"/>
    <p:sldId id="258" r:id="rId4"/>
    <p:sldId id="259" r:id="rId5"/>
    <p:sldId id="260" r:id="rId6"/>
    <p:sldId id="261" r:id="rId7"/>
    <p:sldId id="262" r:id="rId8"/>
    <p:sldId id="271" r:id="rId9"/>
    <p:sldId id="270" r:id="rId10"/>
    <p:sldId id="263" r:id="rId11"/>
    <p:sldId id="264" r:id="rId12"/>
    <p:sldId id="266" r:id="rId13"/>
    <p:sldId id="267" r:id="rId14"/>
    <p:sldId id="268" r:id="rId15"/>
    <p:sldId id="269"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10"/>
  </p:normalViewPr>
  <p:slideViewPr>
    <p:cSldViewPr snapToGrid="0" snapToObjects="1">
      <p:cViewPr varScale="1">
        <p:scale>
          <a:sx n="85" d="100"/>
          <a:sy n="85" d="100"/>
        </p:scale>
        <p:origin x="105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23220957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Introduce yourself, the internship, and the project scope: cloud automation, enterprise data engineering, and web scraping systems built for Ford's product part pricing workflow. Mention your college and the internship duration. Keep this to 20-30 seconds — this is the hook, not the detail. Speak with confidence: this is an engineering review, so set the tone as a peer presenting real technical work, not a student presenting a class project. Preview that you will walk through the journey chronologically, starting with a small automation utility and building up to enterprise cloud services, data engineering, and a production-style scraping pipeline, before closing with the challenges encountered and lessons learned. If you have exact internship dates, replace the placeholder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4276934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internship as a chronological roadmap rather than a generic overview — this is the map for the rest of the talk. Phase one covers the foundations: the internship began with a small standalone automation utility, the Ford Dealer URL Finder, which was the first real deliverable. From there I moved into the Google Cloud environment, learned to authenticate securely through service account impersonation, and worked hands-on with BigQuery and Cloud Storage as part of broader enterprise cloud services exposure. Phase two covers the core project and supporting practices: the product part pricing automation project, which involved web scraping AutoZone and NAPA's sites, and the enterprise tooling around it — Apache Airflow for orchestration, a CI/CD pipeline for deployment, and Jira for tracking work. The journey closes with manual validation of results and the key learnings I'm taking forward. Tell the audience each of these numbered stops will get its own slide, so they know what's coming.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5406125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the first automation utility I built, before moving into the cloud-heavy part of the internship. The objective was simple but time-saving: given a Ford dealer's name, automatically find and confirm its official website instead of searching manually. The workflow reads a dealer name, uses Python to call the SerpAPI service, which runs a Google search on my behalf, then parses the results to extract the official website link, filtering out directory listings and unrelated pages. Results are written to an Excel report using OpenPyXL, so the output is ready for business use without extra formatting. On the technology side, I used the Requests library for API calls, wrote custom exception handling so a failed lookup or missing result does not stop the whole batch, and used OpenPyXL to build the report programmatically. Key functions included one that constructs the SerpAPI query, one that parses and validates the returned URLs against a dealer-name similarity check, and one that writes each row incrementally to Excel so partial progress is never lost. This small project taught me how to structure a clean, resilient Python script early on, which shaped how I approached later, larger automations.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046542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touching the core project, I spent time learning Google Cloud Platform from the ground up, since this was my first hands-on exposure to enterprise cloud infrastructure. I explain cloud computing simply: instead of running everything on a local machine, compute, storage, and data services run on Google's infrastructure and are accessed on demand, which is why large enterprises adopt it — it scales elastically, is centrally secured, and removes the burden of managing physical servers. I grouped what I learned into four areas. Identity and security covers IAM for permissions, service accounts for machine identities, and Secret Manager for credentials. Data and storage covers BigQuery for analytics-scale data, Cloud Storage for files and objects, Cloud SQL for relational databases, and Pub/Sub for messaging between services. Compute and deployment covers Cloud Build, Artifact Registry, Cloud Run, and Cloud Functions — the pieces that turn code into a running, deployed service. Operations covers Cloud Logging, Monitoring, and Scheduler, which keep automated systems observable and on schedule. I did not use every one of these in depth, but understanding how they fit together gave me a real picture of enterprise-grade cloud architecture.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1501443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Working inside a real enterprise environment meant I could not simply be handed broad, permanent access to Google Cloud resources — that would violate least-privilege security practice. Instead, the team used service account impersonation. In practice this means my developer identity authenticates first, is verified against IAM policy, and if authorized, is allowed to impersonate a service account for the duration of the task. That impersonation generates short-lived, temporary credentials, which are what actually authenticate against Google Cloud — not my personal identity directly. Once the task is done, those credentials expire, so there is no standing access left over to misuse or forget about. I explain why this matters: it enforces least privilege, since permissions are scoped to the service account and only active when needed; it keeps an audit trail, since every impersonation event is logged; and it separates human identity from machine identity, which is a core enterprise security pattern. Learning to authenticate this way, instead of using a static key file, was one of the most valuable practical security lessons from the internship, and it directly shaped how I approached every GCP script afterward.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0337157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covers the two core data services I used most: BigQuery and Cloud Storage. For BigQuery, I explain the basic hierarchy — a dataset holds tables, and tables hold structured rows queried with SQL. Day to day, I performed the standard operations: creating datasets and tables, inserting new records, updating existing rows, deleting stale data, and running queries to pull results back into Python. This gave me practical, hands-on SQL experience at cloud scale rather than on a local database. For Cloud Storage, I explain the object storage model — buckets are containers, objects are the files inside them, and each bucket has a region and a storage class that affects cost and access speed. Operationally, I created buckets, uploaded objects programmatically from Python, deleted buckets when no longer needed, and generally managed files as part of the pipeline's input and output handling. Together, BigQuery and Cloud Storage formed the backbone of how data moved through the automations I built — structured, queryable data in BigQuery, and files, exports, or images in Cloud Storage. Point out the screenshots as the actual evidence of these operations running in the console and in code.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8927386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project of the internship. The business problem: manually checking AutoZone and NAPA Auto Parts prices for every part number in a catalog is slow, repetitive, and error-prone at scale. The automation reads part numbers from an Excel input file, then for each one generates the corresponding AutoZone or NAPA search URL, searches the site, and retrieves the listed price — or records that the part was not found. Results are written back out in two formats: an Excel report for business users, and a JSON file for any downstream system that needs structured data. Walk through each stage briefly: the Excel input stage reads part number and brand columns; the URL generation stage builds a clean, correctly formatted search link per part; the search and retrieval stage is where the actual page is requested and the price parsed from the response; and the output stage writes both formats so the results are usable by both people and other tools. This project is where everything else in the internship connects — the cloud learning, the Python scripting discipline from the dealer finder project, and the data-handling practices from BigQuery and Cloud Storage all fed into building this pipeline.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965838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sets up vocabulary before the challenges slide. I distinguish four related but different concepts: web scraping is extracting data directly from a page's HTML; automation is any scripted, end-to-end workflow, scraping included; browser automation specifically drives a real browser to load and interact with pages, which is heavier but harder for sites to distinguish from a human; and an API is a structured, sanctioned way to request data, which is the easiest and most reliable option when a site provides one — the target site did not expose a usable public API for this. Below that, I walk through the actual request path used to try to reach the target site's pricing pages: an automation script triggered an Apify actor, which routed requests through residential proxies to avoid datacenter IP blocks, and used a stealth browser configuration to mask automation fingerprints like headless-browser signatures. Emphasize that all of this tooling is industry-standard for this kind of problem — it is not that the approach was wrong, which sets up the challenges and root-cause slides that follow.</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6998168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parallel efforts ran into real-world blockers. Project one used Apify actors against two other retailers, NAPA and AutoZone, as an alternative or comparison path. NAPA's actor required a paid rental to run at any meaningful scale, which was not a sustainable option for this use case. AutoZone's actor ran, but returned incorrect products and no usable price information, so its output could not be trusted. Project two was the main direct website scraping effort against the primary target site, where three separate methods were tried in sequence: a standard browser automation request, which was blocked; a residential proxy to disguise the request as coming from a normal consumer IP, which was still blocked; and a stealth browser configured to mask automation fingerprints, which was also blocked. Every method returned the same result — a 403 Forbidden response. Present this as a systematic, professional debugging process rather than a failure: each method was a reasonable next step given the previous result, and ruling all three out is exactly what led to the root-cause investigation on the next slide. This is the kind of persistence and structured problem-solving managers want to see in an engineering review.</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1844783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the core pricing project, the internship exposed me to the broader enterprise software development toolchain. Terraform introduced me to Infrastructure as Code — defining cloud resources in version-controlled configuration files instead of clicking through a console, so environments are reproducible and auditable. Apache Airflow was used for workflow orchestration: I learned what a DAG is, a Directed Acyclic Graph that represents a workflow as a set of tasks with dependencies between them, how tasks are scheduled to run automatically, how Airflow monitors task status, and how it retries failed tasks automatically rather than requiring manual intervention. The CI/CD pipeline ties deployment together: a developer pushes code, Cloud Build compiles and packages it, the resulting artifact is stored in Artifact Registry, and Cloud Run deploys and serves it — a fully automated path from code change to running service. Jira rounded this out on the process side: creating tickets for new work, tracking issues through their lifecycle, and following an agile workflow with the team. None of these were the core deliverable, but understanding how they fit around a project gave me a realistic picture of how software actually ships inside a large enterprise like Ford.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2181134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Automated output is only as trustworthy as the checks behind it, so before treating the pricing data as reliable for business use, I ran a manual validation pass across four regions: United Kingdom, Germany, Spain, and France. The validation flow compared source images stored in Cloud Storage against live website prices, cross-checked those against the part pricing the automation produced, and flagged any mismatches for review. I explain why this step matters, plainly: automated output can look complete and well-formatted while still being wrong — a broken page selector, a stale cached page, or a currency or unit mismatch can all produce a price that looks plausible but is not correct, and nothing in the automation itself would catch that. Manual validation is the safety net that catches those silent failures before the data reaches a business decision. This is also a professional habit worth highlighting to the reviewers: treating automation output as a draft that needs verification, not a finished product, is standard practice in production data engineering, and building that habit early was one of the more important, less visible lessons of the internship.</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8497823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technical narrative with a skills summary and a genuine reflection. On the technical side: Python, automation, and web scraping formed the scripting core; BigQuery and Cloud Storage gave hands-on cloud data experience; and Terraform, Airflow, CI/CD, and Jira rounded out exposure to how enterprise teams build, deploy, and track work. On the professional side: problem solving and debugging came directly from working through the 403 blocking issue methodically instead of guessing; documentation and team collaboration came from working within an existing engineering team's practices; validation is its own professional skill, not just a technical step; and cloud computing and security awareness came from the service account impersonation and IAM work. Read the reflection paragraph slowly and genuinely rather than rushing it — this is the moment to sound like an engineer who understands that real-world development means working within constraints, verifying results, and collaborating with a team, not just writing code that runs once. This slide is meant to leave managers and mentors with a clear sense of growth, not just a list of tools touched.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9380802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genuine thanks to mentors, teammates, and Ford for the opportunity, then open the floor for questions. Keep this brief and sincere — 15-20 seconds — and be ready to speak in more depth about any of the earlier slides, especially the root-cause investigation and the cloud architecture, since those are the most likely places managers and engineers will probe further.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6391858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4.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notesSlide" Target="../notesSlides/notesSlide4.xml"/><Relationship Id="rId16" Type="http://schemas.openxmlformats.org/officeDocument/2006/relationships/image" Target="../media/image26.png"/><Relationship Id="rId1" Type="http://schemas.openxmlformats.org/officeDocument/2006/relationships/slideLayout" Target="../slideLayouts/slideLayout1.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5" Type="http://schemas.openxmlformats.org/officeDocument/2006/relationships/image" Target="../media/image2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4.png"/></Relationships>
</file>

<file path=ppt/slides/_rels/slide5.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29.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28.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3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5.png"/><Relationship Id="rId4" Type="http://schemas.openxmlformats.org/officeDocument/2006/relationships/image" Target="../media/image34.png"/></Relationships>
</file>

<file path=ppt/slides/_rels/slide8.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9.png"/><Relationship Id="rId7" Type="http://schemas.openxmlformats.org/officeDocument/2006/relationships/image" Target="../media/image37.png"/><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6.png"/><Relationship Id="rId10" Type="http://schemas.openxmlformats.org/officeDocument/2006/relationships/image" Target="../media/image40.png"/><Relationship Id="rId4" Type="http://schemas.openxmlformats.org/officeDocument/2006/relationships/image" Target="../media/image36.png"/><Relationship Id="rId9" Type="http://schemas.openxmlformats.org/officeDocument/2006/relationships/image" Target="../media/image39.png"/></Relationships>
</file>

<file path=ppt/slides/_rels/slide9.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9.png"/><Relationship Id="rId7" Type="http://schemas.openxmlformats.org/officeDocument/2006/relationships/image" Target="../media/image42.png"/><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10.png"/><Relationship Id="rId4" Type="http://schemas.openxmlformats.org/officeDocument/2006/relationships/image" Target="../media/image36.png"/><Relationship Id="rId9" Type="http://schemas.openxmlformats.org/officeDocument/2006/relationships/image" Target="../media/image44.png"/></Relationships>
</file>

<file path=ppt/slides/_rels/slide1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6.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45.png"/></Relationships>
</file>

<file path=ppt/slides/_rels/slide12.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1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9326880" y="-548640"/>
            <a:ext cx="2377440" cy="2377440"/>
          </a:xfrm>
          <a:prstGeom prst="ellipse">
            <a:avLst/>
          </a:prstGeom>
          <a:solidFill>
            <a:srgbClr val="6E1423">
              <a:alpha val="8000"/>
            </a:srgbClr>
          </a:solidFill>
        </p:spPr>
      </p:sp>
      <p:sp>
        <p:nvSpPr>
          <p:cNvPr id="3" name="Shape 1"/>
          <p:cNvSpPr/>
          <p:nvPr/>
        </p:nvSpPr>
        <p:spPr>
          <a:xfrm>
            <a:off x="10789920" y="1097280"/>
            <a:ext cx="1280160" cy="1280160"/>
          </a:xfrm>
          <a:prstGeom prst="ellipse">
            <a:avLst/>
          </a:prstGeom>
          <a:solidFill>
            <a:srgbClr val="6E1423">
              <a:alpha val="8000"/>
            </a:srgbClr>
          </a:solidFill>
        </p:spPr>
      </p:sp>
      <p:sp>
        <p:nvSpPr>
          <p:cNvPr id="4" name="Shape 2"/>
          <p:cNvSpPr/>
          <p:nvPr/>
        </p:nvSpPr>
        <p:spPr>
          <a:xfrm>
            <a:off x="8961120" y="2743200"/>
            <a:ext cx="1737360" cy="1737360"/>
          </a:xfrm>
          <a:prstGeom prst="ellipse">
            <a:avLst/>
          </a:prstGeom>
          <a:solidFill>
            <a:srgbClr val="6E1423">
              <a:alpha val="8000"/>
            </a:srgbClr>
          </a:solidFill>
        </p:spPr>
      </p:sp>
      <p:sp>
        <p:nvSpPr>
          <p:cNvPr id="5" name="Shape 3"/>
          <p:cNvSpPr/>
          <p:nvPr/>
        </p:nvSpPr>
        <p:spPr>
          <a:xfrm>
            <a:off x="11338560" y="4206240"/>
            <a:ext cx="1005840" cy="1005840"/>
          </a:xfrm>
          <a:prstGeom prst="ellipse">
            <a:avLst/>
          </a:prstGeom>
          <a:solidFill>
            <a:srgbClr val="6E1423">
              <a:alpha val="8000"/>
            </a:srgbClr>
          </a:solidFill>
        </p:spPr>
      </p:sp>
      <p:sp>
        <p:nvSpPr>
          <p:cNvPr id="6" name="Shape 4"/>
          <p:cNvSpPr/>
          <p:nvPr/>
        </p:nvSpPr>
        <p:spPr>
          <a:xfrm>
            <a:off x="9875520" y="5760720"/>
            <a:ext cx="1463040" cy="1463040"/>
          </a:xfrm>
          <a:prstGeom prst="ellipse">
            <a:avLst/>
          </a:prstGeom>
          <a:solidFill>
            <a:srgbClr val="6E1423">
              <a:alpha val="8000"/>
            </a:srgbClr>
          </a:solidFill>
        </p:spPr>
      </p:sp>
      <p:sp>
        <p:nvSpPr>
          <p:cNvPr id="7" name="Shape 5"/>
          <p:cNvSpPr/>
          <p:nvPr/>
        </p:nvSpPr>
        <p:spPr>
          <a:xfrm>
            <a:off x="-2011680" y="4206240"/>
            <a:ext cx="3291840" cy="3291840"/>
          </a:xfrm>
          <a:prstGeom prst="ellipse">
            <a:avLst/>
          </a:prstGeom>
          <a:solidFill>
            <a:srgbClr val="6E1423">
              <a:alpha val="8000"/>
            </a:srgbClr>
          </a:solidFill>
        </p:spPr>
      </p:sp>
      <p:sp>
        <p:nvSpPr>
          <p:cNvPr id="8" name="Text 6"/>
          <p:cNvSpPr/>
          <p:nvPr/>
        </p:nvSpPr>
        <p:spPr>
          <a:xfrm>
            <a:off x="502920" y="1371600"/>
            <a:ext cx="9144000" cy="365760"/>
          </a:xfrm>
          <a:prstGeom prst="rect">
            <a:avLst/>
          </a:prstGeom>
          <a:noFill/>
        </p:spPr>
        <p:txBody>
          <a:bodyPr wrap="square" lIns="0" tIns="0" rIns="0" bIns="0" rtlCol="0" anchor="ctr"/>
          <a:lstStyle/>
          <a:p>
            <a:pPr marL="0" indent="0">
              <a:buNone/>
            </a:pPr>
            <a:r>
              <a:rPr lang="en-US" sz="1400" b="1" kern="0" spc="300" dirty="0">
                <a:solidFill>
                  <a:srgbClr val="A13D4C"/>
                </a:solidFill>
                <a:latin typeface="Calibri" panose="020F0502020204030204" pitchFamily="34" charset="0"/>
                <a:ea typeface="Calibri" panose="020F0502020204030204" pitchFamily="34" charset="-122"/>
                <a:cs typeface="Calibri" panose="020F0502020204030204" pitchFamily="34" charset="-120"/>
              </a:rPr>
              <a:t>FORD INTERNSHIP EXPERIENCE</a:t>
            </a:r>
            <a:endParaRPr lang="en-US" sz="1400" dirty="0"/>
          </a:p>
        </p:txBody>
      </p:sp>
      <p:sp>
        <p:nvSpPr>
          <p:cNvPr id="9" name="Text 7"/>
          <p:cNvSpPr/>
          <p:nvPr/>
        </p:nvSpPr>
        <p:spPr>
          <a:xfrm>
            <a:off x="502920" y="1783080"/>
            <a:ext cx="8778240" cy="1737360"/>
          </a:xfrm>
          <a:prstGeom prst="rect">
            <a:avLst/>
          </a:prstGeom>
          <a:noFill/>
        </p:spPr>
        <p:txBody>
          <a:bodyPr wrap="square" lIns="0" tIns="0" rIns="0" bIns="0" rtlCol="0" anchor="ctr"/>
          <a:lstStyle/>
          <a:p>
            <a:pPr marL="0" indent="0">
              <a:lnSpc>
                <a:spcPct val="105000"/>
              </a:lnSpc>
              <a:buNone/>
            </a:pPr>
            <a:r>
              <a:rPr lang="en-US" sz="4000" b="1" dirty="0">
                <a:solidFill>
                  <a:srgbClr val="6E1423"/>
                </a:solidFill>
                <a:latin typeface="Cambria" panose="02040503050406030204" pitchFamily="34" charset="0"/>
                <a:ea typeface="Cambria" panose="02040503050406030204" pitchFamily="34" charset="-122"/>
                <a:cs typeface="Cambria" panose="02040503050406030204" pitchFamily="34" charset="-120"/>
              </a:rPr>
              <a:t>Product Part Pricing</a:t>
            </a:r>
            <a:endParaRPr lang="en-US" sz="4000" dirty="0"/>
          </a:p>
          <a:p>
            <a:pPr marL="0" indent="0">
              <a:lnSpc>
                <a:spcPct val="105000"/>
              </a:lnSpc>
              <a:buNone/>
            </a:pPr>
            <a:r>
              <a:rPr lang="en-US" sz="4000" b="1" dirty="0">
                <a:solidFill>
                  <a:srgbClr val="6E1423"/>
                </a:solidFill>
                <a:latin typeface="Cambria" panose="02040503050406030204" pitchFamily="34" charset="0"/>
                <a:ea typeface="Cambria" panose="02040503050406030204" pitchFamily="34" charset="-122"/>
                <a:cs typeface="Cambria" panose="02040503050406030204" pitchFamily="34" charset="-120"/>
              </a:rPr>
              <a:t>Automation &amp; Learning Journey</a:t>
            </a:r>
            <a:endParaRPr lang="en-US" sz="4000" dirty="0"/>
          </a:p>
        </p:txBody>
      </p:sp>
      <p:sp>
        <p:nvSpPr>
          <p:cNvPr id="10" name="Text 8"/>
          <p:cNvSpPr/>
          <p:nvPr/>
        </p:nvSpPr>
        <p:spPr>
          <a:xfrm>
            <a:off x="502920" y="3429000"/>
            <a:ext cx="7863840" cy="640080"/>
          </a:xfrm>
          <a:prstGeom prst="rect">
            <a:avLst/>
          </a:prstGeom>
          <a:noFill/>
        </p:spPr>
        <p:txBody>
          <a:bodyPr wrap="square" lIns="0" tIns="0" rIns="0" bIns="0" rtlCol="0" anchor="ctr"/>
          <a:lstStyle/>
          <a:p>
            <a:pPr marL="0" indent="0">
              <a:buNone/>
            </a:pPr>
            <a:r>
              <a:rPr lang="en-US" sz="1400" i="1" dirty="0">
                <a:solidFill>
                  <a:srgbClr val="7D5A5E"/>
                </a:solidFill>
                <a:latin typeface="Calibri" panose="020F0502020204030204" pitchFamily="34" charset="0"/>
                <a:ea typeface="Calibri" panose="020F0502020204030204" pitchFamily="34" charset="-122"/>
                <a:cs typeface="Calibri" panose="020F0502020204030204" pitchFamily="34" charset="-120"/>
              </a:rPr>
              <a:t>Cloud automation, enterprise data engineering, and web scraping systems</a:t>
            </a:r>
            <a:endParaRPr lang="en-US" sz="1400" dirty="0"/>
          </a:p>
          <a:p>
            <a:pPr marL="0" indent="0">
              <a:buNone/>
            </a:pPr>
            <a:r>
              <a:rPr lang="en-US" sz="1400" i="1" dirty="0">
                <a:solidFill>
                  <a:srgbClr val="7D5A5E"/>
                </a:solidFill>
                <a:latin typeface="Calibri" panose="020F0502020204030204" pitchFamily="34" charset="0"/>
                <a:ea typeface="Calibri" panose="020F0502020204030204" pitchFamily="34" charset="-122"/>
                <a:cs typeface="Calibri" panose="020F0502020204030204" pitchFamily="34" charset="-120"/>
              </a:rPr>
              <a:t>built during my Ford internship.</a:t>
            </a:r>
            <a:endParaRPr lang="en-US" sz="1400" dirty="0"/>
          </a:p>
        </p:txBody>
      </p:sp>
      <p:sp>
        <p:nvSpPr>
          <p:cNvPr id="11" name="Shape 9"/>
          <p:cNvSpPr/>
          <p:nvPr/>
        </p:nvSpPr>
        <p:spPr>
          <a:xfrm>
            <a:off x="502920" y="4343400"/>
            <a:ext cx="5486400" cy="1737360"/>
          </a:xfrm>
          <a:prstGeom prst="roundRect">
            <a:avLst>
              <a:gd name="adj" fmla="val 3158"/>
            </a:avLst>
          </a:prstGeom>
          <a:solidFill>
            <a:srgbClr val="F3E6E1"/>
          </a:solidFill>
          <a:effectLst>
            <a:outerShdw blurRad="38100" dist="25400" dir="5400000" algn="bl" rotWithShape="0">
              <a:srgbClr val="3A1520">
                <a:alpha val="12000"/>
              </a:srgbClr>
            </a:outerShdw>
          </a:effectLst>
        </p:spPr>
      </p:sp>
      <p:sp>
        <p:nvSpPr>
          <p:cNvPr id="12" name="Shape 10"/>
          <p:cNvSpPr/>
          <p:nvPr/>
        </p:nvSpPr>
        <p:spPr>
          <a:xfrm>
            <a:off x="731520" y="4553712"/>
            <a:ext cx="384048" cy="384048"/>
          </a:xfrm>
          <a:prstGeom prst="ellipse">
            <a:avLst/>
          </a:prstGeom>
          <a:solidFill>
            <a:srgbClr val="A13D4C"/>
          </a:solidFill>
        </p:spPr>
      </p:sp>
      <p:pic>
        <p:nvPicPr>
          <p:cNvPr id="13" name="Image 0" descr="/home/claude/work/icons/graduate.png"/>
          <p:cNvPicPr>
            <a:picLocks noChangeAspect="1"/>
          </p:cNvPicPr>
          <p:nvPr/>
        </p:nvPicPr>
        <p:blipFill>
          <a:blip r:embed="rId3"/>
          <a:stretch>
            <a:fillRect/>
          </a:stretch>
        </p:blipFill>
        <p:spPr>
          <a:xfrm>
            <a:off x="789127" y="4611319"/>
            <a:ext cx="268834" cy="268834"/>
          </a:xfrm>
          <a:prstGeom prst="rect">
            <a:avLst/>
          </a:prstGeom>
        </p:spPr>
      </p:pic>
      <p:sp>
        <p:nvSpPr>
          <p:cNvPr id="14" name="Text 11"/>
          <p:cNvSpPr/>
          <p:nvPr/>
        </p:nvSpPr>
        <p:spPr>
          <a:xfrm>
            <a:off x="1280160" y="4553712"/>
            <a:ext cx="4572000" cy="384048"/>
          </a:xfrm>
          <a:prstGeom prst="rect">
            <a:avLst/>
          </a:prstGeom>
          <a:noFill/>
        </p:spPr>
        <p:txBody>
          <a:bodyPr wrap="square" lIns="0" tIns="0" rIns="0" bIns="0" rtlCol="0" anchor="ctr"/>
          <a:lstStyle/>
          <a:p>
            <a:pPr marL="0" indent="0">
              <a:buNone/>
            </a:pPr>
            <a:r>
              <a:rPr lang="en-US" sz="1300" dirty="0">
                <a:solidFill>
                  <a:srgbClr val="6E1423"/>
                </a:solidFill>
                <a:latin typeface="Calibri" panose="020F0502020204030204" pitchFamily="34" charset="0"/>
                <a:ea typeface="Calibri" panose="020F0502020204030204" pitchFamily="34" charset="-122"/>
                <a:cs typeface="Calibri" panose="020F0502020204030204" pitchFamily="34" charset="-120"/>
              </a:rPr>
              <a:t>Lakshanadevi M</a:t>
            </a:r>
            <a:endParaRPr lang="en-US" sz="1300" dirty="0"/>
          </a:p>
        </p:txBody>
      </p:sp>
      <p:sp>
        <p:nvSpPr>
          <p:cNvPr id="15" name="Shape 12"/>
          <p:cNvSpPr/>
          <p:nvPr/>
        </p:nvSpPr>
        <p:spPr>
          <a:xfrm>
            <a:off x="731520" y="5084064"/>
            <a:ext cx="384048" cy="384048"/>
          </a:xfrm>
          <a:prstGeom prst="ellipse">
            <a:avLst/>
          </a:prstGeom>
          <a:solidFill>
            <a:srgbClr val="A13D4C"/>
          </a:solidFill>
        </p:spPr>
      </p:sp>
      <p:pic>
        <p:nvPicPr>
          <p:cNvPr id="16" name="Image 1" descr="/home/claude/work/icons/file.png"/>
          <p:cNvPicPr>
            <a:picLocks noChangeAspect="1"/>
          </p:cNvPicPr>
          <p:nvPr/>
        </p:nvPicPr>
        <p:blipFill>
          <a:blip r:embed="rId4"/>
          <a:stretch>
            <a:fillRect/>
          </a:stretch>
        </p:blipFill>
        <p:spPr>
          <a:xfrm>
            <a:off x="789127" y="5141671"/>
            <a:ext cx="268834" cy="268834"/>
          </a:xfrm>
          <a:prstGeom prst="rect">
            <a:avLst/>
          </a:prstGeom>
        </p:spPr>
      </p:pic>
      <p:sp>
        <p:nvSpPr>
          <p:cNvPr id="17" name="Text 13"/>
          <p:cNvSpPr/>
          <p:nvPr/>
        </p:nvSpPr>
        <p:spPr>
          <a:xfrm>
            <a:off x="1280160" y="5084064"/>
            <a:ext cx="4572000" cy="384048"/>
          </a:xfrm>
          <a:prstGeom prst="rect">
            <a:avLst/>
          </a:prstGeom>
          <a:noFill/>
        </p:spPr>
        <p:txBody>
          <a:bodyPr wrap="square" lIns="0" tIns="0" rIns="0" bIns="0" rtlCol="0" anchor="ctr"/>
          <a:lstStyle/>
          <a:p>
            <a:pPr marL="0" indent="0">
              <a:buNone/>
            </a:pPr>
            <a:r>
              <a:rPr lang="en-US" sz="1300" dirty="0">
                <a:solidFill>
                  <a:srgbClr val="6E1423"/>
                </a:solidFill>
                <a:latin typeface="Calibri" panose="020F0502020204030204" pitchFamily="34" charset="0"/>
                <a:ea typeface="Calibri" panose="020F0502020204030204" pitchFamily="34" charset="-122"/>
                <a:cs typeface="Calibri" panose="020F0502020204030204" pitchFamily="34" charset="-120"/>
              </a:rPr>
              <a:t>St. Joseph's Institute of Technology, Chennai</a:t>
            </a:r>
            <a:endParaRPr lang="en-US" sz="1300" dirty="0"/>
          </a:p>
        </p:txBody>
      </p:sp>
      <p:sp>
        <p:nvSpPr>
          <p:cNvPr id="18" name="Shape 14"/>
          <p:cNvSpPr/>
          <p:nvPr/>
        </p:nvSpPr>
        <p:spPr>
          <a:xfrm>
            <a:off x="731520" y="5614416"/>
            <a:ext cx="384048" cy="384048"/>
          </a:xfrm>
          <a:prstGeom prst="ellipse">
            <a:avLst/>
          </a:prstGeom>
          <a:solidFill>
            <a:srgbClr val="A13D4C"/>
          </a:solidFill>
        </p:spPr>
      </p:sp>
      <p:pic>
        <p:nvPicPr>
          <p:cNvPr id="19" name="Image 2" descr="/home/claude/work/icons/clipboard.png"/>
          <p:cNvPicPr>
            <a:picLocks noChangeAspect="1"/>
          </p:cNvPicPr>
          <p:nvPr/>
        </p:nvPicPr>
        <p:blipFill>
          <a:blip r:embed="rId5"/>
          <a:stretch>
            <a:fillRect/>
          </a:stretch>
        </p:blipFill>
        <p:spPr>
          <a:xfrm>
            <a:off x="789127" y="5672023"/>
            <a:ext cx="268834" cy="268834"/>
          </a:xfrm>
          <a:prstGeom prst="rect">
            <a:avLst/>
          </a:prstGeom>
        </p:spPr>
      </p:pic>
      <p:sp>
        <p:nvSpPr>
          <p:cNvPr id="20" name="Text 15"/>
          <p:cNvSpPr/>
          <p:nvPr/>
        </p:nvSpPr>
        <p:spPr>
          <a:xfrm>
            <a:off x="1280160" y="5614416"/>
            <a:ext cx="4572000" cy="384048"/>
          </a:xfrm>
          <a:prstGeom prst="rect">
            <a:avLst/>
          </a:prstGeom>
          <a:noFill/>
        </p:spPr>
        <p:txBody>
          <a:bodyPr wrap="square" lIns="0" tIns="0" rIns="0" bIns="0" rtlCol="0" anchor="ctr"/>
          <a:lstStyle/>
          <a:p>
            <a:pPr marL="0" indent="0">
              <a:buNone/>
            </a:pPr>
            <a:r>
              <a:rPr lang="en-US" sz="1300" dirty="0">
                <a:solidFill>
                  <a:srgbClr val="6E1423"/>
                </a:solidFill>
                <a:latin typeface="Calibri" panose="020F0502020204030204" pitchFamily="34" charset="0"/>
                <a:ea typeface="Calibri" panose="020F0502020204030204" pitchFamily="34" charset="-122"/>
                <a:cs typeface="Calibri" panose="020F0502020204030204" pitchFamily="34" charset="-120"/>
              </a:rPr>
              <a:t>Internship Duration — </a:t>
            </a:r>
            <a:r>
              <a:rPr lang="en-GB" altLang="en-US" sz="1300" dirty="0">
                <a:solidFill>
                  <a:srgbClr val="6E1423"/>
                </a:solidFill>
                <a:latin typeface="Calibri" panose="020F0502020204030204" pitchFamily="34" charset="0"/>
                <a:ea typeface="Calibri" panose="020F0502020204030204" pitchFamily="34" charset="-122"/>
                <a:cs typeface="Calibri" panose="020F0502020204030204" pitchFamily="34" charset="-120"/>
              </a:rPr>
              <a:t>17/06/26 - </a:t>
            </a:r>
            <a:r>
              <a:rPr lang="en-GB" altLang="en-US" sz="1300" dirty="0" smtClean="0">
                <a:solidFill>
                  <a:srgbClr val="6E1423"/>
                </a:solidFill>
                <a:latin typeface="Calibri" panose="020F0502020204030204" pitchFamily="34" charset="0"/>
                <a:ea typeface="Calibri" panose="020F0502020204030204" pitchFamily="34" charset="-122"/>
                <a:cs typeface="Calibri" panose="020F0502020204030204" pitchFamily="34" charset="-120"/>
              </a:rPr>
              <a:t>20/07/26</a:t>
            </a:r>
            <a:endParaRPr lang="en-GB" altLang="en-US" sz="1300" dirty="0">
              <a:solidFill>
                <a:srgbClr val="6E1423"/>
              </a:solidFill>
              <a:latin typeface="Calibri" panose="020F0502020204030204" pitchFamily="34" charset="0"/>
              <a:ea typeface="Calibri" panose="020F0502020204030204" pitchFamily="34" charset="-122"/>
              <a:cs typeface="Calibri" panose="020F0502020204030204" pitchFamily="34" charset="-120"/>
            </a:endParaRPr>
          </a:p>
        </p:txBody>
      </p:sp>
      <p:pic>
        <p:nvPicPr>
          <p:cNvPr id="21" name="Picture 2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583104" y="3508849"/>
            <a:ext cx="3990473" cy="2491703"/>
          </a:xfrm>
          <a:prstGeom prst="rect">
            <a:avLst/>
          </a:prstGeom>
        </p:spPr>
      </p:pic>
    </p:spTree>
    <p:extLst>
      <p:ext uri="{BB962C8B-B14F-4D97-AF65-F5344CB8AC3E}">
        <p14:creationId xmlns:p14="http://schemas.microsoft.com/office/powerpoint/2010/main" val="3502678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3E7"/>
        </a:solidFill>
        <a:effectLst/>
      </p:bgPr>
    </p:bg>
    <p:spTree>
      <p:nvGrpSpPr>
        <p:cNvPr id="1" name=""/>
        <p:cNvGrpSpPr/>
        <p:nvPr/>
      </p:nvGrpSpPr>
      <p:grpSpPr>
        <a:xfrm>
          <a:off x="0" y="0"/>
          <a:ext cx="0" cy="0"/>
          <a:chOff x="0" y="0"/>
          <a:chExt cx="0" cy="0"/>
        </a:xfrm>
      </p:grpSpPr>
      <p:sp>
        <p:nvSpPr>
          <p:cNvPr id="2" name="Text 0"/>
          <p:cNvSpPr/>
          <p:nvPr/>
        </p:nvSpPr>
        <p:spPr>
          <a:xfrm>
            <a:off x="502920" y="384048"/>
            <a:ext cx="9601200" cy="274320"/>
          </a:xfrm>
          <a:prstGeom prst="rect">
            <a:avLst/>
          </a:prstGeom>
          <a:noFill/>
        </p:spPr>
        <p:txBody>
          <a:bodyPr wrap="square" lIns="0" tIns="0" rIns="0" bIns="0" rtlCol="0" anchor="ctr"/>
          <a:lstStyle/>
          <a:p>
            <a:pPr marL="0" indent="0">
              <a:buNone/>
            </a:pPr>
            <a:r>
              <a:rPr lang="en-US" sz="1200" b="1" kern="0" spc="200" dirty="0">
                <a:solidFill>
                  <a:srgbClr val="A13D4C"/>
                </a:solidFill>
                <a:latin typeface="Calibri" panose="020F0502020204030204" pitchFamily="34" charset="0"/>
                <a:ea typeface="Calibri" panose="020F0502020204030204" pitchFamily="34" charset="-122"/>
                <a:cs typeface="Calibri" panose="020F0502020204030204" pitchFamily="34" charset="-120"/>
              </a:rPr>
              <a:t>JOURNEY</a:t>
            </a:r>
            <a:endParaRPr lang="en-US" sz="1200" dirty="0"/>
          </a:p>
        </p:txBody>
      </p:sp>
      <p:sp>
        <p:nvSpPr>
          <p:cNvPr id="3" name="Text 1"/>
          <p:cNvSpPr/>
          <p:nvPr/>
        </p:nvSpPr>
        <p:spPr>
          <a:xfrm>
            <a:off x="502920" y="658368"/>
            <a:ext cx="10515600" cy="566928"/>
          </a:xfrm>
          <a:prstGeom prst="rect">
            <a:avLst/>
          </a:prstGeom>
          <a:noFill/>
        </p:spPr>
        <p:txBody>
          <a:bodyPr wrap="square" lIns="0" tIns="0" rIns="0" bIns="0" rtlCol="0" anchor="ctr"/>
          <a:lstStyle/>
          <a:p>
            <a:pPr marL="0" indent="0">
              <a:buNone/>
            </a:pPr>
            <a:r>
              <a:rPr lang="en-US" sz="3000" b="1" dirty="0">
                <a:solidFill>
                  <a:srgbClr val="6E1423"/>
                </a:solidFill>
                <a:latin typeface="Cambria" panose="02040503050406030204" pitchFamily="34" charset="0"/>
                <a:ea typeface="Cambria" panose="02040503050406030204" pitchFamily="34" charset="-122"/>
                <a:cs typeface="Cambria" panose="02040503050406030204" pitchFamily="34" charset="-120"/>
              </a:rPr>
              <a:t>Internship Journey Roadmap</a:t>
            </a:r>
            <a:endParaRPr lang="en-US" sz="3000" dirty="0"/>
          </a:p>
        </p:txBody>
      </p:sp>
      <p:sp>
        <p:nvSpPr>
          <p:cNvPr id="4" name="Text 2"/>
          <p:cNvSpPr/>
          <p:nvPr/>
        </p:nvSpPr>
        <p:spPr>
          <a:xfrm>
            <a:off x="502920" y="6492240"/>
            <a:ext cx="4572000" cy="256032"/>
          </a:xfrm>
          <a:prstGeom prst="rect">
            <a:avLst/>
          </a:prstGeom>
          <a:noFill/>
        </p:spPr>
        <p:txBody>
          <a:bodyPr wrap="square" lIns="0" tIns="0" rIns="0" bIns="0" rtlCol="0" anchor="ctr"/>
          <a:lstStyle/>
          <a:p>
            <a:pPr marL="0" indent="0">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Ford Internship Experience</a:t>
            </a:r>
            <a:endParaRPr lang="en-US" sz="1000" dirty="0"/>
          </a:p>
        </p:txBody>
      </p:sp>
      <p:sp>
        <p:nvSpPr>
          <p:cNvPr id="5" name="Text 3"/>
          <p:cNvSpPr/>
          <p:nvPr/>
        </p:nvSpPr>
        <p:spPr>
          <a:xfrm>
            <a:off x="10725912" y="6492240"/>
            <a:ext cx="457200" cy="256032"/>
          </a:xfrm>
          <a:prstGeom prst="rect">
            <a:avLst/>
          </a:prstGeom>
          <a:noFill/>
        </p:spPr>
        <p:txBody>
          <a:bodyPr wrap="square" lIns="0" tIns="0" rIns="0" bIns="0" rtlCol="0" anchor="ctr"/>
          <a:lstStyle/>
          <a:p>
            <a:pPr marL="0" indent="0" algn="r">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02</a:t>
            </a:r>
            <a:endParaRPr lang="en-US" sz="1000" dirty="0"/>
          </a:p>
        </p:txBody>
      </p:sp>
      <p:sp>
        <p:nvSpPr>
          <p:cNvPr id="6" name="Text 4"/>
          <p:cNvSpPr/>
          <p:nvPr/>
        </p:nvSpPr>
        <p:spPr>
          <a:xfrm>
            <a:off x="502920" y="1371600"/>
            <a:ext cx="5120640" cy="256032"/>
          </a:xfrm>
          <a:prstGeom prst="rect">
            <a:avLst/>
          </a:prstGeom>
          <a:noFill/>
        </p:spPr>
        <p:txBody>
          <a:bodyPr wrap="square" lIns="0" tIns="0" rIns="0" bIns="0" rtlCol="0" anchor="ctr"/>
          <a:lstStyle/>
          <a:p>
            <a:pPr marL="0" indent="0">
              <a:buNone/>
            </a:pPr>
            <a:r>
              <a:rPr lang="en-US" sz="1050" b="1" kern="0" spc="100" dirty="0">
                <a:solidFill>
                  <a:srgbClr val="A13D4C"/>
                </a:solidFill>
                <a:latin typeface="Calibri" panose="020F0502020204030204" pitchFamily="34" charset="0"/>
                <a:ea typeface="Calibri" panose="020F0502020204030204" pitchFamily="34" charset="-122"/>
                <a:cs typeface="Calibri" panose="020F0502020204030204" pitchFamily="34" charset="-120"/>
              </a:rPr>
              <a:t>PHASE 1 — FOUNDATIONS &amp; CLOUD SETUP</a:t>
            </a:r>
            <a:endParaRPr lang="en-US" sz="1050" dirty="0"/>
          </a:p>
        </p:txBody>
      </p:sp>
      <p:sp>
        <p:nvSpPr>
          <p:cNvPr id="7" name="Text 5"/>
          <p:cNvSpPr/>
          <p:nvPr/>
        </p:nvSpPr>
        <p:spPr>
          <a:xfrm>
            <a:off x="6263640" y="1371600"/>
            <a:ext cx="5394960" cy="256032"/>
          </a:xfrm>
          <a:prstGeom prst="rect">
            <a:avLst/>
          </a:prstGeom>
          <a:noFill/>
        </p:spPr>
        <p:txBody>
          <a:bodyPr wrap="square" lIns="0" tIns="0" rIns="0" bIns="0" rtlCol="0" anchor="ctr"/>
          <a:lstStyle/>
          <a:p>
            <a:pPr marL="0" indent="0">
              <a:buNone/>
            </a:pPr>
            <a:r>
              <a:rPr lang="en-US" sz="1050" b="1" kern="0" spc="100" dirty="0">
                <a:solidFill>
                  <a:srgbClr val="A13D4C"/>
                </a:solidFill>
                <a:latin typeface="Calibri" panose="020F0502020204030204" pitchFamily="34" charset="0"/>
                <a:ea typeface="Calibri" panose="020F0502020204030204" pitchFamily="34" charset="-122"/>
                <a:cs typeface="Calibri" panose="020F0502020204030204" pitchFamily="34" charset="-120"/>
              </a:rPr>
              <a:t>PHASE 2 — AUTOMATION, DELIVERY &amp; REFLECTION</a:t>
            </a:r>
            <a:endParaRPr lang="en-US" sz="1050" dirty="0"/>
          </a:p>
        </p:txBody>
      </p:sp>
      <p:sp>
        <p:nvSpPr>
          <p:cNvPr id="8" name="Shape 6"/>
          <p:cNvSpPr/>
          <p:nvPr/>
        </p:nvSpPr>
        <p:spPr>
          <a:xfrm>
            <a:off x="694944" y="2002536"/>
            <a:ext cx="0" cy="3648456"/>
          </a:xfrm>
          <a:prstGeom prst="line">
            <a:avLst/>
          </a:prstGeom>
          <a:noFill/>
          <a:ln w="25400">
            <a:solidFill>
              <a:srgbClr val="E3C9CC"/>
            </a:solidFill>
            <a:prstDash val="solid"/>
          </a:ln>
        </p:spPr>
      </p:sp>
      <p:sp>
        <p:nvSpPr>
          <p:cNvPr id="9" name="Shape 7"/>
          <p:cNvSpPr/>
          <p:nvPr/>
        </p:nvSpPr>
        <p:spPr>
          <a:xfrm>
            <a:off x="521208" y="1828800"/>
            <a:ext cx="347472" cy="347472"/>
          </a:xfrm>
          <a:prstGeom prst="ellipse">
            <a:avLst/>
          </a:prstGeom>
          <a:solidFill>
            <a:srgbClr val="6E1423"/>
          </a:solidFill>
        </p:spPr>
      </p:sp>
      <p:sp>
        <p:nvSpPr>
          <p:cNvPr id="10" name="Text 8"/>
          <p:cNvSpPr/>
          <p:nvPr/>
        </p:nvSpPr>
        <p:spPr>
          <a:xfrm>
            <a:off x="521208" y="1828800"/>
            <a:ext cx="347472" cy="347472"/>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100" dirty="0"/>
          </a:p>
        </p:txBody>
      </p:sp>
      <p:sp>
        <p:nvSpPr>
          <p:cNvPr id="11" name="Text 9"/>
          <p:cNvSpPr/>
          <p:nvPr/>
        </p:nvSpPr>
        <p:spPr>
          <a:xfrm>
            <a:off x="1051560" y="1746504"/>
            <a:ext cx="4572000" cy="512064"/>
          </a:xfrm>
          <a:prstGeom prst="rect">
            <a:avLst/>
          </a:prstGeom>
          <a:noFill/>
        </p:spPr>
        <p:txBody>
          <a:bodyPr wrap="square" lIns="0" tIns="0" rIns="0" bIns="0" rtlCol="0" anchor="ctr"/>
          <a:lstStyle/>
          <a:p>
            <a:pPr marL="0" indent="0">
              <a:buNone/>
            </a:pPr>
            <a:r>
              <a:rPr lang="en-US" sz="1300" b="1" dirty="0">
                <a:solidFill>
                  <a:srgbClr val="6E1423"/>
                </a:solidFill>
                <a:latin typeface="Calibri" panose="020F0502020204030204" pitchFamily="34" charset="0"/>
                <a:ea typeface="Calibri" panose="020F0502020204030204" pitchFamily="34" charset="-122"/>
                <a:cs typeface="Calibri" panose="020F0502020204030204" pitchFamily="34" charset="-120"/>
              </a:rPr>
              <a:t>Internship Begins</a:t>
            </a:r>
            <a:endParaRPr lang="en-US" sz="1300" dirty="0"/>
          </a:p>
        </p:txBody>
      </p:sp>
      <p:sp>
        <p:nvSpPr>
          <p:cNvPr id="12" name="Shape 10"/>
          <p:cNvSpPr/>
          <p:nvPr/>
        </p:nvSpPr>
        <p:spPr>
          <a:xfrm>
            <a:off x="521208" y="2436876"/>
            <a:ext cx="347472" cy="347472"/>
          </a:xfrm>
          <a:prstGeom prst="ellipse">
            <a:avLst/>
          </a:prstGeom>
          <a:solidFill>
            <a:srgbClr val="6E1423"/>
          </a:solidFill>
        </p:spPr>
      </p:sp>
      <p:sp>
        <p:nvSpPr>
          <p:cNvPr id="13" name="Text 11"/>
          <p:cNvSpPr/>
          <p:nvPr/>
        </p:nvSpPr>
        <p:spPr>
          <a:xfrm>
            <a:off x="521208" y="2436876"/>
            <a:ext cx="347472" cy="347472"/>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100" dirty="0"/>
          </a:p>
        </p:txBody>
      </p:sp>
      <p:sp>
        <p:nvSpPr>
          <p:cNvPr id="14" name="Text 12"/>
          <p:cNvSpPr/>
          <p:nvPr/>
        </p:nvSpPr>
        <p:spPr>
          <a:xfrm>
            <a:off x="1051560" y="2354580"/>
            <a:ext cx="4572000" cy="512064"/>
          </a:xfrm>
          <a:prstGeom prst="rect">
            <a:avLst/>
          </a:prstGeom>
          <a:noFill/>
        </p:spPr>
        <p:txBody>
          <a:bodyPr wrap="square" lIns="0" tIns="0" rIns="0" bIns="0" rtlCol="0" anchor="ctr"/>
          <a:lstStyle/>
          <a:p>
            <a:pPr marL="0" indent="0">
              <a:buNone/>
            </a:pPr>
            <a:r>
              <a:rPr lang="en-US" sz="1300" b="1" dirty="0">
                <a:solidFill>
                  <a:srgbClr val="6E1423"/>
                </a:solidFill>
                <a:latin typeface="Calibri" panose="020F0502020204030204" pitchFamily="34" charset="0"/>
                <a:ea typeface="Calibri" panose="020F0502020204030204" pitchFamily="34" charset="-122"/>
                <a:cs typeface="Calibri" panose="020F0502020204030204" pitchFamily="34" charset="-120"/>
              </a:rPr>
              <a:t>Ford Dealer URL Finder</a:t>
            </a:r>
            <a:endParaRPr lang="en-US" sz="1300" dirty="0"/>
          </a:p>
        </p:txBody>
      </p:sp>
      <p:sp>
        <p:nvSpPr>
          <p:cNvPr id="15" name="Shape 13"/>
          <p:cNvSpPr/>
          <p:nvPr/>
        </p:nvSpPr>
        <p:spPr>
          <a:xfrm>
            <a:off x="521208" y="3044952"/>
            <a:ext cx="347472" cy="347472"/>
          </a:xfrm>
          <a:prstGeom prst="ellipse">
            <a:avLst/>
          </a:prstGeom>
          <a:solidFill>
            <a:srgbClr val="6E1423"/>
          </a:solidFill>
        </p:spPr>
      </p:sp>
      <p:sp>
        <p:nvSpPr>
          <p:cNvPr id="16" name="Text 14"/>
          <p:cNvSpPr/>
          <p:nvPr/>
        </p:nvSpPr>
        <p:spPr>
          <a:xfrm>
            <a:off x="521208" y="3044952"/>
            <a:ext cx="347472" cy="347472"/>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100" dirty="0"/>
          </a:p>
        </p:txBody>
      </p:sp>
      <p:sp>
        <p:nvSpPr>
          <p:cNvPr id="17" name="Text 15"/>
          <p:cNvSpPr/>
          <p:nvPr/>
        </p:nvSpPr>
        <p:spPr>
          <a:xfrm>
            <a:off x="1051560" y="2962656"/>
            <a:ext cx="4572000" cy="512064"/>
          </a:xfrm>
          <a:prstGeom prst="rect">
            <a:avLst/>
          </a:prstGeom>
          <a:noFill/>
        </p:spPr>
        <p:txBody>
          <a:bodyPr wrap="square" lIns="0" tIns="0" rIns="0" bIns="0" rtlCol="0" anchor="ctr"/>
          <a:lstStyle/>
          <a:p>
            <a:pPr marL="0" indent="0">
              <a:buNone/>
            </a:pPr>
            <a:r>
              <a:rPr lang="en-US" sz="1300" b="1" dirty="0">
                <a:solidFill>
                  <a:srgbClr val="6E1423"/>
                </a:solidFill>
                <a:latin typeface="Calibri" panose="020F0502020204030204" pitchFamily="34" charset="0"/>
                <a:ea typeface="Calibri" panose="020F0502020204030204" pitchFamily="34" charset="-122"/>
                <a:cs typeface="Calibri" panose="020F0502020204030204" pitchFamily="34" charset="-120"/>
              </a:rPr>
              <a:t>Google Cloud Environment</a:t>
            </a:r>
            <a:endParaRPr lang="en-US" sz="1300" dirty="0"/>
          </a:p>
        </p:txBody>
      </p:sp>
      <p:sp>
        <p:nvSpPr>
          <p:cNvPr id="18" name="Shape 16"/>
          <p:cNvSpPr/>
          <p:nvPr/>
        </p:nvSpPr>
        <p:spPr>
          <a:xfrm>
            <a:off x="521208" y="3653028"/>
            <a:ext cx="347472" cy="347472"/>
          </a:xfrm>
          <a:prstGeom prst="ellipse">
            <a:avLst/>
          </a:prstGeom>
          <a:solidFill>
            <a:srgbClr val="6E1423"/>
          </a:solidFill>
        </p:spPr>
      </p:sp>
      <p:sp>
        <p:nvSpPr>
          <p:cNvPr id="19" name="Text 17"/>
          <p:cNvSpPr/>
          <p:nvPr/>
        </p:nvSpPr>
        <p:spPr>
          <a:xfrm>
            <a:off x="521208" y="3653028"/>
            <a:ext cx="347472" cy="347472"/>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100" dirty="0"/>
          </a:p>
        </p:txBody>
      </p:sp>
      <p:sp>
        <p:nvSpPr>
          <p:cNvPr id="20" name="Text 18"/>
          <p:cNvSpPr/>
          <p:nvPr/>
        </p:nvSpPr>
        <p:spPr>
          <a:xfrm>
            <a:off x="1051560" y="3570732"/>
            <a:ext cx="4572000" cy="512064"/>
          </a:xfrm>
          <a:prstGeom prst="rect">
            <a:avLst/>
          </a:prstGeom>
          <a:noFill/>
        </p:spPr>
        <p:txBody>
          <a:bodyPr wrap="square" lIns="0" tIns="0" rIns="0" bIns="0" rtlCol="0" anchor="ctr"/>
          <a:lstStyle/>
          <a:p>
            <a:pPr marL="0" indent="0">
              <a:buNone/>
            </a:pPr>
            <a:r>
              <a:rPr lang="en-US" sz="1300" b="1" dirty="0">
                <a:solidFill>
                  <a:srgbClr val="6E1423"/>
                </a:solidFill>
                <a:latin typeface="Calibri" panose="020F0502020204030204" pitchFamily="34" charset="0"/>
                <a:ea typeface="Calibri" panose="020F0502020204030204" pitchFamily="34" charset="-122"/>
                <a:cs typeface="Calibri" panose="020F0502020204030204" pitchFamily="34" charset="-120"/>
              </a:rPr>
              <a:t>Service Account Impersonation</a:t>
            </a:r>
            <a:endParaRPr lang="en-US" sz="1300" dirty="0"/>
          </a:p>
        </p:txBody>
      </p:sp>
      <p:sp>
        <p:nvSpPr>
          <p:cNvPr id="21" name="Shape 19"/>
          <p:cNvSpPr/>
          <p:nvPr/>
        </p:nvSpPr>
        <p:spPr>
          <a:xfrm>
            <a:off x="521208" y="4261104"/>
            <a:ext cx="347472" cy="347472"/>
          </a:xfrm>
          <a:prstGeom prst="ellipse">
            <a:avLst/>
          </a:prstGeom>
          <a:solidFill>
            <a:srgbClr val="6E1423"/>
          </a:solidFill>
        </p:spPr>
      </p:sp>
      <p:sp>
        <p:nvSpPr>
          <p:cNvPr id="22" name="Text 20"/>
          <p:cNvSpPr/>
          <p:nvPr/>
        </p:nvSpPr>
        <p:spPr>
          <a:xfrm>
            <a:off x="521208" y="4261104"/>
            <a:ext cx="347472" cy="347472"/>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5</a:t>
            </a:r>
            <a:endParaRPr lang="en-US" sz="1100" dirty="0"/>
          </a:p>
        </p:txBody>
      </p:sp>
      <p:sp>
        <p:nvSpPr>
          <p:cNvPr id="23" name="Text 21"/>
          <p:cNvSpPr/>
          <p:nvPr/>
        </p:nvSpPr>
        <p:spPr>
          <a:xfrm>
            <a:off x="1051560" y="4178808"/>
            <a:ext cx="4572000" cy="512064"/>
          </a:xfrm>
          <a:prstGeom prst="rect">
            <a:avLst/>
          </a:prstGeom>
          <a:noFill/>
        </p:spPr>
        <p:txBody>
          <a:bodyPr wrap="square" lIns="0" tIns="0" rIns="0" bIns="0" rtlCol="0" anchor="ctr"/>
          <a:lstStyle/>
          <a:p>
            <a:pPr marL="0" indent="0">
              <a:buNone/>
            </a:pPr>
            <a:r>
              <a:rPr lang="en-US" sz="1300" b="1" dirty="0">
                <a:solidFill>
                  <a:srgbClr val="6E1423"/>
                </a:solidFill>
                <a:latin typeface="Calibri" panose="020F0502020204030204" pitchFamily="34" charset="0"/>
                <a:ea typeface="Calibri" panose="020F0502020204030204" pitchFamily="34" charset="-122"/>
                <a:cs typeface="Calibri" panose="020F0502020204030204" pitchFamily="34" charset="-120"/>
              </a:rPr>
              <a:t>BigQuery</a:t>
            </a:r>
            <a:endParaRPr lang="en-US" sz="1300" dirty="0"/>
          </a:p>
        </p:txBody>
      </p:sp>
      <p:sp>
        <p:nvSpPr>
          <p:cNvPr id="24" name="Shape 22"/>
          <p:cNvSpPr/>
          <p:nvPr/>
        </p:nvSpPr>
        <p:spPr>
          <a:xfrm>
            <a:off x="521208" y="4869180"/>
            <a:ext cx="347472" cy="347472"/>
          </a:xfrm>
          <a:prstGeom prst="ellipse">
            <a:avLst/>
          </a:prstGeom>
          <a:solidFill>
            <a:srgbClr val="6E1423"/>
          </a:solidFill>
        </p:spPr>
      </p:sp>
      <p:sp>
        <p:nvSpPr>
          <p:cNvPr id="25" name="Text 23"/>
          <p:cNvSpPr/>
          <p:nvPr/>
        </p:nvSpPr>
        <p:spPr>
          <a:xfrm>
            <a:off x="521208" y="4869180"/>
            <a:ext cx="347472" cy="347472"/>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6</a:t>
            </a:r>
            <a:endParaRPr lang="en-US" sz="1100" dirty="0"/>
          </a:p>
        </p:txBody>
      </p:sp>
      <p:sp>
        <p:nvSpPr>
          <p:cNvPr id="26" name="Text 24"/>
          <p:cNvSpPr/>
          <p:nvPr/>
        </p:nvSpPr>
        <p:spPr>
          <a:xfrm>
            <a:off x="1051560" y="4786884"/>
            <a:ext cx="4572000" cy="512064"/>
          </a:xfrm>
          <a:prstGeom prst="rect">
            <a:avLst/>
          </a:prstGeom>
          <a:noFill/>
        </p:spPr>
        <p:txBody>
          <a:bodyPr wrap="square" lIns="0" tIns="0" rIns="0" bIns="0" rtlCol="0" anchor="ctr"/>
          <a:lstStyle/>
          <a:p>
            <a:pPr marL="0" indent="0">
              <a:buNone/>
            </a:pPr>
            <a:r>
              <a:rPr lang="en-US" sz="1300" b="1" dirty="0">
                <a:solidFill>
                  <a:srgbClr val="6E1423"/>
                </a:solidFill>
                <a:latin typeface="Calibri" panose="020F0502020204030204" pitchFamily="34" charset="0"/>
                <a:ea typeface="Calibri" panose="020F0502020204030204" pitchFamily="34" charset="-122"/>
                <a:cs typeface="Calibri" panose="020F0502020204030204" pitchFamily="34" charset="-120"/>
              </a:rPr>
              <a:t>Cloud Storage</a:t>
            </a:r>
            <a:endParaRPr lang="en-US" sz="1300" dirty="0"/>
          </a:p>
        </p:txBody>
      </p:sp>
      <p:sp>
        <p:nvSpPr>
          <p:cNvPr id="27" name="Shape 25"/>
          <p:cNvSpPr/>
          <p:nvPr/>
        </p:nvSpPr>
        <p:spPr>
          <a:xfrm>
            <a:off x="521208" y="5477256"/>
            <a:ext cx="347472" cy="347472"/>
          </a:xfrm>
          <a:prstGeom prst="ellipse">
            <a:avLst/>
          </a:prstGeom>
          <a:solidFill>
            <a:srgbClr val="6E1423"/>
          </a:solidFill>
        </p:spPr>
      </p:sp>
      <p:sp>
        <p:nvSpPr>
          <p:cNvPr id="28" name="Text 26"/>
          <p:cNvSpPr/>
          <p:nvPr/>
        </p:nvSpPr>
        <p:spPr>
          <a:xfrm>
            <a:off x="521208" y="5477256"/>
            <a:ext cx="347472" cy="347472"/>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7</a:t>
            </a:r>
            <a:endParaRPr lang="en-US" sz="1100" dirty="0"/>
          </a:p>
        </p:txBody>
      </p:sp>
      <p:sp>
        <p:nvSpPr>
          <p:cNvPr id="29" name="Text 27"/>
          <p:cNvSpPr/>
          <p:nvPr/>
        </p:nvSpPr>
        <p:spPr>
          <a:xfrm>
            <a:off x="1051560" y="5394960"/>
            <a:ext cx="4572000" cy="512064"/>
          </a:xfrm>
          <a:prstGeom prst="rect">
            <a:avLst/>
          </a:prstGeom>
          <a:noFill/>
        </p:spPr>
        <p:txBody>
          <a:bodyPr wrap="square" lIns="0" tIns="0" rIns="0" bIns="0" rtlCol="0" anchor="ctr"/>
          <a:lstStyle/>
          <a:p>
            <a:pPr marL="0" indent="0">
              <a:buNone/>
            </a:pPr>
            <a:r>
              <a:rPr lang="en-US" sz="1300" b="1" dirty="0">
                <a:solidFill>
                  <a:srgbClr val="6E1423"/>
                </a:solidFill>
                <a:latin typeface="Calibri" panose="020F0502020204030204" pitchFamily="34" charset="0"/>
                <a:ea typeface="Calibri" panose="020F0502020204030204" pitchFamily="34" charset="-122"/>
                <a:cs typeface="Calibri" panose="020F0502020204030204" pitchFamily="34" charset="-120"/>
              </a:rPr>
              <a:t>Enterprise Cloud Services</a:t>
            </a:r>
            <a:endParaRPr lang="en-US" sz="1300" dirty="0"/>
          </a:p>
        </p:txBody>
      </p:sp>
      <p:sp>
        <p:nvSpPr>
          <p:cNvPr id="30" name="Shape 28"/>
          <p:cNvSpPr/>
          <p:nvPr/>
        </p:nvSpPr>
        <p:spPr>
          <a:xfrm>
            <a:off x="6483096" y="2002536"/>
            <a:ext cx="0" cy="3648456"/>
          </a:xfrm>
          <a:prstGeom prst="line">
            <a:avLst/>
          </a:prstGeom>
          <a:noFill/>
          <a:ln w="25400">
            <a:solidFill>
              <a:srgbClr val="E3C9CC"/>
            </a:solidFill>
            <a:prstDash val="solid"/>
          </a:ln>
        </p:spPr>
      </p:sp>
      <p:sp>
        <p:nvSpPr>
          <p:cNvPr id="31" name="Shape 29"/>
          <p:cNvSpPr/>
          <p:nvPr/>
        </p:nvSpPr>
        <p:spPr>
          <a:xfrm>
            <a:off x="6309360" y="1828800"/>
            <a:ext cx="347472" cy="347472"/>
          </a:xfrm>
          <a:prstGeom prst="ellipse">
            <a:avLst/>
          </a:prstGeom>
          <a:solidFill>
            <a:srgbClr val="6E1423"/>
          </a:solidFill>
        </p:spPr>
      </p:sp>
      <p:sp>
        <p:nvSpPr>
          <p:cNvPr id="32" name="Text 30"/>
          <p:cNvSpPr/>
          <p:nvPr/>
        </p:nvSpPr>
        <p:spPr>
          <a:xfrm>
            <a:off x="6309360" y="1828800"/>
            <a:ext cx="347472" cy="347472"/>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8</a:t>
            </a:r>
            <a:endParaRPr lang="en-US" sz="1100" dirty="0"/>
          </a:p>
        </p:txBody>
      </p:sp>
      <p:sp>
        <p:nvSpPr>
          <p:cNvPr id="33" name="Text 31"/>
          <p:cNvSpPr/>
          <p:nvPr/>
        </p:nvSpPr>
        <p:spPr>
          <a:xfrm>
            <a:off x="6839712" y="1746504"/>
            <a:ext cx="4572000" cy="512064"/>
          </a:xfrm>
          <a:prstGeom prst="rect">
            <a:avLst/>
          </a:prstGeom>
          <a:noFill/>
        </p:spPr>
        <p:txBody>
          <a:bodyPr wrap="square" lIns="0" tIns="0" rIns="0" bIns="0" rtlCol="0" anchor="ctr"/>
          <a:lstStyle/>
          <a:p>
            <a:pPr marL="0" indent="0">
              <a:buNone/>
            </a:pPr>
            <a:r>
              <a:rPr lang="en-US" sz="1300" b="1" dirty="0">
                <a:solidFill>
                  <a:srgbClr val="6E1423"/>
                </a:solidFill>
                <a:latin typeface="Calibri" panose="020F0502020204030204" pitchFamily="34" charset="0"/>
                <a:ea typeface="Calibri" panose="020F0502020204030204" pitchFamily="34" charset="-122"/>
                <a:cs typeface="Calibri" panose="020F0502020204030204" pitchFamily="34" charset="-120"/>
              </a:rPr>
              <a:t>Product Part Pricing Automation</a:t>
            </a:r>
            <a:endParaRPr lang="en-US" sz="1300" dirty="0"/>
          </a:p>
        </p:txBody>
      </p:sp>
      <p:sp>
        <p:nvSpPr>
          <p:cNvPr id="34" name="Shape 32"/>
          <p:cNvSpPr/>
          <p:nvPr/>
        </p:nvSpPr>
        <p:spPr>
          <a:xfrm>
            <a:off x="6309360" y="2436876"/>
            <a:ext cx="347472" cy="347472"/>
          </a:xfrm>
          <a:prstGeom prst="ellipse">
            <a:avLst/>
          </a:prstGeom>
          <a:solidFill>
            <a:srgbClr val="6E1423"/>
          </a:solidFill>
        </p:spPr>
      </p:sp>
      <p:sp>
        <p:nvSpPr>
          <p:cNvPr id="35" name="Text 33"/>
          <p:cNvSpPr/>
          <p:nvPr/>
        </p:nvSpPr>
        <p:spPr>
          <a:xfrm>
            <a:off x="6309360" y="2436876"/>
            <a:ext cx="347472" cy="347472"/>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9</a:t>
            </a:r>
            <a:endParaRPr lang="en-US" sz="1100" dirty="0"/>
          </a:p>
        </p:txBody>
      </p:sp>
      <p:sp>
        <p:nvSpPr>
          <p:cNvPr id="36" name="Text 34"/>
          <p:cNvSpPr/>
          <p:nvPr/>
        </p:nvSpPr>
        <p:spPr>
          <a:xfrm>
            <a:off x="6839712" y="2354580"/>
            <a:ext cx="4572000" cy="512064"/>
          </a:xfrm>
          <a:prstGeom prst="rect">
            <a:avLst/>
          </a:prstGeom>
          <a:noFill/>
        </p:spPr>
        <p:txBody>
          <a:bodyPr wrap="square" lIns="0" tIns="0" rIns="0" bIns="0" rtlCol="0" anchor="ctr"/>
          <a:lstStyle/>
          <a:p>
            <a:pPr marL="0" indent="0">
              <a:buNone/>
            </a:pPr>
            <a:r>
              <a:rPr lang="en-US" sz="1300" b="1" dirty="0">
                <a:solidFill>
                  <a:srgbClr val="6E1423"/>
                </a:solidFill>
                <a:latin typeface="Calibri" panose="020F0502020204030204" pitchFamily="34" charset="0"/>
                <a:ea typeface="Calibri" panose="020F0502020204030204" pitchFamily="34" charset="-122"/>
                <a:cs typeface="Calibri" panose="020F0502020204030204" pitchFamily="34" charset="-120"/>
              </a:rPr>
              <a:t>AutoZone / NAPA Web Scraping</a:t>
            </a:r>
            <a:endParaRPr lang="en-US" sz="1300" dirty="0"/>
          </a:p>
        </p:txBody>
      </p:sp>
      <p:sp>
        <p:nvSpPr>
          <p:cNvPr id="37" name="Shape 35"/>
          <p:cNvSpPr/>
          <p:nvPr/>
        </p:nvSpPr>
        <p:spPr>
          <a:xfrm>
            <a:off x="6309360" y="3044952"/>
            <a:ext cx="347472" cy="347472"/>
          </a:xfrm>
          <a:prstGeom prst="ellipse">
            <a:avLst/>
          </a:prstGeom>
          <a:solidFill>
            <a:srgbClr val="6E1423"/>
          </a:solidFill>
        </p:spPr>
      </p:sp>
      <p:sp>
        <p:nvSpPr>
          <p:cNvPr id="38" name="Text 36"/>
          <p:cNvSpPr/>
          <p:nvPr/>
        </p:nvSpPr>
        <p:spPr>
          <a:xfrm>
            <a:off x="6309360" y="3044952"/>
            <a:ext cx="347472" cy="347472"/>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10</a:t>
            </a:r>
            <a:endParaRPr lang="en-US" sz="1100" dirty="0"/>
          </a:p>
        </p:txBody>
      </p:sp>
      <p:sp>
        <p:nvSpPr>
          <p:cNvPr id="39" name="Text 37"/>
          <p:cNvSpPr/>
          <p:nvPr/>
        </p:nvSpPr>
        <p:spPr>
          <a:xfrm>
            <a:off x="6839712" y="2962656"/>
            <a:ext cx="4572000" cy="512064"/>
          </a:xfrm>
          <a:prstGeom prst="rect">
            <a:avLst/>
          </a:prstGeom>
          <a:noFill/>
        </p:spPr>
        <p:txBody>
          <a:bodyPr wrap="square" lIns="0" tIns="0" rIns="0" bIns="0" rtlCol="0" anchor="ctr"/>
          <a:lstStyle/>
          <a:p>
            <a:pPr marL="0" indent="0">
              <a:buNone/>
            </a:pPr>
            <a:r>
              <a:rPr lang="en-US" sz="1300" b="1" dirty="0">
                <a:solidFill>
                  <a:srgbClr val="6E1423"/>
                </a:solidFill>
                <a:latin typeface="Calibri" panose="020F0502020204030204" pitchFamily="34" charset="0"/>
                <a:ea typeface="Calibri" panose="020F0502020204030204" pitchFamily="34" charset="-122"/>
                <a:cs typeface="Calibri" panose="020F0502020204030204" pitchFamily="34" charset="-120"/>
              </a:rPr>
              <a:t>Airflow</a:t>
            </a:r>
            <a:endParaRPr lang="en-US" sz="1300" dirty="0"/>
          </a:p>
        </p:txBody>
      </p:sp>
      <p:sp>
        <p:nvSpPr>
          <p:cNvPr id="40" name="Shape 38"/>
          <p:cNvSpPr/>
          <p:nvPr/>
        </p:nvSpPr>
        <p:spPr>
          <a:xfrm>
            <a:off x="6309360" y="3653028"/>
            <a:ext cx="347472" cy="347472"/>
          </a:xfrm>
          <a:prstGeom prst="ellipse">
            <a:avLst/>
          </a:prstGeom>
          <a:solidFill>
            <a:srgbClr val="6E1423"/>
          </a:solidFill>
        </p:spPr>
      </p:sp>
      <p:sp>
        <p:nvSpPr>
          <p:cNvPr id="41" name="Text 39"/>
          <p:cNvSpPr/>
          <p:nvPr/>
        </p:nvSpPr>
        <p:spPr>
          <a:xfrm>
            <a:off x="6309360" y="3653028"/>
            <a:ext cx="347472" cy="347472"/>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11</a:t>
            </a:r>
            <a:endParaRPr lang="en-US" sz="1100" dirty="0"/>
          </a:p>
        </p:txBody>
      </p:sp>
      <p:sp>
        <p:nvSpPr>
          <p:cNvPr id="42" name="Text 40"/>
          <p:cNvSpPr/>
          <p:nvPr/>
        </p:nvSpPr>
        <p:spPr>
          <a:xfrm>
            <a:off x="6839712" y="3570732"/>
            <a:ext cx="4572000" cy="512064"/>
          </a:xfrm>
          <a:prstGeom prst="rect">
            <a:avLst/>
          </a:prstGeom>
          <a:noFill/>
        </p:spPr>
        <p:txBody>
          <a:bodyPr wrap="square" lIns="0" tIns="0" rIns="0" bIns="0" rtlCol="0" anchor="ctr"/>
          <a:lstStyle/>
          <a:p>
            <a:pPr marL="0" indent="0">
              <a:buNone/>
            </a:pPr>
            <a:r>
              <a:rPr lang="en-US" sz="1300" b="1" dirty="0">
                <a:solidFill>
                  <a:srgbClr val="6E1423"/>
                </a:solidFill>
                <a:latin typeface="Calibri" panose="020F0502020204030204" pitchFamily="34" charset="0"/>
                <a:ea typeface="Calibri" panose="020F0502020204030204" pitchFamily="34" charset="-122"/>
                <a:cs typeface="Calibri" panose="020F0502020204030204" pitchFamily="34" charset="-120"/>
              </a:rPr>
              <a:t>CI/CD Pipeline</a:t>
            </a:r>
            <a:endParaRPr lang="en-US" sz="1300" dirty="0"/>
          </a:p>
        </p:txBody>
      </p:sp>
      <p:sp>
        <p:nvSpPr>
          <p:cNvPr id="43" name="Shape 41"/>
          <p:cNvSpPr/>
          <p:nvPr/>
        </p:nvSpPr>
        <p:spPr>
          <a:xfrm>
            <a:off x="6309360" y="4261104"/>
            <a:ext cx="347472" cy="347472"/>
          </a:xfrm>
          <a:prstGeom prst="ellipse">
            <a:avLst/>
          </a:prstGeom>
          <a:solidFill>
            <a:srgbClr val="6E1423"/>
          </a:solidFill>
        </p:spPr>
      </p:sp>
      <p:sp>
        <p:nvSpPr>
          <p:cNvPr id="44" name="Text 42"/>
          <p:cNvSpPr/>
          <p:nvPr/>
        </p:nvSpPr>
        <p:spPr>
          <a:xfrm>
            <a:off x="6309360" y="4261104"/>
            <a:ext cx="347472" cy="347472"/>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12</a:t>
            </a:r>
            <a:endParaRPr lang="en-US" sz="1100" dirty="0"/>
          </a:p>
        </p:txBody>
      </p:sp>
      <p:sp>
        <p:nvSpPr>
          <p:cNvPr id="45" name="Text 43"/>
          <p:cNvSpPr/>
          <p:nvPr/>
        </p:nvSpPr>
        <p:spPr>
          <a:xfrm>
            <a:off x="6839712" y="4178808"/>
            <a:ext cx="4572000" cy="512064"/>
          </a:xfrm>
          <a:prstGeom prst="rect">
            <a:avLst/>
          </a:prstGeom>
          <a:noFill/>
        </p:spPr>
        <p:txBody>
          <a:bodyPr wrap="square" lIns="0" tIns="0" rIns="0" bIns="0" rtlCol="0" anchor="ctr"/>
          <a:lstStyle/>
          <a:p>
            <a:pPr marL="0" indent="0">
              <a:buNone/>
            </a:pPr>
            <a:r>
              <a:rPr lang="en-US" sz="1300" b="1" dirty="0">
                <a:solidFill>
                  <a:srgbClr val="6E1423"/>
                </a:solidFill>
                <a:latin typeface="Calibri" panose="020F0502020204030204" pitchFamily="34" charset="0"/>
                <a:ea typeface="Calibri" panose="020F0502020204030204" pitchFamily="34" charset="-122"/>
                <a:cs typeface="Calibri" panose="020F0502020204030204" pitchFamily="34" charset="-120"/>
              </a:rPr>
              <a:t>Jira</a:t>
            </a:r>
            <a:endParaRPr lang="en-US" sz="1300" dirty="0"/>
          </a:p>
        </p:txBody>
      </p:sp>
      <p:sp>
        <p:nvSpPr>
          <p:cNvPr id="46" name="Shape 44"/>
          <p:cNvSpPr/>
          <p:nvPr/>
        </p:nvSpPr>
        <p:spPr>
          <a:xfrm>
            <a:off x="6309360" y="4869180"/>
            <a:ext cx="347472" cy="347472"/>
          </a:xfrm>
          <a:prstGeom prst="ellipse">
            <a:avLst/>
          </a:prstGeom>
          <a:solidFill>
            <a:srgbClr val="6E1423"/>
          </a:solidFill>
        </p:spPr>
      </p:sp>
      <p:sp>
        <p:nvSpPr>
          <p:cNvPr id="47" name="Text 45"/>
          <p:cNvSpPr/>
          <p:nvPr/>
        </p:nvSpPr>
        <p:spPr>
          <a:xfrm>
            <a:off x="6309360" y="4869180"/>
            <a:ext cx="347472" cy="347472"/>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13</a:t>
            </a:r>
            <a:endParaRPr lang="en-US" sz="1100" dirty="0"/>
          </a:p>
        </p:txBody>
      </p:sp>
      <p:sp>
        <p:nvSpPr>
          <p:cNvPr id="48" name="Text 46"/>
          <p:cNvSpPr/>
          <p:nvPr/>
        </p:nvSpPr>
        <p:spPr>
          <a:xfrm>
            <a:off x="6839712" y="4786884"/>
            <a:ext cx="4572000" cy="512064"/>
          </a:xfrm>
          <a:prstGeom prst="rect">
            <a:avLst/>
          </a:prstGeom>
          <a:noFill/>
        </p:spPr>
        <p:txBody>
          <a:bodyPr wrap="square" lIns="0" tIns="0" rIns="0" bIns="0" rtlCol="0" anchor="ctr"/>
          <a:lstStyle/>
          <a:p>
            <a:pPr marL="0" indent="0">
              <a:buNone/>
            </a:pPr>
            <a:r>
              <a:rPr lang="en-US" sz="1300" b="1" dirty="0">
                <a:solidFill>
                  <a:srgbClr val="6E1423"/>
                </a:solidFill>
                <a:latin typeface="Calibri" panose="020F0502020204030204" pitchFamily="34" charset="0"/>
                <a:ea typeface="Calibri" panose="020F0502020204030204" pitchFamily="34" charset="-122"/>
                <a:cs typeface="Calibri" panose="020F0502020204030204" pitchFamily="34" charset="-120"/>
              </a:rPr>
              <a:t>Manual Validation</a:t>
            </a:r>
            <a:endParaRPr lang="en-US" sz="1300" dirty="0"/>
          </a:p>
        </p:txBody>
      </p:sp>
      <p:sp>
        <p:nvSpPr>
          <p:cNvPr id="49" name="Shape 47"/>
          <p:cNvSpPr/>
          <p:nvPr/>
        </p:nvSpPr>
        <p:spPr>
          <a:xfrm>
            <a:off x="6309360" y="5477256"/>
            <a:ext cx="347472" cy="347472"/>
          </a:xfrm>
          <a:prstGeom prst="ellipse">
            <a:avLst/>
          </a:prstGeom>
          <a:solidFill>
            <a:srgbClr val="6E1423"/>
          </a:solidFill>
        </p:spPr>
      </p:sp>
      <p:sp>
        <p:nvSpPr>
          <p:cNvPr id="50" name="Text 48"/>
          <p:cNvSpPr/>
          <p:nvPr/>
        </p:nvSpPr>
        <p:spPr>
          <a:xfrm>
            <a:off x="6309360" y="5477256"/>
            <a:ext cx="347472" cy="347472"/>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14</a:t>
            </a:r>
            <a:endParaRPr lang="en-US" sz="1100" dirty="0"/>
          </a:p>
        </p:txBody>
      </p:sp>
      <p:sp>
        <p:nvSpPr>
          <p:cNvPr id="51" name="Text 49"/>
          <p:cNvSpPr/>
          <p:nvPr/>
        </p:nvSpPr>
        <p:spPr>
          <a:xfrm>
            <a:off x="6839712" y="5394960"/>
            <a:ext cx="4572000" cy="512064"/>
          </a:xfrm>
          <a:prstGeom prst="rect">
            <a:avLst/>
          </a:prstGeom>
          <a:noFill/>
        </p:spPr>
        <p:txBody>
          <a:bodyPr wrap="square" lIns="0" tIns="0" rIns="0" bIns="0" rtlCol="0" anchor="ctr"/>
          <a:lstStyle/>
          <a:p>
            <a:pPr marL="0" indent="0">
              <a:buNone/>
            </a:pPr>
            <a:r>
              <a:rPr lang="en-US" sz="1300" b="1" dirty="0">
                <a:solidFill>
                  <a:srgbClr val="6E1423"/>
                </a:solidFill>
                <a:latin typeface="Calibri" panose="020F0502020204030204" pitchFamily="34" charset="0"/>
                <a:ea typeface="Calibri" panose="020F0502020204030204" pitchFamily="34" charset="-122"/>
                <a:cs typeface="Calibri" panose="020F0502020204030204" pitchFamily="34" charset="-120"/>
              </a:rPr>
              <a:t>Key Learnings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3E7"/>
        </a:solidFill>
        <a:effectLst/>
      </p:bgPr>
    </p:bg>
    <p:spTree>
      <p:nvGrpSpPr>
        <p:cNvPr id="1" name=""/>
        <p:cNvGrpSpPr/>
        <p:nvPr/>
      </p:nvGrpSpPr>
      <p:grpSpPr>
        <a:xfrm>
          <a:off x="0" y="0"/>
          <a:ext cx="0" cy="0"/>
          <a:chOff x="0" y="0"/>
          <a:chExt cx="0" cy="0"/>
        </a:xfrm>
      </p:grpSpPr>
      <p:sp>
        <p:nvSpPr>
          <p:cNvPr id="2" name="Text 0"/>
          <p:cNvSpPr/>
          <p:nvPr/>
        </p:nvSpPr>
        <p:spPr>
          <a:xfrm>
            <a:off x="502920" y="384048"/>
            <a:ext cx="9601200" cy="274320"/>
          </a:xfrm>
          <a:prstGeom prst="rect">
            <a:avLst/>
          </a:prstGeom>
          <a:noFill/>
        </p:spPr>
        <p:txBody>
          <a:bodyPr wrap="square" lIns="0" tIns="0" rIns="0" bIns="0" rtlCol="0" anchor="ctr"/>
          <a:lstStyle/>
          <a:p>
            <a:pPr marL="0" indent="0">
              <a:buNone/>
            </a:pPr>
            <a:r>
              <a:rPr lang="en-US" sz="1200" b="1" kern="0" spc="200" dirty="0">
                <a:solidFill>
                  <a:srgbClr val="A13D4C"/>
                </a:solidFill>
                <a:latin typeface="Calibri" panose="020F0502020204030204" pitchFamily="34" charset="0"/>
                <a:ea typeface="Calibri" panose="020F0502020204030204" pitchFamily="34" charset="-122"/>
                <a:cs typeface="Calibri" panose="020F0502020204030204" pitchFamily="34" charset="-120"/>
              </a:rPr>
              <a:t>FIRST AUTOMATION UTILITY</a:t>
            </a:r>
            <a:endParaRPr lang="en-US" sz="1200" dirty="0"/>
          </a:p>
        </p:txBody>
      </p:sp>
      <p:sp>
        <p:nvSpPr>
          <p:cNvPr id="3" name="Text 1"/>
          <p:cNvSpPr/>
          <p:nvPr/>
        </p:nvSpPr>
        <p:spPr>
          <a:xfrm>
            <a:off x="502920" y="658368"/>
            <a:ext cx="10515600" cy="566928"/>
          </a:xfrm>
          <a:prstGeom prst="rect">
            <a:avLst/>
          </a:prstGeom>
          <a:noFill/>
        </p:spPr>
        <p:txBody>
          <a:bodyPr wrap="square" lIns="0" tIns="0" rIns="0" bIns="0" rtlCol="0" anchor="ctr"/>
          <a:lstStyle/>
          <a:p>
            <a:pPr marL="0" indent="0">
              <a:buNone/>
            </a:pPr>
            <a:r>
              <a:rPr lang="en-US" sz="2800" b="1" dirty="0">
                <a:solidFill>
                  <a:srgbClr val="6E1423"/>
                </a:solidFill>
                <a:latin typeface="Cambria" panose="02040503050406030204" pitchFamily="34" charset="0"/>
                <a:ea typeface="Cambria" panose="02040503050406030204" pitchFamily="34" charset="-122"/>
                <a:cs typeface="Cambria" panose="02040503050406030204" pitchFamily="34" charset="-120"/>
              </a:rPr>
              <a:t>Ford Dealer URL Finder</a:t>
            </a:r>
            <a:endParaRPr lang="en-US" sz="2800" dirty="0"/>
          </a:p>
        </p:txBody>
      </p:sp>
      <p:sp>
        <p:nvSpPr>
          <p:cNvPr id="4" name="Text 2"/>
          <p:cNvSpPr/>
          <p:nvPr/>
        </p:nvSpPr>
        <p:spPr>
          <a:xfrm>
            <a:off x="502920" y="6492240"/>
            <a:ext cx="4572000" cy="256032"/>
          </a:xfrm>
          <a:prstGeom prst="rect">
            <a:avLst/>
          </a:prstGeom>
          <a:noFill/>
        </p:spPr>
        <p:txBody>
          <a:bodyPr wrap="square" lIns="0" tIns="0" rIns="0" bIns="0" rtlCol="0" anchor="ctr"/>
          <a:lstStyle/>
          <a:p>
            <a:pPr marL="0" indent="0">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Ford Internship Experience</a:t>
            </a:r>
            <a:endParaRPr lang="en-US" sz="1000" dirty="0"/>
          </a:p>
        </p:txBody>
      </p:sp>
      <p:sp>
        <p:nvSpPr>
          <p:cNvPr id="5" name="Text 3"/>
          <p:cNvSpPr/>
          <p:nvPr/>
        </p:nvSpPr>
        <p:spPr>
          <a:xfrm>
            <a:off x="10725912" y="6492240"/>
            <a:ext cx="457200" cy="256032"/>
          </a:xfrm>
          <a:prstGeom prst="rect">
            <a:avLst/>
          </a:prstGeom>
          <a:noFill/>
        </p:spPr>
        <p:txBody>
          <a:bodyPr wrap="square" lIns="0" tIns="0" rIns="0" bIns="0" rtlCol="0" anchor="ctr"/>
          <a:lstStyle/>
          <a:p>
            <a:pPr marL="0" indent="0" algn="r">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03</a:t>
            </a:r>
            <a:endParaRPr lang="en-US" sz="1000" dirty="0"/>
          </a:p>
        </p:txBody>
      </p:sp>
      <p:sp>
        <p:nvSpPr>
          <p:cNvPr id="6" name="Text 4"/>
          <p:cNvSpPr/>
          <p:nvPr/>
        </p:nvSpPr>
        <p:spPr>
          <a:xfrm>
            <a:off x="502920" y="1298448"/>
            <a:ext cx="10789920" cy="457200"/>
          </a:xfrm>
          <a:prstGeom prst="rect">
            <a:avLst/>
          </a:prstGeom>
          <a:noFill/>
        </p:spPr>
        <p:txBody>
          <a:bodyPr wrap="square" lIns="0" tIns="0" rIns="0" bIns="0" rtlCol="0" anchor="t"/>
          <a:lstStyle/>
          <a:p>
            <a:pPr marL="0" indent="0">
              <a:lnSpc>
                <a:spcPct val="115000"/>
              </a:lnSpc>
              <a:buNone/>
            </a:pPr>
            <a:r>
              <a:rPr lang="en-US" sz="1250" dirty="0">
                <a:solidFill>
                  <a:srgbClr val="7D5A5E"/>
                </a:solidFill>
                <a:latin typeface="Calibri" panose="020F0502020204030204" pitchFamily="34" charset="0"/>
                <a:ea typeface="Calibri" panose="020F0502020204030204" pitchFamily="34" charset="-122"/>
                <a:cs typeface="Calibri" panose="020F0502020204030204" pitchFamily="34" charset="-120"/>
              </a:rPr>
              <a:t>Objective — automatically find the official website of a Ford dealership from its name, removing a manual search step from the workflow.</a:t>
            </a:r>
            <a:endParaRPr lang="en-US" sz="1250" dirty="0"/>
          </a:p>
        </p:txBody>
      </p:sp>
      <p:sp>
        <p:nvSpPr>
          <p:cNvPr id="7" name="Text 5"/>
          <p:cNvSpPr/>
          <p:nvPr/>
        </p:nvSpPr>
        <p:spPr>
          <a:xfrm>
            <a:off x="502920" y="1874520"/>
            <a:ext cx="3657600" cy="256032"/>
          </a:xfrm>
          <a:prstGeom prst="rect">
            <a:avLst/>
          </a:prstGeom>
          <a:noFill/>
        </p:spPr>
        <p:txBody>
          <a:bodyPr wrap="square" lIns="0" tIns="0" rIns="0" bIns="0" rtlCol="0" anchor="ctr"/>
          <a:lstStyle/>
          <a:p>
            <a:pPr marL="0" indent="0">
              <a:buNone/>
            </a:pPr>
            <a:r>
              <a:rPr lang="en-US" sz="1050" b="1" kern="0" spc="100" dirty="0">
                <a:solidFill>
                  <a:srgbClr val="A13D4C"/>
                </a:solidFill>
                <a:latin typeface="Calibri" panose="020F0502020204030204" pitchFamily="34" charset="0"/>
                <a:ea typeface="Calibri" panose="020F0502020204030204" pitchFamily="34" charset="-122"/>
                <a:cs typeface="Calibri" panose="020F0502020204030204" pitchFamily="34" charset="-120"/>
              </a:rPr>
              <a:t>WORKFLOW</a:t>
            </a:r>
            <a:endParaRPr lang="en-US" sz="1050" dirty="0"/>
          </a:p>
        </p:txBody>
      </p:sp>
      <p:sp>
        <p:nvSpPr>
          <p:cNvPr id="8" name="Shape 6"/>
          <p:cNvSpPr/>
          <p:nvPr/>
        </p:nvSpPr>
        <p:spPr>
          <a:xfrm>
            <a:off x="502920" y="2194560"/>
            <a:ext cx="1572768" cy="777240"/>
          </a:xfrm>
          <a:prstGeom prst="roundRect">
            <a:avLst>
              <a:gd name="adj" fmla="val 5882"/>
            </a:avLst>
          </a:prstGeom>
          <a:solidFill>
            <a:srgbClr val="F3E6E1"/>
          </a:solidFill>
          <a:ln w="12700">
            <a:solidFill>
              <a:srgbClr val="E3C9CC"/>
            </a:solidFill>
            <a:prstDash val="solid"/>
          </a:ln>
        </p:spPr>
      </p:sp>
      <p:sp>
        <p:nvSpPr>
          <p:cNvPr id="9" name="Text 7"/>
          <p:cNvSpPr/>
          <p:nvPr/>
        </p:nvSpPr>
        <p:spPr>
          <a:xfrm>
            <a:off x="502920" y="2194560"/>
            <a:ext cx="1572768" cy="777240"/>
          </a:xfrm>
          <a:prstGeom prst="rect">
            <a:avLst/>
          </a:prstGeom>
          <a:noFill/>
        </p:spPr>
        <p:txBody>
          <a:bodyPr wrap="square" lIns="25400" tIns="25400" rIns="25400" bIns="25400" rtlCol="0" anchor="ctr"/>
          <a:lstStyle/>
          <a:p>
            <a:pPr marL="0" indent="0" algn="ctr">
              <a:buNone/>
            </a:pPr>
            <a:r>
              <a:rPr lang="en-US" sz="1000" b="1" dirty="0">
                <a:solidFill>
                  <a:srgbClr val="6E1423"/>
                </a:solidFill>
                <a:latin typeface="Calibri" panose="020F0502020204030204" pitchFamily="34" charset="0"/>
                <a:ea typeface="Calibri" panose="020F0502020204030204" pitchFamily="34" charset="-122"/>
                <a:cs typeface="Calibri" panose="020F0502020204030204" pitchFamily="34" charset="-120"/>
              </a:rPr>
              <a:t>Dealer</a:t>
            </a:r>
            <a:endParaRPr lang="en-US" sz="1000" dirty="0"/>
          </a:p>
          <a:p>
            <a:pPr marL="0" indent="0" algn="ctr">
              <a:buNone/>
            </a:pPr>
            <a:r>
              <a:rPr lang="en-US" sz="1000" b="1" dirty="0">
                <a:solidFill>
                  <a:srgbClr val="6E1423"/>
                </a:solidFill>
                <a:latin typeface="Calibri" panose="020F0502020204030204" pitchFamily="34" charset="0"/>
                <a:ea typeface="Calibri" panose="020F0502020204030204" pitchFamily="34" charset="-122"/>
                <a:cs typeface="Calibri" panose="020F0502020204030204" pitchFamily="34" charset="-120"/>
              </a:rPr>
              <a:t>Name</a:t>
            </a:r>
            <a:endParaRPr lang="en-US" sz="1000" dirty="0"/>
          </a:p>
        </p:txBody>
      </p:sp>
      <p:sp>
        <p:nvSpPr>
          <p:cNvPr id="10" name="Text 8"/>
          <p:cNvSpPr/>
          <p:nvPr/>
        </p:nvSpPr>
        <p:spPr>
          <a:xfrm>
            <a:off x="2075688" y="2194560"/>
            <a:ext cx="256032" cy="777240"/>
          </a:xfrm>
          <a:prstGeom prst="rect">
            <a:avLst/>
          </a:prstGeom>
          <a:noFill/>
        </p:spPr>
        <p:txBody>
          <a:bodyPr wrap="square" lIns="0" tIns="0" rIns="0" bIns="0" rtlCol="0" anchor="ctr"/>
          <a:lstStyle/>
          <a:p>
            <a:pPr marL="0" indent="0" algn="ctr">
              <a:buNone/>
            </a:pPr>
            <a:r>
              <a:rPr lang="en-US" sz="1500" b="1" dirty="0">
                <a:solidFill>
                  <a:srgbClr val="A13D4C"/>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11" name="Shape 9"/>
          <p:cNvSpPr/>
          <p:nvPr/>
        </p:nvSpPr>
        <p:spPr>
          <a:xfrm>
            <a:off x="2331720" y="2194560"/>
            <a:ext cx="1572768" cy="777240"/>
          </a:xfrm>
          <a:prstGeom prst="roundRect">
            <a:avLst>
              <a:gd name="adj" fmla="val 5882"/>
            </a:avLst>
          </a:prstGeom>
          <a:solidFill>
            <a:srgbClr val="F3E6E1"/>
          </a:solidFill>
          <a:ln w="12700">
            <a:solidFill>
              <a:srgbClr val="E3C9CC"/>
            </a:solidFill>
            <a:prstDash val="solid"/>
          </a:ln>
        </p:spPr>
      </p:sp>
      <p:sp>
        <p:nvSpPr>
          <p:cNvPr id="12" name="Text 10"/>
          <p:cNvSpPr/>
          <p:nvPr/>
        </p:nvSpPr>
        <p:spPr>
          <a:xfrm>
            <a:off x="2331720" y="2194560"/>
            <a:ext cx="1572768" cy="777240"/>
          </a:xfrm>
          <a:prstGeom prst="rect">
            <a:avLst/>
          </a:prstGeom>
          <a:noFill/>
        </p:spPr>
        <p:txBody>
          <a:bodyPr wrap="square" lIns="25400" tIns="25400" rIns="25400" bIns="25400" rtlCol="0" anchor="ctr"/>
          <a:lstStyle/>
          <a:p>
            <a:pPr marL="0" indent="0" algn="ctr">
              <a:buNone/>
            </a:pPr>
            <a:r>
              <a:rPr lang="en-US" sz="1000" b="1" dirty="0">
                <a:solidFill>
                  <a:srgbClr val="6E1423"/>
                </a:solidFill>
                <a:latin typeface="Calibri" panose="020F0502020204030204" pitchFamily="34" charset="0"/>
                <a:ea typeface="Calibri" panose="020F0502020204030204" pitchFamily="34" charset="-122"/>
                <a:cs typeface="Calibri" panose="020F0502020204030204" pitchFamily="34" charset="-120"/>
              </a:rPr>
              <a:t>Python</a:t>
            </a:r>
            <a:endParaRPr lang="en-US" sz="1000" dirty="0"/>
          </a:p>
        </p:txBody>
      </p:sp>
      <p:sp>
        <p:nvSpPr>
          <p:cNvPr id="13" name="Text 11"/>
          <p:cNvSpPr/>
          <p:nvPr/>
        </p:nvSpPr>
        <p:spPr>
          <a:xfrm>
            <a:off x="3904488" y="2194560"/>
            <a:ext cx="256032" cy="777240"/>
          </a:xfrm>
          <a:prstGeom prst="rect">
            <a:avLst/>
          </a:prstGeom>
          <a:noFill/>
        </p:spPr>
        <p:txBody>
          <a:bodyPr wrap="square" lIns="0" tIns="0" rIns="0" bIns="0" rtlCol="0" anchor="ctr"/>
          <a:lstStyle/>
          <a:p>
            <a:pPr marL="0" indent="0" algn="ctr">
              <a:buNone/>
            </a:pPr>
            <a:r>
              <a:rPr lang="en-US" sz="1500" b="1" dirty="0">
                <a:solidFill>
                  <a:srgbClr val="A13D4C"/>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14" name="Shape 12"/>
          <p:cNvSpPr/>
          <p:nvPr/>
        </p:nvSpPr>
        <p:spPr>
          <a:xfrm>
            <a:off x="4160520" y="2194560"/>
            <a:ext cx="1572768" cy="777240"/>
          </a:xfrm>
          <a:prstGeom prst="roundRect">
            <a:avLst>
              <a:gd name="adj" fmla="val 5882"/>
            </a:avLst>
          </a:prstGeom>
          <a:solidFill>
            <a:srgbClr val="F3E6E1"/>
          </a:solidFill>
          <a:ln w="12700">
            <a:solidFill>
              <a:srgbClr val="E3C9CC"/>
            </a:solidFill>
            <a:prstDash val="solid"/>
          </a:ln>
        </p:spPr>
      </p:sp>
      <p:sp>
        <p:nvSpPr>
          <p:cNvPr id="15" name="Text 13"/>
          <p:cNvSpPr/>
          <p:nvPr/>
        </p:nvSpPr>
        <p:spPr>
          <a:xfrm>
            <a:off x="4160520" y="2194560"/>
            <a:ext cx="1572768" cy="777240"/>
          </a:xfrm>
          <a:prstGeom prst="rect">
            <a:avLst/>
          </a:prstGeom>
          <a:noFill/>
        </p:spPr>
        <p:txBody>
          <a:bodyPr wrap="square" lIns="25400" tIns="25400" rIns="25400" bIns="25400" rtlCol="0" anchor="ctr"/>
          <a:lstStyle/>
          <a:p>
            <a:pPr marL="0" indent="0" algn="ctr">
              <a:buNone/>
            </a:pPr>
            <a:r>
              <a:rPr lang="en-US" sz="1000" b="1" dirty="0">
                <a:solidFill>
                  <a:srgbClr val="6E1423"/>
                </a:solidFill>
                <a:latin typeface="Calibri" panose="020F0502020204030204" pitchFamily="34" charset="0"/>
                <a:ea typeface="Calibri" panose="020F0502020204030204" pitchFamily="34" charset="-122"/>
                <a:cs typeface="Calibri" panose="020F0502020204030204" pitchFamily="34" charset="-120"/>
              </a:rPr>
              <a:t>SerpAPI</a:t>
            </a:r>
            <a:endParaRPr lang="en-US" sz="1000" dirty="0"/>
          </a:p>
        </p:txBody>
      </p:sp>
      <p:sp>
        <p:nvSpPr>
          <p:cNvPr id="16" name="Text 14"/>
          <p:cNvSpPr/>
          <p:nvPr/>
        </p:nvSpPr>
        <p:spPr>
          <a:xfrm>
            <a:off x="5733288" y="2194560"/>
            <a:ext cx="256032" cy="777240"/>
          </a:xfrm>
          <a:prstGeom prst="rect">
            <a:avLst/>
          </a:prstGeom>
          <a:noFill/>
        </p:spPr>
        <p:txBody>
          <a:bodyPr wrap="square" lIns="0" tIns="0" rIns="0" bIns="0" rtlCol="0" anchor="ctr"/>
          <a:lstStyle/>
          <a:p>
            <a:pPr marL="0" indent="0" algn="ctr">
              <a:buNone/>
            </a:pPr>
            <a:r>
              <a:rPr lang="en-US" sz="1500" b="1" dirty="0">
                <a:solidFill>
                  <a:srgbClr val="A13D4C"/>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17" name="Shape 15"/>
          <p:cNvSpPr/>
          <p:nvPr/>
        </p:nvSpPr>
        <p:spPr>
          <a:xfrm>
            <a:off x="5989320" y="2194560"/>
            <a:ext cx="1572768" cy="777240"/>
          </a:xfrm>
          <a:prstGeom prst="roundRect">
            <a:avLst>
              <a:gd name="adj" fmla="val 5882"/>
            </a:avLst>
          </a:prstGeom>
          <a:solidFill>
            <a:srgbClr val="F3E6E1"/>
          </a:solidFill>
          <a:ln w="12700">
            <a:solidFill>
              <a:srgbClr val="E3C9CC"/>
            </a:solidFill>
            <a:prstDash val="solid"/>
          </a:ln>
        </p:spPr>
      </p:sp>
      <p:sp>
        <p:nvSpPr>
          <p:cNvPr id="18" name="Text 16"/>
          <p:cNvSpPr/>
          <p:nvPr/>
        </p:nvSpPr>
        <p:spPr>
          <a:xfrm>
            <a:off x="5989320" y="2194560"/>
            <a:ext cx="1572768" cy="777240"/>
          </a:xfrm>
          <a:prstGeom prst="rect">
            <a:avLst/>
          </a:prstGeom>
          <a:noFill/>
        </p:spPr>
        <p:txBody>
          <a:bodyPr wrap="square" lIns="25400" tIns="25400" rIns="25400" bIns="25400" rtlCol="0" anchor="ctr"/>
          <a:lstStyle/>
          <a:p>
            <a:pPr marL="0" indent="0" algn="ctr">
              <a:buNone/>
            </a:pPr>
            <a:r>
              <a:rPr lang="en-US" sz="1000" b="1" dirty="0">
                <a:solidFill>
                  <a:srgbClr val="6E1423"/>
                </a:solidFill>
                <a:latin typeface="Calibri" panose="020F0502020204030204" pitchFamily="34" charset="0"/>
                <a:ea typeface="Calibri" panose="020F0502020204030204" pitchFamily="34" charset="-122"/>
                <a:cs typeface="Calibri" panose="020F0502020204030204" pitchFamily="34" charset="-120"/>
              </a:rPr>
              <a:t>Google</a:t>
            </a:r>
            <a:endParaRPr lang="en-US" sz="1000" dirty="0"/>
          </a:p>
          <a:p>
            <a:pPr marL="0" indent="0" algn="ctr">
              <a:buNone/>
            </a:pPr>
            <a:r>
              <a:rPr lang="en-US" sz="1000" b="1" dirty="0">
                <a:solidFill>
                  <a:srgbClr val="6E1423"/>
                </a:solidFill>
                <a:latin typeface="Calibri" panose="020F0502020204030204" pitchFamily="34" charset="0"/>
                <a:ea typeface="Calibri" panose="020F0502020204030204" pitchFamily="34" charset="-122"/>
                <a:cs typeface="Calibri" panose="020F0502020204030204" pitchFamily="34" charset="-120"/>
              </a:rPr>
              <a:t>Search</a:t>
            </a:r>
            <a:endParaRPr lang="en-US" sz="1000" dirty="0"/>
          </a:p>
        </p:txBody>
      </p:sp>
      <p:sp>
        <p:nvSpPr>
          <p:cNvPr id="19" name="Text 17"/>
          <p:cNvSpPr/>
          <p:nvPr/>
        </p:nvSpPr>
        <p:spPr>
          <a:xfrm>
            <a:off x="7562088" y="2194560"/>
            <a:ext cx="256032" cy="777240"/>
          </a:xfrm>
          <a:prstGeom prst="rect">
            <a:avLst/>
          </a:prstGeom>
          <a:noFill/>
        </p:spPr>
        <p:txBody>
          <a:bodyPr wrap="square" lIns="0" tIns="0" rIns="0" bIns="0" rtlCol="0" anchor="ctr"/>
          <a:lstStyle/>
          <a:p>
            <a:pPr marL="0" indent="0" algn="ctr">
              <a:buNone/>
            </a:pPr>
            <a:r>
              <a:rPr lang="en-US" sz="1500" b="1" dirty="0">
                <a:solidFill>
                  <a:srgbClr val="A13D4C"/>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20" name="Shape 18"/>
          <p:cNvSpPr/>
          <p:nvPr/>
        </p:nvSpPr>
        <p:spPr>
          <a:xfrm>
            <a:off x="7818120" y="2194560"/>
            <a:ext cx="1572768" cy="777240"/>
          </a:xfrm>
          <a:prstGeom prst="roundRect">
            <a:avLst>
              <a:gd name="adj" fmla="val 5882"/>
            </a:avLst>
          </a:prstGeom>
          <a:solidFill>
            <a:srgbClr val="F3E6E1"/>
          </a:solidFill>
          <a:ln w="12700">
            <a:solidFill>
              <a:srgbClr val="E3C9CC"/>
            </a:solidFill>
            <a:prstDash val="solid"/>
          </a:ln>
        </p:spPr>
      </p:sp>
      <p:sp>
        <p:nvSpPr>
          <p:cNvPr id="21" name="Text 19"/>
          <p:cNvSpPr/>
          <p:nvPr/>
        </p:nvSpPr>
        <p:spPr>
          <a:xfrm>
            <a:off x="7818120" y="2194560"/>
            <a:ext cx="1572768" cy="777240"/>
          </a:xfrm>
          <a:prstGeom prst="rect">
            <a:avLst/>
          </a:prstGeom>
          <a:noFill/>
        </p:spPr>
        <p:txBody>
          <a:bodyPr wrap="square" lIns="25400" tIns="25400" rIns="25400" bIns="25400" rtlCol="0" anchor="ctr"/>
          <a:lstStyle/>
          <a:p>
            <a:pPr marL="0" indent="0" algn="ctr">
              <a:buNone/>
            </a:pPr>
            <a:r>
              <a:rPr lang="en-US" sz="1000" b="1" dirty="0">
                <a:solidFill>
                  <a:srgbClr val="6E1423"/>
                </a:solidFill>
                <a:latin typeface="Calibri" panose="020F0502020204030204" pitchFamily="34" charset="0"/>
                <a:ea typeface="Calibri" panose="020F0502020204030204" pitchFamily="34" charset="-122"/>
                <a:cs typeface="Calibri" panose="020F0502020204030204" pitchFamily="34" charset="-120"/>
              </a:rPr>
              <a:t>Extract</a:t>
            </a:r>
            <a:endParaRPr lang="en-US" sz="1000" dirty="0"/>
          </a:p>
          <a:p>
            <a:pPr marL="0" indent="0" algn="ctr">
              <a:buNone/>
            </a:pPr>
            <a:r>
              <a:rPr lang="en-US" sz="1000" b="1" dirty="0">
                <a:solidFill>
                  <a:srgbClr val="6E1423"/>
                </a:solidFill>
                <a:latin typeface="Calibri" panose="020F0502020204030204" pitchFamily="34" charset="0"/>
                <a:ea typeface="Calibri" panose="020F0502020204030204" pitchFamily="34" charset="-122"/>
                <a:cs typeface="Calibri" panose="020F0502020204030204" pitchFamily="34" charset="-120"/>
              </a:rPr>
              <a:t>Website</a:t>
            </a:r>
            <a:endParaRPr lang="en-US" sz="1000" dirty="0"/>
          </a:p>
        </p:txBody>
      </p:sp>
      <p:sp>
        <p:nvSpPr>
          <p:cNvPr id="22" name="Text 20"/>
          <p:cNvSpPr/>
          <p:nvPr/>
        </p:nvSpPr>
        <p:spPr>
          <a:xfrm>
            <a:off x="9390888" y="2194560"/>
            <a:ext cx="256032" cy="777240"/>
          </a:xfrm>
          <a:prstGeom prst="rect">
            <a:avLst/>
          </a:prstGeom>
          <a:noFill/>
        </p:spPr>
        <p:txBody>
          <a:bodyPr wrap="square" lIns="0" tIns="0" rIns="0" bIns="0" rtlCol="0" anchor="ctr"/>
          <a:lstStyle/>
          <a:p>
            <a:pPr marL="0" indent="0" algn="ctr">
              <a:buNone/>
            </a:pPr>
            <a:r>
              <a:rPr lang="en-US" sz="1500" b="1" dirty="0">
                <a:solidFill>
                  <a:srgbClr val="A13D4C"/>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23" name="Shape 21"/>
          <p:cNvSpPr/>
          <p:nvPr/>
        </p:nvSpPr>
        <p:spPr>
          <a:xfrm>
            <a:off x="9646920" y="2194560"/>
            <a:ext cx="1572768" cy="777240"/>
          </a:xfrm>
          <a:prstGeom prst="roundRect">
            <a:avLst>
              <a:gd name="adj" fmla="val 5882"/>
            </a:avLst>
          </a:prstGeom>
          <a:solidFill>
            <a:srgbClr val="F3E6E1"/>
          </a:solidFill>
          <a:ln w="12700">
            <a:solidFill>
              <a:srgbClr val="E3C9CC"/>
            </a:solidFill>
            <a:prstDash val="solid"/>
          </a:ln>
        </p:spPr>
      </p:sp>
      <p:sp>
        <p:nvSpPr>
          <p:cNvPr id="24" name="Text 22"/>
          <p:cNvSpPr/>
          <p:nvPr/>
        </p:nvSpPr>
        <p:spPr>
          <a:xfrm>
            <a:off x="9646920" y="2194560"/>
            <a:ext cx="1572768" cy="777240"/>
          </a:xfrm>
          <a:prstGeom prst="rect">
            <a:avLst/>
          </a:prstGeom>
          <a:noFill/>
        </p:spPr>
        <p:txBody>
          <a:bodyPr wrap="square" lIns="25400" tIns="25400" rIns="25400" bIns="25400" rtlCol="0" anchor="ctr"/>
          <a:lstStyle/>
          <a:p>
            <a:pPr marL="0" indent="0" algn="ctr">
              <a:buNone/>
            </a:pPr>
            <a:r>
              <a:rPr lang="en-US" sz="1000" b="1" dirty="0">
                <a:solidFill>
                  <a:srgbClr val="6E1423"/>
                </a:solidFill>
                <a:latin typeface="Calibri" panose="020F0502020204030204" pitchFamily="34" charset="0"/>
                <a:ea typeface="Calibri" panose="020F0502020204030204" pitchFamily="34" charset="-122"/>
                <a:cs typeface="Calibri" panose="020F0502020204030204" pitchFamily="34" charset="-120"/>
              </a:rPr>
              <a:t>Excel</a:t>
            </a:r>
            <a:endParaRPr lang="en-US" sz="1000" dirty="0"/>
          </a:p>
          <a:p>
            <a:pPr marL="0" indent="0" algn="ctr">
              <a:buNone/>
            </a:pPr>
            <a:r>
              <a:rPr lang="en-US" sz="1000" b="1" dirty="0">
                <a:solidFill>
                  <a:srgbClr val="6E1423"/>
                </a:solidFill>
                <a:latin typeface="Calibri" panose="020F0502020204030204" pitchFamily="34" charset="0"/>
                <a:ea typeface="Calibri" panose="020F0502020204030204" pitchFamily="34" charset="-122"/>
                <a:cs typeface="Calibri" panose="020F0502020204030204" pitchFamily="34" charset="-120"/>
              </a:rPr>
              <a:t>Report</a:t>
            </a:r>
            <a:endParaRPr lang="en-US" sz="1000" dirty="0"/>
          </a:p>
        </p:txBody>
      </p:sp>
      <p:sp>
        <p:nvSpPr>
          <p:cNvPr id="25" name="Text 23"/>
          <p:cNvSpPr/>
          <p:nvPr/>
        </p:nvSpPr>
        <p:spPr>
          <a:xfrm>
            <a:off x="502920" y="3246120"/>
            <a:ext cx="3657600" cy="256032"/>
          </a:xfrm>
          <a:prstGeom prst="rect">
            <a:avLst/>
          </a:prstGeom>
          <a:noFill/>
        </p:spPr>
        <p:txBody>
          <a:bodyPr wrap="square" lIns="0" tIns="0" rIns="0" bIns="0" rtlCol="0" anchor="ctr"/>
          <a:lstStyle/>
          <a:p>
            <a:pPr marL="0" indent="0">
              <a:buNone/>
            </a:pPr>
            <a:r>
              <a:rPr lang="en-US" sz="1050" b="1" kern="0" spc="100" dirty="0">
                <a:solidFill>
                  <a:srgbClr val="A13D4C"/>
                </a:solidFill>
                <a:latin typeface="Calibri" panose="020F0502020204030204" pitchFamily="34" charset="0"/>
                <a:ea typeface="Calibri" panose="020F0502020204030204" pitchFamily="34" charset="-122"/>
                <a:cs typeface="Calibri" panose="020F0502020204030204" pitchFamily="34" charset="-120"/>
              </a:rPr>
              <a:t>TECHNOLOGIES USED</a:t>
            </a:r>
            <a:endParaRPr lang="en-US" sz="1050" dirty="0"/>
          </a:p>
        </p:txBody>
      </p:sp>
      <p:sp>
        <p:nvSpPr>
          <p:cNvPr id="26" name="Shape 24"/>
          <p:cNvSpPr/>
          <p:nvPr/>
        </p:nvSpPr>
        <p:spPr>
          <a:xfrm>
            <a:off x="502920" y="3566160"/>
            <a:ext cx="3502152" cy="502920"/>
          </a:xfrm>
          <a:prstGeom prst="roundRect">
            <a:avLst>
              <a:gd name="adj" fmla="val 9091"/>
            </a:avLst>
          </a:prstGeom>
          <a:solidFill>
            <a:srgbClr val="F3E6E1"/>
          </a:solidFill>
        </p:spPr>
      </p:sp>
      <p:sp>
        <p:nvSpPr>
          <p:cNvPr id="27" name="Shape 25"/>
          <p:cNvSpPr/>
          <p:nvPr/>
        </p:nvSpPr>
        <p:spPr>
          <a:xfrm>
            <a:off x="640080" y="3643884"/>
            <a:ext cx="347472" cy="347472"/>
          </a:xfrm>
          <a:prstGeom prst="ellipse">
            <a:avLst/>
          </a:prstGeom>
          <a:solidFill>
            <a:srgbClr val="A13D4C"/>
          </a:solidFill>
        </p:spPr>
      </p:sp>
      <p:pic>
        <p:nvPicPr>
          <p:cNvPr id="28" name="Image 0" descr="/home/claude/work/icons/python.png"/>
          <p:cNvPicPr>
            <a:picLocks noChangeAspect="1"/>
          </p:cNvPicPr>
          <p:nvPr/>
        </p:nvPicPr>
        <p:blipFill>
          <a:blip r:embed="rId3"/>
          <a:stretch>
            <a:fillRect/>
          </a:stretch>
        </p:blipFill>
        <p:spPr>
          <a:xfrm>
            <a:off x="692201" y="3696005"/>
            <a:ext cx="243230" cy="243230"/>
          </a:xfrm>
          <a:prstGeom prst="rect">
            <a:avLst/>
          </a:prstGeom>
        </p:spPr>
      </p:pic>
      <p:sp>
        <p:nvSpPr>
          <p:cNvPr id="29" name="Text 26"/>
          <p:cNvSpPr/>
          <p:nvPr/>
        </p:nvSpPr>
        <p:spPr>
          <a:xfrm>
            <a:off x="1097280" y="3566160"/>
            <a:ext cx="2788920" cy="502920"/>
          </a:xfrm>
          <a:prstGeom prst="rect">
            <a:avLst/>
          </a:prstGeom>
          <a:noFill/>
        </p:spPr>
        <p:txBody>
          <a:bodyPr wrap="square" lIns="0" tIns="0" rIns="0" bIns="0" rtlCol="0" anchor="ctr"/>
          <a:lstStyle/>
          <a:p>
            <a:pPr marL="0" indent="0">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Python</a:t>
            </a:r>
            <a:endParaRPr lang="en-US" sz="1050" dirty="0"/>
          </a:p>
        </p:txBody>
      </p:sp>
      <p:sp>
        <p:nvSpPr>
          <p:cNvPr id="30" name="Shape 27"/>
          <p:cNvSpPr/>
          <p:nvPr/>
        </p:nvSpPr>
        <p:spPr>
          <a:xfrm>
            <a:off x="4142232" y="3566160"/>
            <a:ext cx="3502152" cy="502920"/>
          </a:xfrm>
          <a:prstGeom prst="roundRect">
            <a:avLst>
              <a:gd name="adj" fmla="val 9091"/>
            </a:avLst>
          </a:prstGeom>
          <a:solidFill>
            <a:srgbClr val="F3E6E1"/>
          </a:solidFill>
        </p:spPr>
      </p:sp>
      <p:sp>
        <p:nvSpPr>
          <p:cNvPr id="31" name="Shape 28"/>
          <p:cNvSpPr/>
          <p:nvPr/>
        </p:nvSpPr>
        <p:spPr>
          <a:xfrm>
            <a:off x="4279392" y="3643884"/>
            <a:ext cx="347472" cy="347472"/>
          </a:xfrm>
          <a:prstGeom prst="ellipse">
            <a:avLst/>
          </a:prstGeom>
          <a:solidFill>
            <a:srgbClr val="A13D4C"/>
          </a:solidFill>
        </p:spPr>
      </p:sp>
      <p:pic>
        <p:nvPicPr>
          <p:cNvPr id="32" name="Image 1" descr="/home/claude/work/icons/network.png"/>
          <p:cNvPicPr>
            <a:picLocks noChangeAspect="1"/>
          </p:cNvPicPr>
          <p:nvPr/>
        </p:nvPicPr>
        <p:blipFill>
          <a:blip r:embed="rId4"/>
          <a:stretch>
            <a:fillRect/>
          </a:stretch>
        </p:blipFill>
        <p:spPr>
          <a:xfrm>
            <a:off x="4331513" y="3696005"/>
            <a:ext cx="243230" cy="243230"/>
          </a:xfrm>
          <a:prstGeom prst="rect">
            <a:avLst/>
          </a:prstGeom>
        </p:spPr>
      </p:pic>
      <p:sp>
        <p:nvSpPr>
          <p:cNvPr id="33" name="Text 29"/>
          <p:cNvSpPr/>
          <p:nvPr/>
        </p:nvSpPr>
        <p:spPr>
          <a:xfrm>
            <a:off x="4736592" y="3566160"/>
            <a:ext cx="2788920" cy="502920"/>
          </a:xfrm>
          <a:prstGeom prst="rect">
            <a:avLst/>
          </a:prstGeom>
          <a:noFill/>
        </p:spPr>
        <p:txBody>
          <a:bodyPr wrap="square" lIns="0" tIns="0" rIns="0" bIns="0" rtlCol="0" anchor="ctr"/>
          <a:lstStyle/>
          <a:p>
            <a:pPr marL="0" indent="0">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Requests</a:t>
            </a:r>
            <a:endParaRPr lang="en-US" sz="1050" dirty="0"/>
          </a:p>
        </p:txBody>
      </p:sp>
      <p:sp>
        <p:nvSpPr>
          <p:cNvPr id="34" name="Shape 30"/>
          <p:cNvSpPr/>
          <p:nvPr/>
        </p:nvSpPr>
        <p:spPr>
          <a:xfrm>
            <a:off x="7781544" y="3566160"/>
            <a:ext cx="3502152" cy="502920"/>
          </a:xfrm>
          <a:prstGeom prst="roundRect">
            <a:avLst>
              <a:gd name="adj" fmla="val 9091"/>
            </a:avLst>
          </a:prstGeom>
          <a:solidFill>
            <a:srgbClr val="F3E6E1"/>
          </a:solidFill>
        </p:spPr>
      </p:sp>
      <p:sp>
        <p:nvSpPr>
          <p:cNvPr id="35" name="Shape 31"/>
          <p:cNvSpPr/>
          <p:nvPr/>
        </p:nvSpPr>
        <p:spPr>
          <a:xfrm>
            <a:off x="7918704" y="3643884"/>
            <a:ext cx="347472" cy="347472"/>
          </a:xfrm>
          <a:prstGeom prst="ellipse">
            <a:avLst/>
          </a:prstGeom>
          <a:solidFill>
            <a:srgbClr val="A13D4C"/>
          </a:solidFill>
        </p:spPr>
      </p:sp>
      <p:pic>
        <p:nvPicPr>
          <p:cNvPr id="36" name="Image 2" descr="/home/claude/work/icons/search.png"/>
          <p:cNvPicPr>
            <a:picLocks noChangeAspect="1"/>
          </p:cNvPicPr>
          <p:nvPr/>
        </p:nvPicPr>
        <p:blipFill>
          <a:blip r:embed="rId5"/>
          <a:stretch>
            <a:fillRect/>
          </a:stretch>
        </p:blipFill>
        <p:spPr>
          <a:xfrm>
            <a:off x="7970825" y="3696005"/>
            <a:ext cx="243230" cy="243230"/>
          </a:xfrm>
          <a:prstGeom prst="rect">
            <a:avLst/>
          </a:prstGeom>
        </p:spPr>
      </p:pic>
      <p:sp>
        <p:nvSpPr>
          <p:cNvPr id="37" name="Text 32"/>
          <p:cNvSpPr/>
          <p:nvPr/>
        </p:nvSpPr>
        <p:spPr>
          <a:xfrm>
            <a:off x="8375904" y="3566160"/>
            <a:ext cx="2788920" cy="502920"/>
          </a:xfrm>
          <a:prstGeom prst="rect">
            <a:avLst/>
          </a:prstGeom>
          <a:noFill/>
        </p:spPr>
        <p:txBody>
          <a:bodyPr wrap="square" lIns="0" tIns="0" rIns="0" bIns="0" rtlCol="0" anchor="ctr"/>
          <a:lstStyle/>
          <a:p>
            <a:pPr marL="0" indent="0">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SerpAPI</a:t>
            </a:r>
            <a:endParaRPr lang="en-US" sz="1050" dirty="0"/>
          </a:p>
        </p:txBody>
      </p:sp>
      <p:sp>
        <p:nvSpPr>
          <p:cNvPr id="38" name="Shape 33"/>
          <p:cNvSpPr/>
          <p:nvPr/>
        </p:nvSpPr>
        <p:spPr>
          <a:xfrm>
            <a:off x="502920" y="4206240"/>
            <a:ext cx="3502152" cy="502920"/>
          </a:xfrm>
          <a:prstGeom prst="roundRect">
            <a:avLst>
              <a:gd name="adj" fmla="val 9091"/>
            </a:avLst>
          </a:prstGeom>
          <a:solidFill>
            <a:srgbClr val="F3E6E1"/>
          </a:solidFill>
        </p:spPr>
      </p:sp>
      <p:sp>
        <p:nvSpPr>
          <p:cNvPr id="39" name="Shape 34"/>
          <p:cNvSpPr/>
          <p:nvPr/>
        </p:nvSpPr>
        <p:spPr>
          <a:xfrm>
            <a:off x="640080" y="4283964"/>
            <a:ext cx="347472" cy="347472"/>
          </a:xfrm>
          <a:prstGeom prst="ellipse">
            <a:avLst/>
          </a:prstGeom>
          <a:solidFill>
            <a:srgbClr val="A13D4C"/>
          </a:solidFill>
        </p:spPr>
      </p:sp>
      <p:pic>
        <p:nvPicPr>
          <p:cNvPr id="40" name="Image 3" descr="/home/claude/work/icons/excel.png"/>
          <p:cNvPicPr>
            <a:picLocks noChangeAspect="1"/>
          </p:cNvPicPr>
          <p:nvPr/>
        </p:nvPicPr>
        <p:blipFill>
          <a:blip r:embed="rId6"/>
          <a:stretch>
            <a:fillRect/>
          </a:stretch>
        </p:blipFill>
        <p:spPr>
          <a:xfrm>
            <a:off x="692201" y="4336085"/>
            <a:ext cx="243230" cy="243230"/>
          </a:xfrm>
          <a:prstGeom prst="rect">
            <a:avLst/>
          </a:prstGeom>
        </p:spPr>
      </p:pic>
      <p:sp>
        <p:nvSpPr>
          <p:cNvPr id="41" name="Text 35"/>
          <p:cNvSpPr/>
          <p:nvPr/>
        </p:nvSpPr>
        <p:spPr>
          <a:xfrm>
            <a:off x="1097280" y="4206240"/>
            <a:ext cx="2788920" cy="502920"/>
          </a:xfrm>
          <a:prstGeom prst="rect">
            <a:avLst/>
          </a:prstGeom>
          <a:noFill/>
        </p:spPr>
        <p:txBody>
          <a:bodyPr wrap="square" lIns="0" tIns="0" rIns="0" bIns="0" rtlCol="0" anchor="ctr"/>
          <a:lstStyle/>
          <a:p>
            <a:pPr marL="0" indent="0">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OpenPyXL</a:t>
            </a:r>
            <a:endParaRPr lang="en-US" sz="1050" dirty="0"/>
          </a:p>
        </p:txBody>
      </p:sp>
      <p:sp>
        <p:nvSpPr>
          <p:cNvPr id="42" name="Shape 36"/>
          <p:cNvSpPr/>
          <p:nvPr/>
        </p:nvSpPr>
        <p:spPr>
          <a:xfrm>
            <a:off x="4142232" y="4206240"/>
            <a:ext cx="3502152" cy="502920"/>
          </a:xfrm>
          <a:prstGeom prst="roundRect">
            <a:avLst>
              <a:gd name="adj" fmla="val 9091"/>
            </a:avLst>
          </a:prstGeom>
          <a:solidFill>
            <a:srgbClr val="F3E6E1"/>
          </a:solidFill>
        </p:spPr>
      </p:sp>
      <p:sp>
        <p:nvSpPr>
          <p:cNvPr id="43" name="Shape 37"/>
          <p:cNvSpPr/>
          <p:nvPr/>
        </p:nvSpPr>
        <p:spPr>
          <a:xfrm>
            <a:off x="4279392" y="4283964"/>
            <a:ext cx="347472" cy="347472"/>
          </a:xfrm>
          <a:prstGeom prst="ellipse">
            <a:avLst/>
          </a:prstGeom>
          <a:solidFill>
            <a:srgbClr val="A13D4C"/>
          </a:solidFill>
        </p:spPr>
      </p:sp>
      <p:pic>
        <p:nvPicPr>
          <p:cNvPr id="44" name="Image 4" descr="/home/claude/work/icons/cogs.png"/>
          <p:cNvPicPr>
            <a:picLocks noChangeAspect="1"/>
          </p:cNvPicPr>
          <p:nvPr/>
        </p:nvPicPr>
        <p:blipFill>
          <a:blip r:embed="rId7"/>
          <a:stretch>
            <a:fillRect/>
          </a:stretch>
        </p:blipFill>
        <p:spPr>
          <a:xfrm>
            <a:off x="4331513" y="4336085"/>
            <a:ext cx="243230" cy="243230"/>
          </a:xfrm>
          <a:prstGeom prst="rect">
            <a:avLst/>
          </a:prstGeom>
        </p:spPr>
      </p:pic>
      <p:sp>
        <p:nvSpPr>
          <p:cNvPr id="45" name="Text 38"/>
          <p:cNvSpPr/>
          <p:nvPr/>
        </p:nvSpPr>
        <p:spPr>
          <a:xfrm>
            <a:off x="4736592" y="4206240"/>
            <a:ext cx="2788920" cy="502920"/>
          </a:xfrm>
          <a:prstGeom prst="rect">
            <a:avLst/>
          </a:prstGeom>
          <a:noFill/>
        </p:spPr>
        <p:txBody>
          <a:bodyPr wrap="square" lIns="0" tIns="0" rIns="0" bIns="0" rtlCol="0" anchor="ctr"/>
          <a:lstStyle/>
          <a:p>
            <a:pPr marL="0" indent="0">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Excel Automation</a:t>
            </a:r>
            <a:endParaRPr lang="en-US" sz="1050" dirty="0"/>
          </a:p>
        </p:txBody>
      </p:sp>
      <p:sp>
        <p:nvSpPr>
          <p:cNvPr id="46" name="Shape 39"/>
          <p:cNvSpPr/>
          <p:nvPr/>
        </p:nvSpPr>
        <p:spPr>
          <a:xfrm>
            <a:off x="7781544" y="4206240"/>
            <a:ext cx="3502152" cy="502920"/>
          </a:xfrm>
          <a:prstGeom prst="roundRect">
            <a:avLst>
              <a:gd name="adj" fmla="val 9091"/>
            </a:avLst>
          </a:prstGeom>
          <a:solidFill>
            <a:srgbClr val="F3E6E1"/>
          </a:solidFill>
        </p:spPr>
      </p:sp>
      <p:sp>
        <p:nvSpPr>
          <p:cNvPr id="47" name="Shape 40"/>
          <p:cNvSpPr/>
          <p:nvPr/>
        </p:nvSpPr>
        <p:spPr>
          <a:xfrm>
            <a:off x="7918704" y="4283964"/>
            <a:ext cx="347472" cy="347472"/>
          </a:xfrm>
          <a:prstGeom prst="ellipse">
            <a:avLst/>
          </a:prstGeom>
          <a:solidFill>
            <a:srgbClr val="A13D4C"/>
          </a:solidFill>
        </p:spPr>
      </p:sp>
      <p:pic>
        <p:nvPicPr>
          <p:cNvPr id="48" name="Image 5" descr="/home/claude/work/icons/bug.png"/>
          <p:cNvPicPr>
            <a:picLocks noChangeAspect="1"/>
          </p:cNvPicPr>
          <p:nvPr/>
        </p:nvPicPr>
        <p:blipFill>
          <a:blip r:embed="rId8"/>
          <a:stretch>
            <a:fillRect/>
          </a:stretch>
        </p:blipFill>
        <p:spPr>
          <a:xfrm>
            <a:off x="7970825" y="4336085"/>
            <a:ext cx="243230" cy="243230"/>
          </a:xfrm>
          <a:prstGeom prst="rect">
            <a:avLst/>
          </a:prstGeom>
        </p:spPr>
      </p:pic>
      <p:sp>
        <p:nvSpPr>
          <p:cNvPr id="49" name="Text 41"/>
          <p:cNvSpPr/>
          <p:nvPr/>
        </p:nvSpPr>
        <p:spPr>
          <a:xfrm>
            <a:off x="8375904" y="4206240"/>
            <a:ext cx="2788920" cy="502920"/>
          </a:xfrm>
          <a:prstGeom prst="rect">
            <a:avLst/>
          </a:prstGeom>
          <a:noFill/>
        </p:spPr>
        <p:txBody>
          <a:bodyPr wrap="square" lIns="0" tIns="0" rIns="0" bIns="0" rtlCol="0" anchor="ctr"/>
          <a:lstStyle/>
          <a:p>
            <a:pPr marL="0" indent="0">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Exception Handling</a:t>
            </a:r>
            <a:endParaRPr lang="en-US" sz="1050" dirty="0"/>
          </a:p>
        </p:txBody>
      </p:sp>
      <p:sp>
        <p:nvSpPr>
          <p:cNvPr id="50" name="Text 42"/>
          <p:cNvSpPr/>
          <p:nvPr/>
        </p:nvSpPr>
        <p:spPr>
          <a:xfrm>
            <a:off x="502920" y="4892040"/>
            <a:ext cx="3657600" cy="256032"/>
          </a:xfrm>
          <a:prstGeom prst="rect">
            <a:avLst/>
          </a:prstGeom>
          <a:noFill/>
        </p:spPr>
        <p:txBody>
          <a:bodyPr wrap="square" lIns="0" tIns="0" rIns="0" bIns="0" rtlCol="0" anchor="ctr"/>
          <a:lstStyle/>
          <a:p>
            <a:pPr marL="0" indent="0">
              <a:buNone/>
            </a:pPr>
            <a:r>
              <a:rPr lang="en-US" sz="1050" b="1" kern="0" spc="100" dirty="0">
                <a:solidFill>
                  <a:srgbClr val="A13D4C"/>
                </a:solidFill>
                <a:latin typeface="Calibri" panose="020F0502020204030204" pitchFamily="34" charset="0"/>
                <a:ea typeface="Calibri" panose="020F0502020204030204" pitchFamily="34" charset="-122"/>
                <a:cs typeface="Calibri" panose="020F0502020204030204" pitchFamily="34" charset="-120"/>
              </a:rPr>
              <a:t>SCREENSHOTS</a:t>
            </a:r>
            <a:endParaRPr lang="en-US" sz="1050" dirty="0"/>
          </a:p>
        </p:txBody>
      </p:sp>
      <p:sp>
        <p:nvSpPr>
          <p:cNvPr id="51" name="Shape 43"/>
          <p:cNvSpPr/>
          <p:nvPr/>
        </p:nvSpPr>
        <p:spPr>
          <a:xfrm>
            <a:off x="502920" y="5193792"/>
            <a:ext cx="3502152" cy="1234440"/>
          </a:xfrm>
          <a:prstGeom prst="roundRect">
            <a:avLst>
              <a:gd name="adj" fmla="val 3704"/>
            </a:avLst>
          </a:prstGeom>
          <a:solidFill>
            <a:srgbClr val="FFFFFF"/>
          </a:solidFill>
          <a:ln w="12700">
            <a:solidFill>
              <a:srgbClr val="C9A3A8"/>
            </a:solidFill>
            <a:prstDash val="dash"/>
          </a:ln>
        </p:spPr>
      </p:sp>
      <p:sp>
        <p:nvSpPr>
          <p:cNvPr id="52" name="Text 44"/>
          <p:cNvSpPr/>
          <p:nvPr/>
        </p:nvSpPr>
        <p:spPr>
          <a:xfrm>
            <a:off x="502920" y="5193792"/>
            <a:ext cx="3502152" cy="1234440"/>
          </a:xfrm>
          <a:prstGeom prst="rect">
            <a:avLst/>
          </a:prstGeom>
          <a:noFill/>
        </p:spPr>
        <p:txBody>
          <a:bodyPr wrap="square" lIns="0" tIns="0" rIns="0" bIns="0" rtlCol="0" anchor="ctr"/>
          <a:lstStyle/>
          <a:p>
            <a:pPr marL="0" indent="0" algn="ctr">
              <a:buNone/>
            </a:pPr>
            <a:r>
              <a:rPr lang="en-US" sz="1050" i="1" dirty="0">
                <a:solidFill>
                  <a:srgbClr val="7D5A5E"/>
                </a:solidFill>
                <a:latin typeface="Calibri" panose="020F0502020204030204" pitchFamily="34" charset="0"/>
                <a:ea typeface="Calibri" panose="020F0502020204030204" pitchFamily="34" charset="-122"/>
                <a:cs typeface="Calibri" panose="020F0502020204030204" pitchFamily="34" charset="-120"/>
              </a:rPr>
              <a:t>&lt;&lt; VS Code Screenshot &gt;&gt;</a:t>
            </a:r>
            <a:endParaRPr lang="en-US" sz="1050" dirty="0"/>
          </a:p>
        </p:txBody>
      </p:sp>
      <p:sp>
        <p:nvSpPr>
          <p:cNvPr id="54" name="Text 46"/>
          <p:cNvSpPr/>
          <p:nvPr/>
        </p:nvSpPr>
        <p:spPr>
          <a:xfrm>
            <a:off x="4142232" y="5193792"/>
            <a:ext cx="3502152" cy="1234440"/>
          </a:xfrm>
          <a:prstGeom prst="rect">
            <a:avLst/>
          </a:prstGeom>
          <a:noFill/>
        </p:spPr>
        <p:txBody>
          <a:bodyPr wrap="square" lIns="0" tIns="0" rIns="0" bIns="0" rtlCol="0" anchor="ctr"/>
          <a:lstStyle/>
          <a:p>
            <a:pPr marL="0" indent="0" algn="ctr">
              <a:buNone/>
            </a:pPr>
            <a:endParaRPr lang="en-US" sz="1050" dirty="0"/>
          </a:p>
        </p:txBody>
      </p:sp>
      <p:pic>
        <p:nvPicPr>
          <p:cNvPr id="57" name="Picture 56"/>
          <p:cNvPicPr>
            <a:picLocks noChangeAspect="1"/>
          </p:cNvPicPr>
          <p:nvPr/>
        </p:nvPicPr>
        <p:blipFill>
          <a:blip r:embed="rId9"/>
          <a:stretch>
            <a:fillRect/>
          </a:stretch>
        </p:blipFill>
        <p:spPr>
          <a:xfrm>
            <a:off x="502920" y="4892675"/>
            <a:ext cx="5211445" cy="1856105"/>
          </a:xfrm>
          <a:prstGeom prst="rect">
            <a:avLst/>
          </a:prstGeom>
        </p:spPr>
      </p:pic>
      <p:pic>
        <p:nvPicPr>
          <p:cNvPr id="58" name="Picture 57"/>
          <p:cNvPicPr>
            <a:picLocks noChangeAspect="1"/>
          </p:cNvPicPr>
          <p:nvPr/>
        </p:nvPicPr>
        <p:blipFill>
          <a:blip r:embed="rId10"/>
          <a:stretch>
            <a:fillRect/>
          </a:stretch>
        </p:blipFill>
        <p:spPr>
          <a:xfrm>
            <a:off x="5988685" y="4892040"/>
            <a:ext cx="5295265" cy="180784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3E7"/>
        </a:solidFill>
        <a:effectLst/>
      </p:bgPr>
    </p:bg>
    <p:spTree>
      <p:nvGrpSpPr>
        <p:cNvPr id="1" name=""/>
        <p:cNvGrpSpPr/>
        <p:nvPr/>
      </p:nvGrpSpPr>
      <p:grpSpPr>
        <a:xfrm>
          <a:off x="0" y="0"/>
          <a:ext cx="0" cy="0"/>
          <a:chOff x="0" y="0"/>
          <a:chExt cx="0" cy="0"/>
        </a:xfrm>
      </p:grpSpPr>
      <p:sp>
        <p:nvSpPr>
          <p:cNvPr id="2" name="Text 0"/>
          <p:cNvSpPr/>
          <p:nvPr/>
        </p:nvSpPr>
        <p:spPr>
          <a:xfrm>
            <a:off x="502920" y="384048"/>
            <a:ext cx="9601200" cy="274320"/>
          </a:xfrm>
          <a:prstGeom prst="rect">
            <a:avLst/>
          </a:prstGeom>
          <a:noFill/>
        </p:spPr>
        <p:txBody>
          <a:bodyPr wrap="square" lIns="0" tIns="0" rIns="0" bIns="0" rtlCol="0" anchor="ctr"/>
          <a:lstStyle/>
          <a:p>
            <a:pPr marL="0" indent="0">
              <a:buNone/>
            </a:pPr>
            <a:r>
              <a:rPr lang="en-US" sz="1200" b="1" kern="0" spc="200" dirty="0">
                <a:solidFill>
                  <a:srgbClr val="A13D4C"/>
                </a:solidFill>
                <a:latin typeface="Calibri" panose="020F0502020204030204" pitchFamily="34" charset="0"/>
                <a:ea typeface="Calibri" panose="020F0502020204030204" pitchFamily="34" charset="-122"/>
                <a:cs typeface="Calibri" panose="020F0502020204030204" pitchFamily="34" charset="-120"/>
              </a:rPr>
              <a:t>CLOUD FOUNDATIONS</a:t>
            </a:r>
            <a:endParaRPr lang="en-US" sz="1200" dirty="0"/>
          </a:p>
        </p:txBody>
      </p:sp>
      <p:sp>
        <p:nvSpPr>
          <p:cNvPr id="3" name="Text 1"/>
          <p:cNvSpPr/>
          <p:nvPr/>
        </p:nvSpPr>
        <p:spPr>
          <a:xfrm>
            <a:off x="502920" y="658368"/>
            <a:ext cx="10515600" cy="566928"/>
          </a:xfrm>
          <a:prstGeom prst="rect">
            <a:avLst/>
          </a:prstGeom>
          <a:noFill/>
        </p:spPr>
        <p:txBody>
          <a:bodyPr wrap="square" lIns="0" tIns="0" rIns="0" bIns="0" rtlCol="0" anchor="ctr"/>
          <a:lstStyle/>
          <a:p>
            <a:pPr marL="0" indent="0">
              <a:buNone/>
            </a:pPr>
            <a:r>
              <a:rPr lang="en-US" sz="2700" b="1" dirty="0">
                <a:solidFill>
                  <a:srgbClr val="6E1423"/>
                </a:solidFill>
                <a:latin typeface="Cambria" panose="02040503050406030204" pitchFamily="34" charset="0"/>
                <a:ea typeface="Cambria" panose="02040503050406030204" pitchFamily="34" charset="-122"/>
                <a:cs typeface="Cambria" panose="02040503050406030204" pitchFamily="34" charset="-120"/>
              </a:rPr>
              <a:t>Google Cloud Platform Learning</a:t>
            </a:r>
            <a:endParaRPr lang="en-US" sz="2700" dirty="0"/>
          </a:p>
        </p:txBody>
      </p:sp>
      <p:sp>
        <p:nvSpPr>
          <p:cNvPr id="4" name="Text 2"/>
          <p:cNvSpPr/>
          <p:nvPr/>
        </p:nvSpPr>
        <p:spPr>
          <a:xfrm>
            <a:off x="502920" y="6492240"/>
            <a:ext cx="4572000" cy="256032"/>
          </a:xfrm>
          <a:prstGeom prst="rect">
            <a:avLst/>
          </a:prstGeom>
          <a:noFill/>
        </p:spPr>
        <p:txBody>
          <a:bodyPr wrap="square" lIns="0" tIns="0" rIns="0" bIns="0" rtlCol="0" anchor="ctr"/>
          <a:lstStyle/>
          <a:p>
            <a:pPr marL="0" indent="0">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Ford Internship Experience</a:t>
            </a:r>
            <a:endParaRPr lang="en-US" sz="1000" dirty="0"/>
          </a:p>
        </p:txBody>
      </p:sp>
      <p:sp>
        <p:nvSpPr>
          <p:cNvPr id="5" name="Text 3"/>
          <p:cNvSpPr/>
          <p:nvPr/>
        </p:nvSpPr>
        <p:spPr>
          <a:xfrm>
            <a:off x="10725912" y="6492240"/>
            <a:ext cx="457200" cy="256032"/>
          </a:xfrm>
          <a:prstGeom prst="rect">
            <a:avLst/>
          </a:prstGeom>
          <a:noFill/>
        </p:spPr>
        <p:txBody>
          <a:bodyPr wrap="square" lIns="0" tIns="0" rIns="0" bIns="0" rtlCol="0" anchor="ctr"/>
          <a:lstStyle/>
          <a:p>
            <a:pPr marL="0" indent="0" algn="r">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04</a:t>
            </a:r>
            <a:endParaRPr lang="en-US" sz="1000" dirty="0"/>
          </a:p>
        </p:txBody>
      </p:sp>
      <p:sp>
        <p:nvSpPr>
          <p:cNvPr id="6" name="Text 4"/>
          <p:cNvSpPr/>
          <p:nvPr/>
        </p:nvSpPr>
        <p:spPr>
          <a:xfrm>
            <a:off x="502920" y="1261872"/>
            <a:ext cx="10881360" cy="658368"/>
          </a:xfrm>
          <a:prstGeom prst="rect">
            <a:avLst/>
          </a:prstGeom>
          <a:noFill/>
        </p:spPr>
        <p:txBody>
          <a:bodyPr wrap="square" lIns="0" tIns="0" rIns="0" bIns="0" rtlCol="0" anchor="t"/>
          <a:lstStyle/>
          <a:p>
            <a:pPr marL="0" indent="0">
              <a:lnSpc>
                <a:spcPct val="115000"/>
              </a:lnSpc>
              <a:buNone/>
            </a:pPr>
            <a:r>
              <a:rPr lang="en-US" sz="1150" dirty="0">
                <a:solidFill>
                  <a:srgbClr val="7D5A5E"/>
                </a:solidFill>
                <a:latin typeface="Calibri" panose="020F0502020204030204" pitchFamily="34" charset="0"/>
                <a:ea typeface="Calibri" panose="020F0502020204030204" pitchFamily="34" charset="-122"/>
                <a:cs typeface="Calibri" panose="020F0502020204030204" pitchFamily="34" charset="-120"/>
              </a:rPr>
              <a:t>Google Cloud Platform (GCP) is Google's suite of cloud computing services — on-demand access to compute, storage, and data infrastructure over the internet instead of on local hardware. Enterprises like Ford use cloud platforms for scalability, reliability, and centralized security, without managing physical servers.</a:t>
            </a:r>
            <a:endParaRPr lang="en-US" sz="1150" dirty="0"/>
          </a:p>
        </p:txBody>
      </p:sp>
      <p:sp>
        <p:nvSpPr>
          <p:cNvPr id="7" name="Shape 5"/>
          <p:cNvSpPr/>
          <p:nvPr/>
        </p:nvSpPr>
        <p:spPr>
          <a:xfrm>
            <a:off x="502920" y="2148840"/>
            <a:ext cx="5349240" cy="2039112"/>
          </a:xfrm>
          <a:prstGeom prst="roundRect">
            <a:avLst>
              <a:gd name="adj" fmla="val 2691"/>
            </a:avLst>
          </a:prstGeom>
          <a:solidFill>
            <a:srgbClr val="F3E6E1"/>
          </a:solidFill>
          <a:effectLst>
            <a:outerShdw blurRad="483870000" dist="322580000" algn="bl" rotWithShape="0">
              <a:srgbClr val="3A1520">
                <a:alpha val="0"/>
              </a:srgbClr>
            </a:outerShdw>
          </a:effectLst>
        </p:spPr>
      </p:sp>
      <p:sp>
        <p:nvSpPr>
          <p:cNvPr id="8" name="Text 6"/>
          <p:cNvSpPr/>
          <p:nvPr/>
        </p:nvSpPr>
        <p:spPr>
          <a:xfrm>
            <a:off x="731520" y="2286000"/>
            <a:ext cx="4892040" cy="320040"/>
          </a:xfrm>
          <a:prstGeom prst="rect">
            <a:avLst/>
          </a:prstGeom>
          <a:noFill/>
        </p:spPr>
        <p:txBody>
          <a:bodyPr wrap="square" lIns="0" tIns="0" rIns="0" bIns="0" rtlCol="0" anchor="ctr"/>
          <a:lstStyle/>
          <a:p>
            <a:pPr marL="0" indent="0">
              <a:buNone/>
            </a:pPr>
            <a:r>
              <a:rPr lang="en-US" sz="1400" b="1" dirty="0">
                <a:solidFill>
                  <a:srgbClr val="6E1423"/>
                </a:solidFill>
                <a:latin typeface="Cambria" panose="02040503050406030204" pitchFamily="34" charset="0"/>
                <a:ea typeface="Cambria" panose="02040503050406030204" pitchFamily="34" charset="-122"/>
                <a:cs typeface="Cambria" panose="02040503050406030204" pitchFamily="34" charset="-120"/>
              </a:rPr>
              <a:t>Identity &amp; Security</a:t>
            </a:r>
            <a:endParaRPr lang="en-US" sz="1400" dirty="0"/>
          </a:p>
        </p:txBody>
      </p:sp>
      <p:sp>
        <p:nvSpPr>
          <p:cNvPr id="9" name="Shape 7"/>
          <p:cNvSpPr/>
          <p:nvPr/>
        </p:nvSpPr>
        <p:spPr>
          <a:xfrm>
            <a:off x="731520" y="2697480"/>
            <a:ext cx="310896" cy="310896"/>
          </a:xfrm>
          <a:prstGeom prst="ellipse">
            <a:avLst/>
          </a:prstGeom>
          <a:solidFill>
            <a:srgbClr val="A13D4C"/>
          </a:solidFill>
        </p:spPr>
      </p:sp>
      <p:pic>
        <p:nvPicPr>
          <p:cNvPr id="10" name="Image 0" descr="/home/claude/work/icons/lock.png"/>
          <p:cNvPicPr>
            <a:picLocks noChangeAspect="1"/>
          </p:cNvPicPr>
          <p:nvPr/>
        </p:nvPicPr>
        <p:blipFill>
          <a:blip r:embed="rId3"/>
          <a:stretch>
            <a:fillRect/>
          </a:stretch>
        </p:blipFill>
        <p:spPr>
          <a:xfrm>
            <a:off x="778154" y="2744114"/>
            <a:ext cx="217627" cy="217627"/>
          </a:xfrm>
          <a:prstGeom prst="rect">
            <a:avLst/>
          </a:prstGeom>
        </p:spPr>
      </p:pic>
      <p:sp>
        <p:nvSpPr>
          <p:cNvPr id="11" name="Text 8"/>
          <p:cNvSpPr/>
          <p:nvPr/>
        </p:nvSpPr>
        <p:spPr>
          <a:xfrm>
            <a:off x="1124712" y="2670048"/>
            <a:ext cx="4434840" cy="365760"/>
          </a:xfrm>
          <a:prstGeom prst="rect">
            <a:avLst/>
          </a:prstGeom>
          <a:noFill/>
        </p:spPr>
        <p:txBody>
          <a:bodyPr wrap="square" lIns="0" tIns="0" rIns="0" bIns="0" rtlCol="0" anchor="ctr"/>
          <a:lstStyle/>
          <a:p>
            <a:pPr marL="0" indent="0">
              <a:buNone/>
            </a:pPr>
            <a:r>
              <a:rPr lang="en-US" sz="1150" dirty="0">
                <a:solidFill>
                  <a:srgbClr val="6E1423"/>
                </a:solidFill>
                <a:latin typeface="Calibri" panose="020F0502020204030204" pitchFamily="34" charset="0"/>
                <a:ea typeface="Calibri" panose="020F0502020204030204" pitchFamily="34" charset="-122"/>
                <a:cs typeface="Calibri" panose="020F0502020204030204" pitchFamily="34" charset="-120"/>
              </a:rPr>
              <a:t>IAM</a:t>
            </a:r>
            <a:endParaRPr lang="en-US" sz="1150" dirty="0"/>
          </a:p>
        </p:txBody>
      </p:sp>
      <p:sp>
        <p:nvSpPr>
          <p:cNvPr id="12" name="Shape 9"/>
          <p:cNvSpPr/>
          <p:nvPr/>
        </p:nvSpPr>
        <p:spPr>
          <a:xfrm>
            <a:off x="731520" y="3081528"/>
            <a:ext cx="310896" cy="310896"/>
          </a:xfrm>
          <a:prstGeom prst="ellipse">
            <a:avLst/>
          </a:prstGeom>
          <a:solidFill>
            <a:srgbClr val="A13D4C"/>
          </a:solidFill>
        </p:spPr>
      </p:sp>
      <p:pic>
        <p:nvPicPr>
          <p:cNvPr id="13" name="Image 1" descr="/home/claude/work/icons/usershield.png"/>
          <p:cNvPicPr>
            <a:picLocks noChangeAspect="1"/>
          </p:cNvPicPr>
          <p:nvPr/>
        </p:nvPicPr>
        <p:blipFill>
          <a:blip r:embed="rId4"/>
          <a:stretch>
            <a:fillRect/>
          </a:stretch>
        </p:blipFill>
        <p:spPr>
          <a:xfrm>
            <a:off x="778154" y="3128162"/>
            <a:ext cx="217627" cy="217627"/>
          </a:xfrm>
          <a:prstGeom prst="rect">
            <a:avLst/>
          </a:prstGeom>
        </p:spPr>
      </p:pic>
      <p:sp>
        <p:nvSpPr>
          <p:cNvPr id="14" name="Text 10"/>
          <p:cNvSpPr/>
          <p:nvPr/>
        </p:nvSpPr>
        <p:spPr>
          <a:xfrm>
            <a:off x="1124712" y="3054096"/>
            <a:ext cx="4434840" cy="365760"/>
          </a:xfrm>
          <a:prstGeom prst="rect">
            <a:avLst/>
          </a:prstGeom>
          <a:noFill/>
        </p:spPr>
        <p:txBody>
          <a:bodyPr wrap="square" lIns="0" tIns="0" rIns="0" bIns="0" rtlCol="0" anchor="ctr"/>
          <a:lstStyle/>
          <a:p>
            <a:pPr marL="0" indent="0">
              <a:buNone/>
            </a:pPr>
            <a:r>
              <a:rPr lang="en-US" sz="1150" dirty="0">
                <a:solidFill>
                  <a:srgbClr val="6E1423"/>
                </a:solidFill>
                <a:latin typeface="Calibri" panose="020F0502020204030204" pitchFamily="34" charset="0"/>
                <a:ea typeface="Calibri" panose="020F0502020204030204" pitchFamily="34" charset="-122"/>
                <a:cs typeface="Calibri" panose="020F0502020204030204" pitchFamily="34" charset="-120"/>
              </a:rPr>
              <a:t>Service Accounts</a:t>
            </a:r>
            <a:endParaRPr lang="en-US" sz="1150" dirty="0"/>
          </a:p>
        </p:txBody>
      </p:sp>
      <p:sp>
        <p:nvSpPr>
          <p:cNvPr id="15" name="Shape 11"/>
          <p:cNvSpPr/>
          <p:nvPr/>
        </p:nvSpPr>
        <p:spPr>
          <a:xfrm>
            <a:off x="731520" y="3465576"/>
            <a:ext cx="310896" cy="310896"/>
          </a:xfrm>
          <a:prstGeom prst="ellipse">
            <a:avLst/>
          </a:prstGeom>
          <a:solidFill>
            <a:srgbClr val="A13D4C"/>
          </a:solidFill>
        </p:spPr>
      </p:sp>
      <p:pic>
        <p:nvPicPr>
          <p:cNvPr id="16" name="Image 2" descr="/home/claude/work/icons/key.png"/>
          <p:cNvPicPr>
            <a:picLocks noChangeAspect="1"/>
          </p:cNvPicPr>
          <p:nvPr/>
        </p:nvPicPr>
        <p:blipFill>
          <a:blip r:embed="rId5"/>
          <a:stretch>
            <a:fillRect/>
          </a:stretch>
        </p:blipFill>
        <p:spPr>
          <a:xfrm>
            <a:off x="778154" y="3512210"/>
            <a:ext cx="217627" cy="217627"/>
          </a:xfrm>
          <a:prstGeom prst="rect">
            <a:avLst/>
          </a:prstGeom>
        </p:spPr>
      </p:pic>
      <p:sp>
        <p:nvSpPr>
          <p:cNvPr id="17" name="Text 12"/>
          <p:cNvSpPr/>
          <p:nvPr/>
        </p:nvSpPr>
        <p:spPr>
          <a:xfrm>
            <a:off x="1124712" y="3438144"/>
            <a:ext cx="4434840" cy="365760"/>
          </a:xfrm>
          <a:prstGeom prst="rect">
            <a:avLst/>
          </a:prstGeom>
          <a:noFill/>
        </p:spPr>
        <p:txBody>
          <a:bodyPr wrap="square" lIns="0" tIns="0" rIns="0" bIns="0" rtlCol="0" anchor="ctr"/>
          <a:lstStyle/>
          <a:p>
            <a:pPr marL="0" indent="0">
              <a:buNone/>
            </a:pPr>
            <a:r>
              <a:rPr lang="en-US" sz="1150" dirty="0">
                <a:solidFill>
                  <a:srgbClr val="6E1423"/>
                </a:solidFill>
                <a:latin typeface="Calibri" panose="020F0502020204030204" pitchFamily="34" charset="0"/>
                <a:ea typeface="Calibri" panose="020F0502020204030204" pitchFamily="34" charset="-122"/>
                <a:cs typeface="Calibri" panose="020F0502020204030204" pitchFamily="34" charset="-120"/>
              </a:rPr>
              <a:t>Secret Manager</a:t>
            </a:r>
            <a:endParaRPr lang="en-US" sz="1150" dirty="0"/>
          </a:p>
        </p:txBody>
      </p:sp>
      <p:sp>
        <p:nvSpPr>
          <p:cNvPr id="18" name="Shape 13"/>
          <p:cNvSpPr/>
          <p:nvPr/>
        </p:nvSpPr>
        <p:spPr>
          <a:xfrm>
            <a:off x="5998464" y="2148840"/>
            <a:ext cx="5349240" cy="2039112"/>
          </a:xfrm>
          <a:prstGeom prst="roundRect">
            <a:avLst>
              <a:gd name="adj" fmla="val 2691"/>
            </a:avLst>
          </a:prstGeom>
          <a:solidFill>
            <a:srgbClr val="F3E6E1"/>
          </a:solidFill>
          <a:effectLst>
            <a:outerShdw algn="bl" rotWithShape="0">
              <a:srgbClr val="3A1520">
                <a:alpha val="0"/>
              </a:srgbClr>
            </a:outerShdw>
          </a:effectLst>
        </p:spPr>
      </p:sp>
      <p:sp>
        <p:nvSpPr>
          <p:cNvPr id="19" name="Text 14"/>
          <p:cNvSpPr/>
          <p:nvPr/>
        </p:nvSpPr>
        <p:spPr>
          <a:xfrm>
            <a:off x="6227064" y="2286000"/>
            <a:ext cx="4892040" cy="320040"/>
          </a:xfrm>
          <a:prstGeom prst="rect">
            <a:avLst/>
          </a:prstGeom>
          <a:noFill/>
        </p:spPr>
        <p:txBody>
          <a:bodyPr wrap="square" lIns="0" tIns="0" rIns="0" bIns="0" rtlCol="0" anchor="ctr"/>
          <a:lstStyle/>
          <a:p>
            <a:pPr marL="0" indent="0">
              <a:buNone/>
            </a:pPr>
            <a:r>
              <a:rPr lang="en-US" sz="1400" b="1" dirty="0">
                <a:solidFill>
                  <a:srgbClr val="6E1423"/>
                </a:solidFill>
                <a:latin typeface="Cambria" panose="02040503050406030204" pitchFamily="34" charset="0"/>
                <a:ea typeface="Cambria" panose="02040503050406030204" pitchFamily="34" charset="-122"/>
                <a:cs typeface="Cambria" panose="02040503050406030204" pitchFamily="34" charset="-120"/>
              </a:rPr>
              <a:t>Data &amp; Storage</a:t>
            </a:r>
            <a:endParaRPr lang="en-US" sz="1400" dirty="0"/>
          </a:p>
        </p:txBody>
      </p:sp>
      <p:sp>
        <p:nvSpPr>
          <p:cNvPr id="20" name="Shape 15"/>
          <p:cNvSpPr/>
          <p:nvPr/>
        </p:nvSpPr>
        <p:spPr>
          <a:xfrm>
            <a:off x="6227064" y="2697480"/>
            <a:ext cx="310896" cy="310896"/>
          </a:xfrm>
          <a:prstGeom prst="ellipse">
            <a:avLst/>
          </a:prstGeom>
          <a:solidFill>
            <a:srgbClr val="A13D4C"/>
          </a:solidFill>
        </p:spPr>
      </p:sp>
      <p:pic>
        <p:nvPicPr>
          <p:cNvPr id="21" name="Image 3" descr="/home/claude/work/icons/database.png"/>
          <p:cNvPicPr>
            <a:picLocks noChangeAspect="1"/>
          </p:cNvPicPr>
          <p:nvPr/>
        </p:nvPicPr>
        <p:blipFill>
          <a:blip r:embed="rId6"/>
          <a:stretch>
            <a:fillRect/>
          </a:stretch>
        </p:blipFill>
        <p:spPr>
          <a:xfrm>
            <a:off x="6273698" y="2744114"/>
            <a:ext cx="217627" cy="217627"/>
          </a:xfrm>
          <a:prstGeom prst="rect">
            <a:avLst/>
          </a:prstGeom>
        </p:spPr>
      </p:pic>
      <p:sp>
        <p:nvSpPr>
          <p:cNvPr id="22" name="Text 16"/>
          <p:cNvSpPr/>
          <p:nvPr/>
        </p:nvSpPr>
        <p:spPr>
          <a:xfrm>
            <a:off x="6620256" y="2670048"/>
            <a:ext cx="4434840" cy="365760"/>
          </a:xfrm>
          <a:prstGeom prst="rect">
            <a:avLst/>
          </a:prstGeom>
          <a:noFill/>
        </p:spPr>
        <p:txBody>
          <a:bodyPr wrap="square" lIns="0" tIns="0" rIns="0" bIns="0" rtlCol="0" anchor="ctr"/>
          <a:lstStyle/>
          <a:p>
            <a:pPr marL="0" indent="0">
              <a:buNone/>
            </a:pPr>
            <a:r>
              <a:rPr lang="en-US" sz="1150" dirty="0">
                <a:solidFill>
                  <a:srgbClr val="6E1423"/>
                </a:solidFill>
                <a:latin typeface="Calibri" panose="020F0502020204030204" pitchFamily="34" charset="0"/>
                <a:ea typeface="Calibri" panose="020F0502020204030204" pitchFamily="34" charset="-122"/>
                <a:cs typeface="Calibri" panose="020F0502020204030204" pitchFamily="34" charset="-120"/>
              </a:rPr>
              <a:t>BigQuery</a:t>
            </a:r>
            <a:endParaRPr lang="en-US" sz="1150" dirty="0"/>
          </a:p>
        </p:txBody>
      </p:sp>
      <p:sp>
        <p:nvSpPr>
          <p:cNvPr id="23" name="Shape 17"/>
          <p:cNvSpPr/>
          <p:nvPr/>
        </p:nvSpPr>
        <p:spPr>
          <a:xfrm>
            <a:off x="6227064" y="3081528"/>
            <a:ext cx="310896" cy="310896"/>
          </a:xfrm>
          <a:prstGeom prst="ellipse">
            <a:avLst/>
          </a:prstGeom>
          <a:solidFill>
            <a:srgbClr val="A13D4C"/>
          </a:solidFill>
        </p:spPr>
      </p:sp>
      <p:pic>
        <p:nvPicPr>
          <p:cNvPr id="24" name="Image 4" descr="/home/claude/work/icons/archive.png"/>
          <p:cNvPicPr>
            <a:picLocks noChangeAspect="1"/>
          </p:cNvPicPr>
          <p:nvPr/>
        </p:nvPicPr>
        <p:blipFill>
          <a:blip r:embed="rId7"/>
          <a:stretch>
            <a:fillRect/>
          </a:stretch>
        </p:blipFill>
        <p:spPr>
          <a:xfrm>
            <a:off x="6273698" y="3128162"/>
            <a:ext cx="217627" cy="217627"/>
          </a:xfrm>
          <a:prstGeom prst="rect">
            <a:avLst/>
          </a:prstGeom>
        </p:spPr>
      </p:pic>
      <p:sp>
        <p:nvSpPr>
          <p:cNvPr id="25" name="Text 18"/>
          <p:cNvSpPr/>
          <p:nvPr/>
        </p:nvSpPr>
        <p:spPr>
          <a:xfrm>
            <a:off x="6620256" y="3054096"/>
            <a:ext cx="4434840" cy="365760"/>
          </a:xfrm>
          <a:prstGeom prst="rect">
            <a:avLst/>
          </a:prstGeom>
          <a:noFill/>
        </p:spPr>
        <p:txBody>
          <a:bodyPr wrap="square" lIns="0" tIns="0" rIns="0" bIns="0" rtlCol="0" anchor="ctr"/>
          <a:lstStyle/>
          <a:p>
            <a:pPr marL="0" indent="0">
              <a:buNone/>
            </a:pPr>
            <a:r>
              <a:rPr lang="en-US" sz="1150" dirty="0">
                <a:solidFill>
                  <a:srgbClr val="6E1423"/>
                </a:solidFill>
                <a:latin typeface="Calibri" panose="020F0502020204030204" pitchFamily="34" charset="0"/>
                <a:ea typeface="Calibri" panose="020F0502020204030204" pitchFamily="34" charset="-122"/>
                <a:cs typeface="Calibri" panose="020F0502020204030204" pitchFamily="34" charset="-120"/>
              </a:rPr>
              <a:t>Cloud Storage</a:t>
            </a:r>
            <a:endParaRPr lang="en-US" sz="1150" dirty="0"/>
          </a:p>
        </p:txBody>
      </p:sp>
      <p:sp>
        <p:nvSpPr>
          <p:cNvPr id="26" name="Shape 19"/>
          <p:cNvSpPr/>
          <p:nvPr/>
        </p:nvSpPr>
        <p:spPr>
          <a:xfrm>
            <a:off x="6227064" y="3465576"/>
            <a:ext cx="310896" cy="310896"/>
          </a:xfrm>
          <a:prstGeom prst="ellipse">
            <a:avLst/>
          </a:prstGeom>
          <a:solidFill>
            <a:srgbClr val="A13D4C"/>
          </a:solidFill>
        </p:spPr>
      </p:sp>
      <p:pic>
        <p:nvPicPr>
          <p:cNvPr id="27" name="Image 5" descr="/home/claude/work/icons/server.png"/>
          <p:cNvPicPr>
            <a:picLocks noChangeAspect="1"/>
          </p:cNvPicPr>
          <p:nvPr/>
        </p:nvPicPr>
        <p:blipFill>
          <a:blip r:embed="rId8"/>
          <a:stretch>
            <a:fillRect/>
          </a:stretch>
        </p:blipFill>
        <p:spPr>
          <a:xfrm>
            <a:off x="6273698" y="3512210"/>
            <a:ext cx="217627" cy="217627"/>
          </a:xfrm>
          <a:prstGeom prst="rect">
            <a:avLst/>
          </a:prstGeom>
        </p:spPr>
      </p:pic>
      <p:sp>
        <p:nvSpPr>
          <p:cNvPr id="28" name="Text 20"/>
          <p:cNvSpPr/>
          <p:nvPr/>
        </p:nvSpPr>
        <p:spPr>
          <a:xfrm>
            <a:off x="6620256" y="3438144"/>
            <a:ext cx="4434840" cy="365760"/>
          </a:xfrm>
          <a:prstGeom prst="rect">
            <a:avLst/>
          </a:prstGeom>
          <a:noFill/>
        </p:spPr>
        <p:txBody>
          <a:bodyPr wrap="square" lIns="0" tIns="0" rIns="0" bIns="0" rtlCol="0" anchor="ctr"/>
          <a:lstStyle/>
          <a:p>
            <a:pPr marL="0" indent="0">
              <a:buNone/>
            </a:pPr>
            <a:r>
              <a:rPr lang="en-US" sz="1150" dirty="0">
                <a:solidFill>
                  <a:srgbClr val="6E1423"/>
                </a:solidFill>
                <a:latin typeface="Calibri" panose="020F0502020204030204" pitchFamily="34" charset="0"/>
                <a:ea typeface="Calibri" panose="020F0502020204030204" pitchFamily="34" charset="-122"/>
                <a:cs typeface="Calibri" panose="020F0502020204030204" pitchFamily="34" charset="-120"/>
              </a:rPr>
              <a:t>Cloud SQL</a:t>
            </a:r>
            <a:endParaRPr lang="en-US" sz="1150" dirty="0"/>
          </a:p>
        </p:txBody>
      </p:sp>
      <p:sp>
        <p:nvSpPr>
          <p:cNvPr id="29" name="Shape 21"/>
          <p:cNvSpPr/>
          <p:nvPr/>
        </p:nvSpPr>
        <p:spPr>
          <a:xfrm>
            <a:off x="6227064" y="3849624"/>
            <a:ext cx="310896" cy="310896"/>
          </a:xfrm>
          <a:prstGeom prst="ellipse">
            <a:avLst/>
          </a:prstGeom>
          <a:solidFill>
            <a:srgbClr val="A13D4C"/>
          </a:solidFill>
        </p:spPr>
      </p:sp>
      <p:pic>
        <p:nvPicPr>
          <p:cNvPr id="30" name="Image 6" descr="/home/claude/work/icons/exchange.png"/>
          <p:cNvPicPr>
            <a:picLocks noChangeAspect="1"/>
          </p:cNvPicPr>
          <p:nvPr/>
        </p:nvPicPr>
        <p:blipFill>
          <a:blip r:embed="rId9"/>
          <a:stretch>
            <a:fillRect/>
          </a:stretch>
        </p:blipFill>
        <p:spPr>
          <a:xfrm>
            <a:off x="6273698" y="3896258"/>
            <a:ext cx="217627" cy="217627"/>
          </a:xfrm>
          <a:prstGeom prst="rect">
            <a:avLst/>
          </a:prstGeom>
        </p:spPr>
      </p:pic>
      <p:sp>
        <p:nvSpPr>
          <p:cNvPr id="31" name="Text 22"/>
          <p:cNvSpPr/>
          <p:nvPr/>
        </p:nvSpPr>
        <p:spPr>
          <a:xfrm>
            <a:off x="6620256" y="3822192"/>
            <a:ext cx="4434840" cy="365760"/>
          </a:xfrm>
          <a:prstGeom prst="rect">
            <a:avLst/>
          </a:prstGeom>
          <a:noFill/>
        </p:spPr>
        <p:txBody>
          <a:bodyPr wrap="square" lIns="0" tIns="0" rIns="0" bIns="0" rtlCol="0" anchor="ctr"/>
          <a:lstStyle/>
          <a:p>
            <a:pPr marL="0" indent="0">
              <a:buNone/>
            </a:pPr>
            <a:r>
              <a:rPr lang="en-US" sz="1150" dirty="0">
                <a:solidFill>
                  <a:srgbClr val="6E1423"/>
                </a:solidFill>
                <a:latin typeface="Calibri" panose="020F0502020204030204" pitchFamily="34" charset="0"/>
                <a:ea typeface="Calibri" panose="020F0502020204030204" pitchFamily="34" charset="-122"/>
                <a:cs typeface="Calibri" panose="020F0502020204030204" pitchFamily="34" charset="-120"/>
              </a:rPr>
              <a:t>Pub/Sub</a:t>
            </a:r>
            <a:endParaRPr lang="en-US" sz="1150" dirty="0"/>
          </a:p>
        </p:txBody>
      </p:sp>
      <p:sp>
        <p:nvSpPr>
          <p:cNvPr id="32" name="Shape 23"/>
          <p:cNvSpPr/>
          <p:nvPr/>
        </p:nvSpPr>
        <p:spPr>
          <a:xfrm>
            <a:off x="502920" y="4334256"/>
            <a:ext cx="5349240" cy="2039112"/>
          </a:xfrm>
          <a:prstGeom prst="roundRect">
            <a:avLst>
              <a:gd name="adj" fmla="val 2691"/>
            </a:avLst>
          </a:prstGeom>
          <a:solidFill>
            <a:srgbClr val="F3E6E1"/>
          </a:solidFill>
          <a:effectLst>
            <a:outerShdw dir="1" algn="bl" rotWithShape="0">
              <a:srgbClr val="3A1520">
                <a:alpha val="0"/>
              </a:srgbClr>
            </a:outerShdw>
          </a:effectLst>
        </p:spPr>
      </p:sp>
      <p:sp>
        <p:nvSpPr>
          <p:cNvPr id="33" name="Text 24"/>
          <p:cNvSpPr/>
          <p:nvPr/>
        </p:nvSpPr>
        <p:spPr>
          <a:xfrm>
            <a:off x="731520" y="4471416"/>
            <a:ext cx="4892040" cy="320040"/>
          </a:xfrm>
          <a:prstGeom prst="rect">
            <a:avLst/>
          </a:prstGeom>
          <a:noFill/>
        </p:spPr>
        <p:txBody>
          <a:bodyPr wrap="square" lIns="0" tIns="0" rIns="0" bIns="0" rtlCol="0" anchor="ctr"/>
          <a:lstStyle/>
          <a:p>
            <a:pPr marL="0" indent="0">
              <a:buNone/>
            </a:pPr>
            <a:r>
              <a:rPr lang="en-US" sz="1400" b="1" dirty="0">
                <a:solidFill>
                  <a:srgbClr val="6E1423"/>
                </a:solidFill>
                <a:latin typeface="Cambria" panose="02040503050406030204" pitchFamily="34" charset="0"/>
                <a:ea typeface="Cambria" panose="02040503050406030204" pitchFamily="34" charset="-122"/>
                <a:cs typeface="Cambria" panose="02040503050406030204" pitchFamily="34" charset="-120"/>
              </a:rPr>
              <a:t>Compute &amp; Deployment</a:t>
            </a:r>
            <a:endParaRPr lang="en-US" sz="1400" dirty="0"/>
          </a:p>
        </p:txBody>
      </p:sp>
      <p:sp>
        <p:nvSpPr>
          <p:cNvPr id="34" name="Shape 25"/>
          <p:cNvSpPr/>
          <p:nvPr/>
        </p:nvSpPr>
        <p:spPr>
          <a:xfrm>
            <a:off x="731520" y="4882896"/>
            <a:ext cx="310896" cy="310896"/>
          </a:xfrm>
          <a:prstGeom prst="ellipse">
            <a:avLst/>
          </a:prstGeom>
          <a:solidFill>
            <a:srgbClr val="A13D4C"/>
          </a:solidFill>
        </p:spPr>
      </p:sp>
      <p:pic>
        <p:nvPicPr>
          <p:cNvPr id="35" name="Image 7" descr="/home/claude/work/icons/hammer.png"/>
          <p:cNvPicPr>
            <a:picLocks noChangeAspect="1"/>
          </p:cNvPicPr>
          <p:nvPr/>
        </p:nvPicPr>
        <p:blipFill>
          <a:blip r:embed="rId10"/>
          <a:stretch>
            <a:fillRect/>
          </a:stretch>
        </p:blipFill>
        <p:spPr>
          <a:xfrm>
            <a:off x="778154" y="4929530"/>
            <a:ext cx="217627" cy="217627"/>
          </a:xfrm>
          <a:prstGeom prst="rect">
            <a:avLst/>
          </a:prstGeom>
        </p:spPr>
      </p:pic>
      <p:sp>
        <p:nvSpPr>
          <p:cNvPr id="36" name="Text 26"/>
          <p:cNvSpPr/>
          <p:nvPr/>
        </p:nvSpPr>
        <p:spPr>
          <a:xfrm>
            <a:off x="1124712" y="4855464"/>
            <a:ext cx="4434840" cy="365760"/>
          </a:xfrm>
          <a:prstGeom prst="rect">
            <a:avLst/>
          </a:prstGeom>
          <a:noFill/>
        </p:spPr>
        <p:txBody>
          <a:bodyPr wrap="square" lIns="0" tIns="0" rIns="0" bIns="0" rtlCol="0" anchor="ctr"/>
          <a:lstStyle/>
          <a:p>
            <a:pPr marL="0" indent="0">
              <a:buNone/>
            </a:pPr>
            <a:r>
              <a:rPr lang="en-US" sz="1150" dirty="0">
                <a:solidFill>
                  <a:srgbClr val="6E1423"/>
                </a:solidFill>
                <a:latin typeface="Calibri" panose="020F0502020204030204" pitchFamily="34" charset="0"/>
                <a:ea typeface="Calibri" panose="020F0502020204030204" pitchFamily="34" charset="-122"/>
                <a:cs typeface="Calibri" panose="020F0502020204030204" pitchFamily="34" charset="-120"/>
              </a:rPr>
              <a:t>Cloud Build</a:t>
            </a:r>
            <a:endParaRPr lang="en-US" sz="1150" dirty="0"/>
          </a:p>
        </p:txBody>
      </p:sp>
      <p:sp>
        <p:nvSpPr>
          <p:cNvPr id="37" name="Shape 27"/>
          <p:cNvSpPr/>
          <p:nvPr/>
        </p:nvSpPr>
        <p:spPr>
          <a:xfrm>
            <a:off x="731520" y="5266944"/>
            <a:ext cx="310896" cy="310896"/>
          </a:xfrm>
          <a:prstGeom prst="ellipse">
            <a:avLst/>
          </a:prstGeom>
          <a:solidFill>
            <a:srgbClr val="A13D4C"/>
          </a:solidFill>
        </p:spPr>
      </p:sp>
      <p:pic>
        <p:nvPicPr>
          <p:cNvPr id="38" name="Image 8" descr="/home/claude/work/icons/boxes.png"/>
          <p:cNvPicPr>
            <a:picLocks noChangeAspect="1"/>
          </p:cNvPicPr>
          <p:nvPr/>
        </p:nvPicPr>
        <p:blipFill>
          <a:blip r:embed="rId11"/>
          <a:stretch>
            <a:fillRect/>
          </a:stretch>
        </p:blipFill>
        <p:spPr>
          <a:xfrm>
            <a:off x="778154" y="5313578"/>
            <a:ext cx="217627" cy="217627"/>
          </a:xfrm>
          <a:prstGeom prst="rect">
            <a:avLst/>
          </a:prstGeom>
        </p:spPr>
      </p:pic>
      <p:sp>
        <p:nvSpPr>
          <p:cNvPr id="39" name="Text 28"/>
          <p:cNvSpPr/>
          <p:nvPr/>
        </p:nvSpPr>
        <p:spPr>
          <a:xfrm>
            <a:off x="1124712" y="5239512"/>
            <a:ext cx="4434840" cy="365760"/>
          </a:xfrm>
          <a:prstGeom prst="rect">
            <a:avLst/>
          </a:prstGeom>
          <a:noFill/>
        </p:spPr>
        <p:txBody>
          <a:bodyPr wrap="square" lIns="0" tIns="0" rIns="0" bIns="0" rtlCol="0" anchor="ctr"/>
          <a:lstStyle/>
          <a:p>
            <a:pPr marL="0" indent="0">
              <a:buNone/>
            </a:pPr>
            <a:r>
              <a:rPr lang="en-US" sz="1150" dirty="0">
                <a:solidFill>
                  <a:srgbClr val="6E1423"/>
                </a:solidFill>
                <a:latin typeface="Calibri" panose="020F0502020204030204" pitchFamily="34" charset="0"/>
                <a:ea typeface="Calibri" panose="020F0502020204030204" pitchFamily="34" charset="-122"/>
                <a:cs typeface="Calibri" panose="020F0502020204030204" pitchFamily="34" charset="-120"/>
              </a:rPr>
              <a:t>Artifact Registry</a:t>
            </a:r>
            <a:endParaRPr lang="en-US" sz="1150" dirty="0"/>
          </a:p>
        </p:txBody>
      </p:sp>
      <p:sp>
        <p:nvSpPr>
          <p:cNvPr id="40" name="Shape 29"/>
          <p:cNvSpPr/>
          <p:nvPr/>
        </p:nvSpPr>
        <p:spPr>
          <a:xfrm>
            <a:off x="731520" y="5650992"/>
            <a:ext cx="310896" cy="310896"/>
          </a:xfrm>
          <a:prstGeom prst="ellipse">
            <a:avLst/>
          </a:prstGeom>
          <a:solidFill>
            <a:srgbClr val="A13D4C"/>
          </a:solidFill>
        </p:spPr>
      </p:sp>
      <p:pic>
        <p:nvPicPr>
          <p:cNvPr id="41" name="Image 9" descr="/home/claude/work/icons/rocket.png"/>
          <p:cNvPicPr>
            <a:picLocks noChangeAspect="1"/>
          </p:cNvPicPr>
          <p:nvPr/>
        </p:nvPicPr>
        <p:blipFill>
          <a:blip r:embed="rId12"/>
          <a:stretch>
            <a:fillRect/>
          </a:stretch>
        </p:blipFill>
        <p:spPr>
          <a:xfrm>
            <a:off x="778154" y="5697626"/>
            <a:ext cx="217627" cy="217627"/>
          </a:xfrm>
          <a:prstGeom prst="rect">
            <a:avLst/>
          </a:prstGeom>
        </p:spPr>
      </p:pic>
      <p:sp>
        <p:nvSpPr>
          <p:cNvPr id="42" name="Text 30"/>
          <p:cNvSpPr/>
          <p:nvPr/>
        </p:nvSpPr>
        <p:spPr>
          <a:xfrm>
            <a:off x="1124712" y="5623560"/>
            <a:ext cx="4434840" cy="365760"/>
          </a:xfrm>
          <a:prstGeom prst="rect">
            <a:avLst/>
          </a:prstGeom>
          <a:noFill/>
        </p:spPr>
        <p:txBody>
          <a:bodyPr wrap="square" lIns="0" tIns="0" rIns="0" bIns="0" rtlCol="0" anchor="ctr"/>
          <a:lstStyle/>
          <a:p>
            <a:pPr marL="0" indent="0">
              <a:buNone/>
            </a:pPr>
            <a:r>
              <a:rPr lang="en-US" sz="1150" dirty="0">
                <a:solidFill>
                  <a:srgbClr val="6E1423"/>
                </a:solidFill>
                <a:latin typeface="Calibri" panose="020F0502020204030204" pitchFamily="34" charset="0"/>
                <a:ea typeface="Calibri" panose="020F0502020204030204" pitchFamily="34" charset="-122"/>
                <a:cs typeface="Calibri" panose="020F0502020204030204" pitchFamily="34" charset="-120"/>
              </a:rPr>
              <a:t>Cloud Run</a:t>
            </a:r>
            <a:endParaRPr lang="en-US" sz="1150" dirty="0"/>
          </a:p>
        </p:txBody>
      </p:sp>
      <p:sp>
        <p:nvSpPr>
          <p:cNvPr id="43" name="Shape 31"/>
          <p:cNvSpPr/>
          <p:nvPr/>
        </p:nvSpPr>
        <p:spPr>
          <a:xfrm>
            <a:off x="731520" y="6035040"/>
            <a:ext cx="310896" cy="310896"/>
          </a:xfrm>
          <a:prstGeom prst="ellipse">
            <a:avLst/>
          </a:prstGeom>
          <a:solidFill>
            <a:srgbClr val="A13D4C"/>
          </a:solidFill>
        </p:spPr>
      </p:sp>
      <p:pic>
        <p:nvPicPr>
          <p:cNvPr id="44" name="Image 10" descr="/home/claude/work/icons/bolt.png"/>
          <p:cNvPicPr>
            <a:picLocks noChangeAspect="1"/>
          </p:cNvPicPr>
          <p:nvPr/>
        </p:nvPicPr>
        <p:blipFill>
          <a:blip r:embed="rId13"/>
          <a:stretch>
            <a:fillRect/>
          </a:stretch>
        </p:blipFill>
        <p:spPr>
          <a:xfrm>
            <a:off x="778154" y="6081674"/>
            <a:ext cx="217627" cy="217627"/>
          </a:xfrm>
          <a:prstGeom prst="rect">
            <a:avLst/>
          </a:prstGeom>
        </p:spPr>
      </p:pic>
      <p:sp>
        <p:nvSpPr>
          <p:cNvPr id="45" name="Text 32"/>
          <p:cNvSpPr/>
          <p:nvPr/>
        </p:nvSpPr>
        <p:spPr>
          <a:xfrm>
            <a:off x="1124712" y="6007608"/>
            <a:ext cx="4434840" cy="365760"/>
          </a:xfrm>
          <a:prstGeom prst="rect">
            <a:avLst/>
          </a:prstGeom>
          <a:noFill/>
        </p:spPr>
        <p:txBody>
          <a:bodyPr wrap="square" lIns="0" tIns="0" rIns="0" bIns="0" rtlCol="0" anchor="ctr"/>
          <a:lstStyle/>
          <a:p>
            <a:pPr marL="0" indent="0">
              <a:buNone/>
            </a:pPr>
            <a:r>
              <a:rPr lang="en-US" sz="1150" dirty="0">
                <a:solidFill>
                  <a:srgbClr val="6E1423"/>
                </a:solidFill>
                <a:latin typeface="Calibri" panose="020F0502020204030204" pitchFamily="34" charset="0"/>
                <a:ea typeface="Calibri" panose="020F0502020204030204" pitchFamily="34" charset="-122"/>
                <a:cs typeface="Calibri" panose="020F0502020204030204" pitchFamily="34" charset="-120"/>
              </a:rPr>
              <a:t>Cloud Functions</a:t>
            </a:r>
            <a:endParaRPr lang="en-US" sz="1150" dirty="0"/>
          </a:p>
        </p:txBody>
      </p:sp>
      <p:sp>
        <p:nvSpPr>
          <p:cNvPr id="46" name="Shape 33"/>
          <p:cNvSpPr/>
          <p:nvPr/>
        </p:nvSpPr>
        <p:spPr>
          <a:xfrm>
            <a:off x="5998464" y="4334256"/>
            <a:ext cx="5349240" cy="2039112"/>
          </a:xfrm>
          <a:prstGeom prst="roundRect">
            <a:avLst>
              <a:gd name="adj" fmla="val 2691"/>
            </a:avLst>
          </a:prstGeom>
          <a:solidFill>
            <a:srgbClr val="F3E6E1"/>
          </a:solidFill>
          <a:effectLst>
            <a:outerShdw dir="6" algn="bl" rotWithShape="0">
              <a:srgbClr val="3A1520">
                <a:alpha val="1"/>
              </a:srgbClr>
            </a:outerShdw>
          </a:effectLst>
        </p:spPr>
      </p:sp>
      <p:sp>
        <p:nvSpPr>
          <p:cNvPr id="47" name="Text 34"/>
          <p:cNvSpPr/>
          <p:nvPr/>
        </p:nvSpPr>
        <p:spPr>
          <a:xfrm>
            <a:off x="6227064" y="4471416"/>
            <a:ext cx="4892040" cy="320040"/>
          </a:xfrm>
          <a:prstGeom prst="rect">
            <a:avLst/>
          </a:prstGeom>
          <a:noFill/>
        </p:spPr>
        <p:txBody>
          <a:bodyPr wrap="square" lIns="0" tIns="0" rIns="0" bIns="0" rtlCol="0" anchor="ctr"/>
          <a:lstStyle/>
          <a:p>
            <a:pPr marL="0" indent="0">
              <a:buNone/>
            </a:pPr>
            <a:r>
              <a:rPr lang="en-US" sz="1400" b="1" dirty="0">
                <a:solidFill>
                  <a:srgbClr val="6E1423"/>
                </a:solidFill>
                <a:latin typeface="Cambria" panose="02040503050406030204" pitchFamily="34" charset="0"/>
                <a:ea typeface="Cambria" panose="02040503050406030204" pitchFamily="34" charset="-122"/>
                <a:cs typeface="Cambria" panose="02040503050406030204" pitchFamily="34" charset="-120"/>
              </a:rPr>
              <a:t>Operations</a:t>
            </a:r>
            <a:endParaRPr lang="en-US" sz="1400" dirty="0"/>
          </a:p>
        </p:txBody>
      </p:sp>
      <p:sp>
        <p:nvSpPr>
          <p:cNvPr id="48" name="Shape 35"/>
          <p:cNvSpPr/>
          <p:nvPr/>
        </p:nvSpPr>
        <p:spPr>
          <a:xfrm>
            <a:off x="6227064" y="4882896"/>
            <a:ext cx="310896" cy="310896"/>
          </a:xfrm>
          <a:prstGeom prst="ellipse">
            <a:avLst/>
          </a:prstGeom>
          <a:solidFill>
            <a:srgbClr val="A13D4C"/>
          </a:solidFill>
        </p:spPr>
      </p:sp>
      <p:pic>
        <p:nvPicPr>
          <p:cNvPr id="49" name="Image 11" descr="/home/claude/work/icons/clipboardcheck.png"/>
          <p:cNvPicPr>
            <a:picLocks noChangeAspect="1"/>
          </p:cNvPicPr>
          <p:nvPr/>
        </p:nvPicPr>
        <p:blipFill>
          <a:blip r:embed="rId14"/>
          <a:stretch>
            <a:fillRect/>
          </a:stretch>
        </p:blipFill>
        <p:spPr>
          <a:xfrm>
            <a:off x="6273698" y="4929530"/>
            <a:ext cx="217627" cy="217627"/>
          </a:xfrm>
          <a:prstGeom prst="rect">
            <a:avLst/>
          </a:prstGeom>
        </p:spPr>
      </p:pic>
      <p:sp>
        <p:nvSpPr>
          <p:cNvPr id="50" name="Text 36"/>
          <p:cNvSpPr/>
          <p:nvPr/>
        </p:nvSpPr>
        <p:spPr>
          <a:xfrm>
            <a:off x="6620256" y="4855464"/>
            <a:ext cx="4434840" cy="365760"/>
          </a:xfrm>
          <a:prstGeom prst="rect">
            <a:avLst/>
          </a:prstGeom>
          <a:noFill/>
        </p:spPr>
        <p:txBody>
          <a:bodyPr wrap="square" lIns="0" tIns="0" rIns="0" bIns="0" rtlCol="0" anchor="ctr"/>
          <a:lstStyle/>
          <a:p>
            <a:pPr marL="0" indent="0">
              <a:buNone/>
            </a:pPr>
            <a:r>
              <a:rPr lang="en-US" sz="1150" dirty="0">
                <a:solidFill>
                  <a:srgbClr val="6E1423"/>
                </a:solidFill>
                <a:latin typeface="Calibri" panose="020F0502020204030204" pitchFamily="34" charset="0"/>
                <a:ea typeface="Calibri" panose="020F0502020204030204" pitchFamily="34" charset="-122"/>
                <a:cs typeface="Calibri" panose="020F0502020204030204" pitchFamily="34" charset="-120"/>
              </a:rPr>
              <a:t>Cloud Logging</a:t>
            </a:r>
            <a:endParaRPr lang="en-US" sz="1150" dirty="0"/>
          </a:p>
        </p:txBody>
      </p:sp>
      <p:sp>
        <p:nvSpPr>
          <p:cNvPr id="51" name="Shape 37"/>
          <p:cNvSpPr/>
          <p:nvPr/>
        </p:nvSpPr>
        <p:spPr>
          <a:xfrm>
            <a:off x="6227064" y="5266944"/>
            <a:ext cx="310896" cy="310896"/>
          </a:xfrm>
          <a:prstGeom prst="ellipse">
            <a:avLst/>
          </a:prstGeom>
          <a:solidFill>
            <a:srgbClr val="A13D4C"/>
          </a:solidFill>
        </p:spPr>
      </p:sp>
      <p:pic>
        <p:nvPicPr>
          <p:cNvPr id="52" name="Image 12" descr="/home/claude/work/icons/chartline.png"/>
          <p:cNvPicPr>
            <a:picLocks noChangeAspect="1"/>
          </p:cNvPicPr>
          <p:nvPr/>
        </p:nvPicPr>
        <p:blipFill>
          <a:blip r:embed="rId15"/>
          <a:stretch>
            <a:fillRect/>
          </a:stretch>
        </p:blipFill>
        <p:spPr>
          <a:xfrm>
            <a:off x="6273698" y="5313578"/>
            <a:ext cx="217627" cy="217627"/>
          </a:xfrm>
          <a:prstGeom prst="rect">
            <a:avLst/>
          </a:prstGeom>
        </p:spPr>
      </p:pic>
      <p:sp>
        <p:nvSpPr>
          <p:cNvPr id="53" name="Text 38"/>
          <p:cNvSpPr/>
          <p:nvPr/>
        </p:nvSpPr>
        <p:spPr>
          <a:xfrm>
            <a:off x="6620256" y="5239512"/>
            <a:ext cx="4434840" cy="365760"/>
          </a:xfrm>
          <a:prstGeom prst="rect">
            <a:avLst/>
          </a:prstGeom>
          <a:noFill/>
        </p:spPr>
        <p:txBody>
          <a:bodyPr wrap="square" lIns="0" tIns="0" rIns="0" bIns="0" rtlCol="0" anchor="ctr"/>
          <a:lstStyle/>
          <a:p>
            <a:pPr marL="0" indent="0">
              <a:buNone/>
            </a:pPr>
            <a:r>
              <a:rPr lang="en-US" sz="1150" dirty="0">
                <a:solidFill>
                  <a:srgbClr val="6E1423"/>
                </a:solidFill>
                <a:latin typeface="Calibri" panose="020F0502020204030204" pitchFamily="34" charset="0"/>
                <a:ea typeface="Calibri" panose="020F0502020204030204" pitchFamily="34" charset="-122"/>
                <a:cs typeface="Calibri" panose="020F0502020204030204" pitchFamily="34" charset="-120"/>
              </a:rPr>
              <a:t>Cloud Monitoring</a:t>
            </a:r>
            <a:endParaRPr lang="en-US" sz="1150" dirty="0"/>
          </a:p>
        </p:txBody>
      </p:sp>
      <p:sp>
        <p:nvSpPr>
          <p:cNvPr id="54" name="Shape 39"/>
          <p:cNvSpPr/>
          <p:nvPr/>
        </p:nvSpPr>
        <p:spPr>
          <a:xfrm>
            <a:off x="6227064" y="5650992"/>
            <a:ext cx="310896" cy="310896"/>
          </a:xfrm>
          <a:prstGeom prst="ellipse">
            <a:avLst/>
          </a:prstGeom>
          <a:solidFill>
            <a:srgbClr val="A13D4C"/>
          </a:solidFill>
        </p:spPr>
      </p:sp>
      <p:pic>
        <p:nvPicPr>
          <p:cNvPr id="55" name="Image 13" descr="/home/claude/work/icons/clock.png"/>
          <p:cNvPicPr>
            <a:picLocks noChangeAspect="1"/>
          </p:cNvPicPr>
          <p:nvPr/>
        </p:nvPicPr>
        <p:blipFill>
          <a:blip r:embed="rId16"/>
          <a:stretch>
            <a:fillRect/>
          </a:stretch>
        </p:blipFill>
        <p:spPr>
          <a:xfrm>
            <a:off x="6273698" y="5697626"/>
            <a:ext cx="217627" cy="217627"/>
          </a:xfrm>
          <a:prstGeom prst="rect">
            <a:avLst/>
          </a:prstGeom>
        </p:spPr>
      </p:pic>
      <p:sp>
        <p:nvSpPr>
          <p:cNvPr id="56" name="Text 40"/>
          <p:cNvSpPr/>
          <p:nvPr/>
        </p:nvSpPr>
        <p:spPr>
          <a:xfrm>
            <a:off x="6620256" y="5623560"/>
            <a:ext cx="4434840" cy="365760"/>
          </a:xfrm>
          <a:prstGeom prst="rect">
            <a:avLst/>
          </a:prstGeom>
          <a:noFill/>
        </p:spPr>
        <p:txBody>
          <a:bodyPr wrap="square" lIns="0" tIns="0" rIns="0" bIns="0" rtlCol="0" anchor="ctr"/>
          <a:lstStyle/>
          <a:p>
            <a:pPr marL="0" indent="0">
              <a:buNone/>
            </a:pPr>
            <a:r>
              <a:rPr lang="en-US" sz="1150" dirty="0">
                <a:solidFill>
                  <a:srgbClr val="6E1423"/>
                </a:solidFill>
                <a:latin typeface="Calibri" panose="020F0502020204030204" pitchFamily="34" charset="0"/>
                <a:ea typeface="Calibri" panose="020F0502020204030204" pitchFamily="34" charset="-122"/>
                <a:cs typeface="Calibri" panose="020F0502020204030204" pitchFamily="34" charset="-120"/>
              </a:rPr>
              <a:t>Cloud Scheduler</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3E7"/>
        </a:solidFill>
        <a:effectLst/>
      </p:bgPr>
    </p:bg>
    <p:spTree>
      <p:nvGrpSpPr>
        <p:cNvPr id="1" name=""/>
        <p:cNvGrpSpPr/>
        <p:nvPr/>
      </p:nvGrpSpPr>
      <p:grpSpPr>
        <a:xfrm>
          <a:off x="0" y="0"/>
          <a:ext cx="0" cy="0"/>
          <a:chOff x="0" y="0"/>
          <a:chExt cx="0" cy="0"/>
        </a:xfrm>
      </p:grpSpPr>
      <p:sp>
        <p:nvSpPr>
          <p:cNvPr id="2" name="Text 0"/>
          <p:cNvSpPr/>
          <p:nvPr/>
        </p:nvSpPr>
        <p:spPr>
          <a:xfrm>
            <a:off x="502920" y="384048"/>
            <a:ext cx="9601200" cy="274320"/>
          </a:xfrm>
          <a:prstGeom prst="rect">
            <a:avLst/>
          </a:prstGeom>
          <a:noFill/>
        </p:spPr>
        <p:txBody>
          <a:bodyPr wrap="square" lIns="0" tIns="0" rIns="0" bIns="0" rtlCol="0" anchor="ctr"/>
          <a:lstStyle/>
          <a:p>
            <a:pPr marL="0" indent="0">
              <a:buNone/>
            </a:pPr>
            <a:r>
              <a:rPr lang="en-US" sz="1200" b="1" kern="0" spc="200" dirty="0">
                <a:solidFill>
                  <a:srgbClr val="A13D4C"/>
                </a:solidFill>
                <a:latin typeface="Calibri" panose="020F0502020204030204" pitchFamily="34" charset="0"/>
                <a:ea typeface="Calibri" panose="020F0502020204030204" pitchFamily="34" charset="-122"/>
                <a:cs typeface="Calibri" panose="020F0502020204030204" pitchFamily="34" charset="-120"/>
              </a:rPr>
              <a:t>ENTERPRISE SECURITY</a:t>
            </a:r>
            <a:endParaRPr lang="en-US" sz="1200" dirty="0"/>
          </a:p>
        </p:txBody>
      </p:sp>
      <p:sp>
        <p:nvSpPr>
          <p:cNvPr id="3" name="Text 1"/>
          <p:cNvSpPr/>
          <p:nvPr/>
        </p:nvSpPr>
        <p:spPr>
          <a:xfrm>
            <a:off x="502920" y="658368"/>
            <a:ext cx="10515600" cy="566928"/>
          </a:xfrm>
          <a:prstGeom prst="rect">
            <a:avLst/>
          </a:prstGeom>
          <a:noFill/>
        </p:spPr>
        <p:txBody>
          <a:bodyPr wrap="square" lIns="0" tIns="0" rIns="0" bIns="0" rtlCol="0" anchor="ctr"/>
          <a:lstStyle/>
          <a:p>
            <a:pPr marL="0" indent="0">
              <a:buNone/>
            </a:pPr>
            <a:r>
              <a:rPr lang="en-US" sz="2700" b="1" dirty="0">
                <a:solidFill>
                  <a:srgbClr val="6E1423"/>
                </a:solidFill>
                <a:latin typeface="Cambria" panose="02040503050406030204" pitchFamily="34" charset="0"/>
                <a:ea typeface="Cambria" panose="02040503050406030204" pitchFamily="34" charset="-122"/>
                <a:cs typeface="Cambria" panose="02040503050406030204" pitchFamily="34" charset="-120"/>
              </a:rPr>
              <a:t>Service Account Impersonation</a:t>
            </a:r>
            <a:endParaRPr lang="en-US" sz="2700" dirty="0"/>
          </a:p>
        </p:txBody>
      </p:sp>
      <p:sp>
        <p:nvSpPr>
          <p:cNvPr id="4" name="Text 2"/>
          <p:cNvSpPr/>
          <p:nvPr/>
        </p:nvSpPr>
        <p:spPr>
          <a:xfrm>
            <a:off x="502920" y="6492240"/>
            <a:ext cx="4572000" cy="256032"/>
          </a:xfrm>
          <a:prstGeom prst="rect">
            <a:avLst/>
          </a:prstGeom>
          <a:noFill/>
        </p:spPr>
        <p:txBody>
          <a:bodyPr wrap="square" lIns="0" tIns="0" rIns="0" bIns="0" rtlCol="0" anchor="ctr"/>
          <a:lstStyle/>
          <a:p>
            <a:pPr marL="0" indent="0">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Ford Internship Experience</a:t>
            </a:r>
            <a:endParaRPr lang="en-US" sz="1000" dirty="0"/>
          </a:p>
        </p:txBody>
      </p:sp>
      <p:sp>
        <p:nvSpPr>
          <p:cNvPr id="5" name="Text 3"/>
          <p:cNvSpPr/>
          <p:nvPr/>
        </p:nvSpPr>
        <p:spPr>
          <a:xfrm>
            <a:off x="10725912" y="6492240"/>
            <a:ext cx="457200" cy="256032"/>
          </a:xfrm>
          <a:prstGeom prst="rect">
            <a:avLst/>
          </a:prstGeom>
          <a:noFill/>
        </p:spPr>
        <p:txBody>
          <a:bodyPr wrap="square" lIns="0" tIns="0" rIns="0" bIns="0" rtlCol="0" anchor="ctr"/>
          <a:lstStyle/>
          <a:p>
            <a:pPr marL="0" indent="0" algn="r">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05</a:t>
            </a:r>
            <a:endParaRPr lang="en-US" sz="1000" dirty="0"/>
          </a:p>
        </p:txBody>
      </p:sp>
      <p:sp>
        <p:nvSpPr>
          <p:cNvPr id="6" name="Text 4"/>
          <p:cNvSpPr/>
          <p:nvPr/>
        </p:nvSpPr>
        <p:spPr>
          <a:xfrm>
            <a:off x="502920" y="1298448"/>
            <a:ext cx="10789920" cy="548640"/>
          </a:xfrm>
          <a:prstGeom prst="rect">
            <a:avLst/>
          </a:prstGeom>
          <a:noFill/>
        </p:spPr>
        <p:txBody>
          <a:bodyPr wrap="square" lIns="0" tIns="0" rIns="0" bIns="0" rtlCol="0" anchor="t"/>
          <a:lstStyle/>
          <a:p>
            <a:pPr marL="0" indent="0">
              <a:lnSpc>
                <a:spcPct val="115000"/>
              </a:lnSpc>
              <a:buNone/>
            </a:pPr>
            <a:r>
              <a:rPr lang="en-US" sz="1200" dirty="0">
                <a:solidFill>
                  <a:srgbClr val="7D5A5E"/>
                </a:solidFill>
                <a:latin typeface="Calibri" panose="020F0502020204030204" pitchFamily="34" charset="0"/>
                <a:ea typeface="Calibri" panose="020F0502020204030204" pitchFamily="34" charset="-122"/>
                <a:cs typeface="Calibri" panose="020F0502020204030204" pitchFamily="34" charset="-120"/>
              </a:rPr>
              <a:t>I did not have direct, standing access to Google Cloud resources. Instead, access was granted through service account impersonation — a short-lived, auditable way to borrow permissions without holding them permanently.</a:t>
            </a:r>
            <a:endParaRPr lang="en-US" sz="1200" dirty="0"/>
          </a:p>
        </p:txBody>
      </p:sp>
      <p:sp>
        <p:nvSpPr>
          <p:cNvPr id="7" name="Text 5"/>
          <p:cNvSpPr/>
          <p:nvPr/>
        </p:nvSpPr>
        <p:spPr>
          <a:xfrm>
            <a:off x="502920" y="2057400"/>
            <a:ext cx="4572000" cy="256032"/>
          </a:xfrm>
          <a:prstGeom prst="rect">
            <a:avLst/>
          </a:prstGeom>
          <a:noFill/>
        </p:spPr>
        <p:txBody>
          <a:bodyPr wrap="square" lIns="0" tIns="0" rIns="0" bIns="0" rtlCol="0" anchor="ctr"/>
          <a:lstStyle/>
          <a:p>
            <a:pPr marL="0" indent="0">
              <a:buNone/>
            </a:pPr>
            <a:r>
              <a:rPr lang="en-US" sz="1050" b="1" kern="0" spc="100" dirty="0">
                <a:solidFill>
                  <a:srgbClr val="A13D4C"/>
                </a:solidFill>
                <a:latin typeface="Calibri" panose="020F0502020204030204" pitchFamily="34" charset="0"/>
                <a:ea typeface="Calibri" panose="020F0502020204030204" pitchFamily="34" charset="-122"/>
                <a:cs typeface="Calibri" panose="020F0502020204030204" pitchFamily="34" charset="-120"/>
              </a:rPr>
              <a:t>AUTHENTICATION FLOW</a:t>
            </a:r>
            <a:endParaRPr lang="en-US" sz="1050" dirty="0"/>
          </a:p>
        </p:txBody>
      </p:sp>
      <p:sp>
        <p:nvSpPr>
          <p:cNvPr id="8" name="Shape 6"/>
          <p:cNvSpPr/>
          <p:nvPr/>
        </p:nvSpPr>
        <p:spPr>
          <a:xfrm>
            <a:off x="502920" y="2377440"/>
            <a:ext cx="1920240" cy="868680"/>
          </a:xfrm>
          <a:prstGeom prst="roundRect">
            <a:avLst>
              <a:gd name="adj" fmla="val 5263"/>
            </a:avLst>
          </a:prstGeom>
          <a:solidFill>
            <a:srgbClr val="F3E6E1"/>
          </a:solidFill>
          <a:ln w="12700">
            <a:solidFill>
              <a:srgbClr val="E3C9CC"/>
            </a:solidFill>
            <a:prstDash val="solid"/>
          </a:ln>
        </p:spPr>
      </p:sp>
      <p:sp>
        <p:nvSpPr>
          <p:cNvPr id="9" name="Text 7"/>
          <p:cNvSpPr/>
          <p:nvPr/>
        </p:nvSpPr>
        <p:spPr>
          <a:xfrm>
            <a:off x="502920" y="2377440"/>
            <a:ext cx="1920240" cy="868680"/>
          </a:xfrm>
          <a:prstGeom prst="rect">
            <a:avLst/>
          </a:prstGeom>
          <a:noFill/>
        </p:spPr>
        <p:txBody>
          <a:bodyPr wrap="square" lIns="25400" tIns="25400" rIns="25400" bIns="25400" rtlCol="0" anchor="ctr"/>
          <a:lstStyle/>
          <a:p>
            <a:pPr marL="0" indent="0" algn="ctr">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Developer</a:t>
            </a:r>
            <a:endParaRPr lang="en-US" sz="1050" dirty="0"/>
          </a:p>
        </p:txBody>
      </p:sp>
      <p:sp>
        <p:nvSpPr>
          <p:cNvPr id="10" name="Text 8"/>
          <p:cNvSpPr/>
          <p:nvPr/>
        </p:nvSpPr>
        <p:spPr>
          <a:xfrm>
            <a:off x="2423160" y="2377440"/>
            <a:ext cx="292608" cy="868680"/>
          </a:xfrm>
          <a:prstGeom prst="rect">
            <a:avLst/>
          </a:prstGeom>
          <a:noFill/>
        </p:spPr>
        <p:txBody>
          <a:bodyPr wrap="square" lIns="0" tIns="0" rIns="0" bIns="0" rtlCol="0" anchor="ctr"/>
          <a:lstStyle/>
          <a:p>
            <a:pPr marL="0" indent="0" algn="ctr">
              <a:buNone/>
            </a:pPr>
            <a:r>
              <a:rPr lang="en-US" sz="1500" b="1" dirty="0">
                <a:solidFill>
                  <a:srgbClr val="A13D4C"/>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11" name="Shape 9"/>
          <p:cNvSpPr/>
          <p:nvPr/>
        </p:nvSpPr>
        <p:spPr>
          <a:xfrm>
            <a:off x="2715768" y="2377440"/>
            <a:ext cx="1920240" cy="868680"/>
          </a:xfrm>
          <a:prstGeom prst="roundRect">
            <a:avLst>
              <a:gd name="adj" fmla="val 5263"/>
            </a:avLst>
          </a:prstGeom>
          <a:solidFill>
            <a:srgbClr val="F3E6E1"/>
          </a:solidFill>
          <a:ln w="12700">
            <a:solidFill>
              <a:srgbClr val="E3C9CC"/>
            </a:solidFill>
            <a:prstDash val="solid"/>
          </a:ln>
        </p:spPr>
      </p:sp>
      <p:sp>
        <p:nvSpPr>
          <p:cNvPr id="12" name="Text 10"/>
          <p:cNvSpPr/>
          <p:nvPr/>
        </p:nvSpPr>
        <p:spPr>
          <a:xfrm>
            <a:off x="2715768" y="2377440"/>
            <a:ext cx="1920240" cy="868680"/>
          </a:xfrm>
          <a:prstGeom prst="rect">
            <a:avLst/>
          </a:prstGeom>
          <a:noFill/>
        </p:spPr>
        <p:txBody>
          <a:bodyPr wrap="square" lIns="25400" tIns="25400" rIns="25400" bIns="25400" rtlCol="0" anchor="ctr"/>
          <a:lstStyle/>
          <a:p>
            <a:pPr marL="0" indent="0" algn="ctr">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Authenti-</a:t>
            </a:r>
            <a:endParaRPr lang="en-US" sz="1050" dirty="0"/>
          </a:p>
          <a:p>
            <a:pPr marL="0" indent="0" algn="ctr">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cation</a:t>
            </a:r>
            <a:endParaRPr lang="en-US" sz="1050" dirty="0"/>
          </a:p>
        </p:txBody>
      </p:sp>
      <p:sp>
        <p:nvSpPr>
          <p:cNvPr id="13" name="Text 11"/>
          <p:cNvSpPr/>
          <p:nvPr/>
        </p:nvSpPr>
        <p:spPr>
          <a:xfrm>
            <a:off x="4636008" y="2377440"/>
            <a:ext cx="292608" cy="868680"/>
          </a:xfrm>
          <a:prstGeom prst="rect">
            <a:avLst/>
          </a:prstGeom>
          <a:noFill/>
        </p:spPr>
        <p:txBody>
          <a:bodyPr wrap="square" lIns="0" tIns="0" rIns="0" bIns="0" rtlCol="0" anchor="ctr"/>
          <a:lstStyle/>
          <a:p>
            <a:pPr marL="0" indent="0" algn="ctr">
              <a:buNone/>
            </a:pPr>
            <a:r>
              <a:rPr lang="en-US" sz="1500" b="1" dirty="0">
                <a:solidFill>
                  <a:srgbClr val="A13D4C"/>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14" name="Shape 12"/>
          <p:cNvSpPr/>
          <p:nvPr/>
        </p:nvSpPr>
        <p:spPr>
          <a:xfrm>
            <a:off x="4928616" y="2377440"/>
            <a:ext cx="1920240" cy="868680"/>
          </a:xfrm>
          <a:prstGeom prst="roundRect">
            <a:avLst>
              <a:gd name="adj" fmla="val 5263"/>
            </a:avLst>
          </a:prstGeom>
          <a:solidFill>
            <a:srgbClr val="F3E6E1"/>
          </a:solidFill>
          <a:ln w="12700">
            <a:solidFill>
              <a:srgbClr val="E3C9CC"/>
            </a:solidFill>
            <a:prstDash val="solid"/>
          </a:ln>
        </p:spPr>
      </p:sp>
      <p:sp>
        <p:nvSpPr>
          <p:cNvPr id="15" name="Text 13"/>
          <p:cNvSpPr/>
          <p:nvPr/>
        </p:nvSpPr>
        <p:spPr>
          <a:xfrm>
            <a:off x="4928616" y="2377440"/>
            <a:ext cx="1920240" cy="868680"/>
          </a:xfrm>
          <a:prstGeom prst="rect">
            <a:avLst/>
          </a:prstGeom>
          <a:noFill/>
        </p:spPr>
        <p:txBody>
          <a:bodyPr wrap="square" lIns="25400" tIns="25400" rIns="25400" bIns="25400" rtlCol="0" anchor="ctr"/>
          <a:lstStyle/>
          <a:p>
            <a:pPr marL="0" indent="0" algn="ctr">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Service</a:t>
            </a:r>
            <a:endParaRPr lang="en-US" sz="1050" dirty="0"/>
          </a:p>
          <a:p>
            <a:pPr marL="0" indent="0" algn="ctr">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Account</a:t>
            </a:r>
            <a:endParaRPr lang="en-US" sz="1050" dirty="0"/>
          </a:p>
        </p:txBody>
      </p:sp>
      <p:sp>
        <p:nvSpPr>
          <p:cNvPr id="16" name="Text 14"/>
          <p:cNvSpPr/>
          <p:nvPr/>
        </p:nvSpPr>
        <p:spPr>
          <a:xfrm>
            <a:off x="6848856" y="2377440"/>
            <a:ext cx="292608" cy="868680"/>
          </a:xfrm>
          <a:prstGeom prst="rect">
            <a:avLst/>
          </a:prstGeom>
          <a:noFill/>
        </p:spPr>
        <p:txBody>
          <a:bodyPr wrap="square" lIns="0" tIns="0" rIns="0" bIns="0" rtlCol="0" anchor="ctr"/>
          <a:lstStyle/>
          <a:p>
            <a:pPr marL="0" indent="0" algn="ctr">
              <a:buNone/>
            </a:pPr>
            <a:r>
              <a:rPr lang="en-US" sz="1500" b="1" dirty="0">
                <a:solidFill>
                  <a:srgbClr val="A13D4C"/>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17" name="Shape 15"/>
          <p:cNvSpPr/>
          <p:nvPr/>
        </p:nvSpPr>
        <p:spPr>
          <a:xfrm>
            <a:off x="7141464" y="2377440"/>
            <a:ext cx="1920240" cy="868680"/>
          </a:xfrm>
          <a:prstGeom prst="roundRect">
            <a:avLst>
              <a:gd name="adj" fmla="val 5263"/>
            </a:avLst>
          </a:prstGeom>
          <a:solidFill>
            <a:srgbClr val="F3E6E1"/>
          </a:solidFill>
          <a:ln w="12700">
            <a:solidFill>
              <a:srgbClr val="E3C9CC"/>
            </a:solidFill>
            <a:prstDash val="solid"/>
          </a:ln>
        </p:spPr>
      </p:sp>
      <p:sp>
        <p:nvSpPr>
          <p:cNvPr id="18" name="Text 16"/>
          <p:cNvSpPr/>
          <p:nvPr/>
        </p:nvSpPr>
        <p:spPr>
          <a:xfrm>
            <a:off x="7141464" y="2377440"/>
            <a:ext cx="1920240" cy="868680"/>
          </a:xfrm>
          <a:prstGeom prst="rect">
            <a:avLst/>
          </a:prstGeom>
          <a:noFill/>
        </p:spPr>
        <p:txBody>
          <a:bodyPr wrap="square" lIns="25400" tIns="25400" rIns="25400" bIns="25400" rtlCol="0" anchor="ctr"/>
          <a:lstStyle/>
          <a:p>
            <a:pPr marL="0" indent="0" algn="ctr">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Temporary</a:t>
            </a:r>
            <a:endParaRPr lang="en-US" sz="1050" dirty="0"/>
          </a:p>
          <a:p>
            <a:pPr marL="0" indent="0" algn="ctr">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Credentials</a:t>
            </a:r>
            <a:endParaRPr lang="en-US" sz="1050" dirty="0"/>
          </a:p>
        </p:txBody>
      </p:sp>
      <p:sp>
        <p:nvSpPr>
          <p:cNvPr id="19" name="Text 17"/>
          <p:cNvSpPr/>
          <p:nvPr/>
        </p:nvSpPr>
        <p:spPr>
          <a:xfrm>
            <a:off x="9061704" y="2377440"/>
            <a:ext cx="292608" cy="868680"/>
          </a:xfrm>
          <a:prstGeom prst="rect">
            <a:avLst/>
          </a:prstGeom>
          <a:noFill/>
        </p:spPr>
        <p:txBody>
          <a:bodyPr wrap="square" lIns="0" tIns="0" rIns="0" bIns="0" rtlCol="0" anchor="ctr"/>
          <a:lstStyle/>
          <a:p>
            <a:pPr marL="0" indent="0" algn="ctr">
              <a:buNone/>
            </a:pPr>
            <a:r>
              <a:rPr lang="en-US" sz="1500" b="1" dirty="0">
                <a:solidFill>
                  <a:srgbClr val="A13D4C"/>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20" name="Shape 18"/>
          <p:cNvSpPr/>
          <p:nvPr/>
        </p:nvSpPr>
        <p:spPr>
          <a:xfrm>
            <a:off x="9354312" y="2377440"/>
            <a:ext cx="1920240" cy="868680"/>
          </a:xfrm>
          <a:prstGeom prst="roundRect">
            <a:avLst>
              <a:gd name="adj" fmla="val 5263"/>
            </a:avLst>
          </a:prstGeom>
          <a:solidFill>
            <a:srgbClr val="F3E6E1"/>
          </a:solidFill>
          <a:ln w="12700">
            <a:solidFill>
              <a:srgbClr val="E3C9CC"/>
            </a:solidFill>
            <a:prstDash val="solid"/>
          </a:ln>
        </p:spPr>
      </p:sp>
      <p:sp>
        <p:nvSpPr>
          <p:cNvPr id="21" name="Text 19"/>
          <p:cNvSpPr/>
          <p:nvPr/>
        </p:nvSpPr>
        <p:spPr>
          <a:xfrm>
            <a:off x="9354312" y="2377440"/>
            <a:ext cx="1920240" cy="868680"/>
          </a:xfrm>
          <a:prstGeom prst="rect">
            <a:avLst/>
          </a:prstGeom>
          <a:noFill/>
        </p:spPr>
        <p:txBody>
          <a:bodyPr wrap="square" lIns="25400" tIns="25400" rIns="25400" bIns="25400" rtlCol="0" anchor="ctr"/>
          <a:lstStyle/>
          <a:p>
            <a:pPr marL="0" indent="0" algn="ctr">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Google</a:t>
            </a:r>
            <a:endParaRPr lang="en-US" sz="1050" dirty="0"/>
          </a:p>
          <a:p>
            <a:pPr marL="0" indent="0" algn="ctr">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Cloud</a:t>
            </a:r>
            <a:endParaRPr lang="en-US" sz="1050" dirty="0"/>
          </a:p>
        </p:txBody>
      </p:sp>
      <p:sp>
        <p:nvSpPr>
          <p:cNvPr id="22" name="Text 20"/>
          <p:cNvSpPr/>
          <p:nvPr/>
        </p:nvSpPr>
        <p:spPr>
          <a:xfrm>
            <a:off x="502920" y="3657600"/>
            <a:ext cx="4572000" cy="256032"/>
          </a:xfrm>
          <a:prstGeom prst="rect">
            <a:avLst/>
          </a:prstGeom>
          <a:noFill/>
        </p:spPr>
        <p:txBody>
          <a:bodyPr wrap="square" lIns="0" tIns="0" rIns="0" bIns="0" rtlCol="0" anchor="ctr"/>
          <a:lstStyle/>
          <a:p>
            <a:pPr marL="0" indent="0">
              <a:buNone/>
            </a:pPr>
            <a:r>
              <a:rPr lang="en-US" sz="1050" b="1" kern="0" spc="100" dirty="0">
                <a:solidFill>
                  <a:srgbClr val="A13D4C"/>
                </a:solidFill>
                <a:latin typeface="Calibri" panose="020F0502020204030204" pitchFamily="34" charset="0"/>
                <a:ea typeface="Calibri" panose="020F0502020204030204" pitchFamily="34" charset="-122"/>
                <a:cs typeface="Calibri" panose="020F0502020204030204" pitchFamily="34" charset="-120"/>
              </a:rPr>
              <a:t>KEY CONCEPTS</a:t>
            </a:r>
            <a:endParaRPr lang="en-US" sz="1050" dirty="0"/>
          </a:p>
        </p:txBody>
      </p:sp>
      <p:sp>
        <p:nvSpPr>
          <p:cNvPr id="23" name="Shape 21"/>
          <p:cNvSpPr/>
          <p:nvPr/>
        </p:nvSpPr>
        <p:spPr>
          <a:xfrm>
            <a:off x="502920" y="3977640"/>
            <a:ext cx="2606040" cy="777240"/>
          </a:xfrm>
          <a:prstGeom prst="roundRect">
            <a:avLst>
              <a:gd name="adj" fmla="val 7059"/>
            </a:avLst>
          </a:prstGeom>
          <a:solidFill>
            <a:srgbClr val="F3E6E1"/>
          </a:solidFill>
        </p:spPr>
      </p:sp>
      <p:sp>
        <p:nvSpPr>
          <p:cNvPr id="24" name="Shape 22"/>
          <p:cNvSpPr/>
          <p:nvPr/>
        </p:nvSpPr>
        <p:spPr>
          <a:xfrm>
            <a:off x="1623060" y="4059936"/>
            <a:ext cx="365760" cy="365760"/>
          </a:xfrm>
          <a:prstGeom prst="ellipse">
            <a:avLst/>
          </a:prstGeom>
          <a:solidFill>
            <a:srgbClr val="A13D4C"/>
          </a:solidFill>
        </p:spPr>
      </p:sp>
      <p:pic>
        <p:nvPicPr>
          <p:cNvPr id="25" name="Image 0" descr="/home/claude/work/icons/shield.png"/>
          <p:cNvPicPr>
            <a:picLocks noChangeAspect="1"/>
          </p:cNvPicPr>
          <p:nvPr/>
        </p:nvPicPr>
        <p:blipFill>
          <a:blip r:embed="rId3"/>
          <a:stretch>
            <a:fillRect/>
          </a:stretch>
        </p:blipFill>
        <p:spPr>
          <a:xfrm>
            <a:off x="1677924" y="4114800"/>
            <a:ext cx="256032" cy="256032"/>
          </a:xfrm>
          <a:prstGeom prst="rect">
            <a:avLst/>
          </a:prstGeom>
        </p:spPr>
      </p:pic>
      <p:sp>
        <p:nvSpPr>
          <p:cNvPr id="26" name="Text 23"/>
          <p:cNvSpPr/>
          <p:nvPr/>
        </p:nvSpPr>
        <p:spPr>
          <a:xfrm>
            <a:off x="502920" y="4443984"/>
            <a:ext cx="2606040" cy="274320"/>
          </a:xfrm>
          <a:prstGeom prst="rect">
            <a:avLst/>
          </a:prstGeom>
          <a:noFill/>
        </p:spPr>
        <p:txBody>
          <a:bodyPr wrap="square" lIns="0" tIns="0" rIns="0" bIns="0" rtlCol="0" anchor="ctr"/>
          <a:lstStyle/>
          <a:p>
            <a:pPr marL="0" indent="0" algn="ctr">
              <a:buNone/>
            </a:pPr>
            <a:r>
              <a:rPr lang="en-US" sz="1000" b="1" dirty="0">
                <a:solidFill>
                  <a:srgbClr val="6E1423"/>
                </a:solidFill>
                <a:latin typeface="Calibri" panose="020F0502020204030204" pitchFamily="34" charset="0"/>
                <a:ea typeface="Calibri" panose="020F0502020204030204" pitchFamily="34" charset="-122"/>
                <a:cs typeface="Calibri" panose="020F0502020204030204" pitchFamily="34" charset="-120"/>
              </a:rPr>
              <a:t>Least Privilege</a:t>
            </a:r>
            <a:endParaRPr lang="en-US" sz="1000" dirty="0"/>
          </a:p>
        </p:txBody>
      </p:sp>
      <p:sp>
        <p:nvSpPr>
          <p:cNvPr id="27" name="Shape 24"/>
          <p:cNvSpPr/>
          <p:nvPr/>
        </p:nvSpPr>
        <p:spPr>
          <a:xfrm>
            <a:off x="3246120" y="3977640"/>
            <a:ext cx="2606040" cy="777240"/>
          </a:xfrm>
          <a:prstGeom prst="roundRect">
            <a:avLst>
              <a:gd name="adj" fmla="val 7059"/>
            </a:avLst>
          </a:prstGeom>
          <a:solidFill>
            <a:srgbClr val="F3E6E1"/>
          </a:solidFill>
        </p:spPr>
      </p:sp>
      <p:sp>
        <p:nvSpPr>
          <p:cNvPr id="28" name="Shape 25"/>
          <p:cNvSpPr/>
          <p:nvPr/>
        </p:nvSpPr>
        <p:spPr>
          <a:xfrm>
            <a:off x="4366260" y="4059936"/>
            <a:ext cx="365760" cy="365760"/>
          </a:xfrm>
          <a:prstGeom prst="ellipse">
            <a:avLst/>
          </a:prstGeom>
          <a:solidFill>
            <a:srgbClr val="A13D4C"/>
          </a:solidFill>
        </p:spPr>
      </p:sp>
      <p:pic>
        <p:nvPicPr>
          <p:cNvPr id="29" name="Image 1" descr="/home/claude/work/icons/lock.png"/>
          <p:cNvPicPr>
            <a:picLocks noChangeAspect="1"/>
          </p:cNvPicPr>
          <p:nvPr/>
        </p:nvPicPr>
        <p:blipFill>
          <a:blip r:embed="rId4"/>
          <a:stretch>
            <a:fillRect/>
          </a:stretch>
        </p:blipFill>
        <p:spPr>
          <a:xfrm>
            <a:off x="4421124" y="4114800"/>
            <a:ext cx="256032" cy="256032"/>
          </a:xfrm>
          <a:prstGeom prst="rect">
            <a:avLst/>
          </a:prstGeom>
        </p:spPr>
      </p:pic>
      <p:sp>
        <p:nvSpPr>
          <p:cNvPr id="30" name="Text 26"/>
          <p:cNvSpPr/>
          <p:nvPr/>
        </p:nvSpPr>
        <p:spPr>
          <a:xfrm>
            <a:off x="3246120" y="4443984"/>
            <a:ext cx="2606040" cy="274320"/>
          </a:xfrm>
          <a:prstGeom prst="rect">
            <a:avLst/>
          </a:prstGeom>
          <a:noFill/>
        </p:spPr>
        <p:txBody>
          <a:bodyPr wrap="square" lIns="0" tIns="0" rIns="0" bIns="0" rtlCol="0" anchor="ctr"/>
          <a:lstStyle/>
          <a:p>
            <a:pPr marL="0" indent="0" algn="ctr">
              <a:buNone/>
            </a:pPr>
            <a:r>
              <a:rPr lang="en-US" sz="1000" b="1" dirty="0">
                <a:solidFill>
                  <a:srgbClr val="6E1423"/>
                </a:solidFill>
                <a:latin typeface="Calibri" panose="020F0502020204030204" pitchFamily="34" charset="0"/>
                <a:ea typeface="Calibri" panose="020F0502020204030204" pitchFamily="34" charset="-122"/>
                <a:cs typeface="Calibri" panose="020F0502020204030204" pitchFamily="34" charset="-120"/>
              </a:rPr>
              <a:t>IAM</a:t>
            </a:r>
            <a:endParaRPr lang="en-US" sz="1000" dirty="0"/>
          </a:p>
        </p:txBody>
      </p:sp>
      <p:sp>
        <p:nvSpPr>
          <p:cNvPr id="31" name="Shape 27"/>
          <p:cNvSpPr/>
          <p:nvPr/>
        </p:nvSpPr>
        <p:spPr>
          <a:xfrm>
            <a:off x="5989320" y="3977640"/>
            <a:ext cx="2606040" cy="777240"/>
          </a:xfrm>
          <a:prstGeom prst="roundRect">
            <a:avLst>
              <a:gd name="adj" fmla="val 7059"/>
            </a:avLst>
          </a:prstGeom>
          <a:solidFill>
            <a:srgbClr val="F3E6E1"/>
          </a:solidFill>
        </p:spPr>
      </p:sp>
      <p:sp>
        <p:nvSpPr>
          <p:cNvPr id="32" name="Shape 28"/>
          <p:cNvSpPr/>
          <p:nvPr/>
        </p:nvSpPr>
        <p:spPr>
          <a:xfrm>
            <a:off x="7109460" y="4059936"/>
            <a:ext cx="365760" cy="365760"/>
          </a:xfrm>
          <a:prstGeom prst="ellipse">
            <a:avLst/>
          </a:prstGeom>
          <a:solidFill>
            <a:srgbClr val="A13D4C"/>
          </a:solidFill>
        </p:spPr>
      </p:sp>
      <p:pic>
        <p:nvPicPr>
          <p:cNvPr id="33" name="Image 2" descr="/home/claude/work/icons/usersecret.png"/>
          <p:cNvPicPr>
            <a:picLocks noChangeAspect="1"/>
          </p:cNvPicPr>
          <p:nvPr/>
        </p:nvPicPr>
        <p:blipFill>
          <a:blip r:embed="rId5"/>
          <a:stretch>
            <a:fillRect/>
          </a:stretch>
        </p:blipFill>
        <p:spPr>
          <a:xfrm>
            <a:off x="7164324" y="4114800"/>
            <a:ext cx="256032" cy="256032"/>
          </a:xfrm>
          <a:prstGeom prst="rect">
            <a:avLst/>
          </a:prstGeom>
        </p:spPr>
      </p:pic>
      <p:sp>
        <p:nvSpPr>
          <p:cNvPr id="34" name="Text 29"/>
          <p:cNvSpPr/>
          <p:nvPr/>
        </p:nvSpPr>
        <p:spPr>
          <a:xfrm>
            <a:off x="5989320" y="4443984"/>
            <a:ext cx="2606040" cy="274320"/>
          </a:xfrm>
          <a:prstGeom prst="rect">
            <a:avLst/>
          </a:prstGeom>
          <a:noFill/>
        </p:spPr>
        <p:txBody>
          <a:bodyPr wrap="square" lIns="0" tIns="0" rIns="0" bIns="0" rtlCol="0" anchor="ctr"/>
          <a:lstStyle/>
          <a:p>
            <a:pPr marL="0" indent="0" algn="ctr">
              <a:buNone/>
            </a:pPr>
            <a:r>
              <a:rPr lang="en-US" sz="1000" b="1" dirty="0">
                <a:solidFill>
                  <a:srgbClr val="6E1423"/>
                </a:solidFill>
                <a:latin typeface="Calibri" panose="020F0502020204030204" pitchFamily="34" charset="0"/>
                <a:ea typeface="Calibri" panose="020F0502020204030204" pitchFamily="34" charset="-122"/>
                <a:cs typeface="Calibri" panose="020F0502020204030204" pitchFamily="34" charset="-120"/>
              </a:rPr>
              <a:t>Secure Authentication</a:t>
            </a:r>
            <a:endParaRPr lang="en-US" sz="1000" dirty="0"/>
          </a:p>
        </p:txBody>
      </p:sp>
      <p:sp>
        <p:nvSpPr>
          <p:cNvPr id="35" name="Shape 30"/>
          <p:cNvSpPr/>
          <p:nvPr/>
        </p:nvSpPr>
        <p:spPr>
          <a:xfrm>
            <a:off x="8732520" y="3977640"/>
            <a:ext cx="2606040" cy="777240"/>
          </a:xfrm>
          <a:prstGeom prst="roundRect">
            <a:avLst>
              <a:gd name="adj" fmla="val 7059"/>
            </a:avLst>
          </a:prstGeom>
          <a:solidFill>
            <a:srgbClr val="F3E6E1"/>
          </a:solidFill>
        </p:spPr>
      </p:sp>
      <p:sp>
        <p:nvSpPr>
          <p:cNvPr id="36" name="Shape 31"/>
          <p:cNvSpPr/>
          <p:nvPr/>
        </p:nvSpPr>
        <p:spPr>
          <a:xfrm>
            <a:off x="9852660" y="4059936"/>
            <a:ext cx="365760" cy="365760"/>
          </a:xfrm>
          <a:prstGeom prst="ellipse">
            <a:avLst/>
          </a:prstGeom>
          <a:solidFill>
            <a:srgbClr val="A13D4C"/>
          </a:solidFill>
        </p:spPr>
      </p:sp>
      <p:pic>
        <p:nvPicPr>
          <p:cNvPr id="37" name="Image 3" descr="/home/claude/work/icons/usershield.png"/>
          <p:cNvPicPr>
            <a:picLocks noChangeAspect="1"/>
          </p:cNvPicPr>
          <p:nvPr/>
        </p:nvPicPr>
        <p:blipFill>
          <a:blip r:embed="rId6"/>
          <a:stretch>
            <a:fillRect/>
          </a:stretch>
        </p:blipFill>
        <p:spPr>
          <a:xfrm>
            <a:off x="9907524" y="4114800"/>
            <a:ext cx="256032" cy="256032"/>
          </a:xfrm>
          <a:prstGeom prst="rect">
            <a:avLst/>
          </a:prstGeom>
        </p:spPr>
      </p:pic>
      <p:sp>
        <p:nvSpPr>
          <p:cNvPr id="38" name="Text 32"/>
          <p:cNvSpPr/>
          <p:nvPr/>
        </p:nvSpPr>
        <p:spPr>
          <a:xfrm>
            <a:off x="8732520" y="4443984"/>
            <a:ext cx="2606040" cy="274320"/>
          </a:xfrm>
          <a:prstGeom prst="rect">
            <a:avLst/>
          </a:prstGeom>
          <a:noFill/>
        </p:spPr>
        <p:txBody>
          <a:bodyPr wrap="square" lIns="0" tIns="0" rIns="0" bIns="0" rtlCol="0" anchor="ctr"/>
          <a:lstStyle/>
          <a:p>
            <a:pPr marL="0" indent="0" algn="ctr">
              <a:buNone/>
            </a:pPr>
            <a:r>
              <a:rPr lang="en-US" sz="1000" b="1" dirty="0">
                <a:solidFill>
                  <a:srgbClr val="6E1423"/>
                </a:solidFill>
                <a:latin typeface="Calibri" panose="020F0502020204030204" pitchFamily="34" charset="0"/>
                <a:ea typeface="Calibri" panose="020F0502020204030204" pitchFamily="34" charset="-122"/>
                <a:cs typeface="Calibri" panose="020F0502020204030204" pitchFamily="34" charset="-120"/>
              </a:rPr>
              <a:t>Access Control</a:t>
            </a:r>
            <a:endParaRPr lang="en-US" sz="1000" dirty="0"/>
          </a:p>
        </p:txBody>
      </p:sp>
      <p:sp>
        <p:nvSpPr>
          <p:cNvPr id="39" name="Text 33"/>
          <p:cNvSpPr/>
          <p:nvPr/>
        </p:nvSpPr>
        <p:spPr>
          <a:xfrm>
            <a:off x="502920" y="5074920"/>
            <a:ext cx="3657600" cy="256032"/>
          </a:xfrm>
          <a:prstGeom prst="rect">
            <a:avLst/>
          </a:prstGeom>
          <a:noFill/>
        </p:spPr>
        <p:txBody>
          <a:bodyPr wrap="square" lIns="0" tIns="0" rIns="0" bIns="0" rtlCol="0" anchor="ctr"/>
          <a:lstStyle/>
          <a:p>
            <a:pPr marL="0" indent="0">
              <a:buNone/>
            </a:pPr>
            <a:r>
              <a:rPr lang="en-US" sz="1050" b="1" kern="0" spc="100" dirty="0">
                <a:solidFill>
                  <a:srgbClr val="A13D4C"/>
                </a:solidFill>
                <a:latin typeface="Calibri" panose="020F0502020204030204" pitchFamily="34" charset="0"/>
                <a:ea typeface="Calibri" panose="020F0502020204030204" pitchFamily="34" charset="-122"/>
                <a:cs typeface="Calibri" panose="020F0502020204030204" pitchFamily="34" charset="-120"/>
              </a:rPr>
              <a:t>SCREENSHOT</a:t>
            </a:r>
            <a:endParaRPr lang="en-US" sz="1050" dirty="0"/>
          </a:p>
        </p:txBody>
      </p:sp>
      <p:sp>
        <p:nvSpPr>
          <p:cNvPr id="40" name="Shape 34"/>
          <p:cNvSpPr/>
          <p:nvPr/>
        </p:nvSpPr>
        <p:spPr>
          <a:xfrm>
            <a:off x="502920" y="5376672"/>
            <a:ext cx="5394960" cy="1051560"/>
          </a:xfrm>
          <a:prstGeom prst="roundRect">
            <a:avLst>
              <a:gd name="adj" fmla="val 4348"/>
            </a:avLst>
          </a:prstGeom>
          <a:solidFill>
            <a:srgbClr val="FFFFFF"/>
          </a:solidFill>
          <a:ln w="12700">
            <a:solidFill>
              <a:srgbClr val="C9A3A8"/>
            </a:solidFill>
            <a:prstDash val="dash"/>
          </a:ln>
        </p:spPr>
      </p:sp>
      <p:sp>
        <p:nvSpPr>
          <p:cNvPr id="41" name="Text 35"/>
          <p:cNvSpPr/>
          <p:nvPr/>
        </p:nvSpPr>
        <p:spPr>
          <a:xfrm>
            <a:off x="502920" y="5376672"/>
            <a:ext cx="5394960" cy="1051560"/>
          </a:xfrm>
          <a:prstGeom prst="rect">
            <a:avLst/>
          </a:prstGeom>
          <a:noFill/>
        </p:spPr>
        <p:txBody>
          <a:bodyPr wrap="square" lIns="0" tIns="0" rIns="0" bIns="0" rtlCol="0" anchor="ctr"/>
          <a:lstStyle/>
          <a:p>
            <a:pPr marL="0" indent="0" algn="ctr">
              <a:buNone/>
            </a:pPr>
            <a:r>
              <a:rPr lang="en-US" sz="1050" i="1" dirty="0">
                <a:solidFill>
                  <a:srgbClr val="7D5A5E"/>
                </a:solidFill>
                <a:latin typeface="Calibri" panose="020F0502020204030204" pitchFamily="34" charset="0"/>
                <a:ea typeface="Calibri" panose="020F0502020204030204" pitchFamily="34" charset="-122"/>
                <a:cs typeface="Calibri" panose="020F0502020204030204" pitchFamily="34" charset="-120"/>
              </a:rPr>
              <a:t>&lt;&lt; VS Code Screenshot &gt;&gt;</a:t>
            </a:r>
            <a:endParaRPr lang="en-US" sz="1050" dirty="0"/>
          </a:p>
        </p:txBody>
      </p:sp>
      <p:pic>
        <p:nvPicPr>
          <p:cNvPr id="42" name="Picture 41"/>
          <p:cNvPicPr>
            <a:picLocks noChangeAspect="1"/>
          </p:cNvPicPr>
          <p:nvPr/>
        </p:nvPicPr>
        <p:blipFill>
          <a:blip r:embed="rId7"/>
          <a:stretch>
            <a:fillRect/>
          </a:stretch>
        </p:blipFill>
        <p:spPr>
          <a:xfrm>
            <a:off x="440690" y="5330825"/>
            <a:ext cx="6572885" cy="10699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3E7"/>
        </a:solidFill>
        <a:effectLst/>
      </p:bgPr>
    </p:bg>
    <p:spTree>
      <p:nvGrpSpPr>
        <p:cNvPr id="1" name=""/>
        <p:cNvGrpSpPr/>
        <p:nvPr/>
      </p:nvGrpSpPr>
      <p:grpSpPr>
        <a:xfrm>
          <a:off x="0" y="0"/>
          <a:ext cx="0" cy="0"/>
          <a:chOff x="0" y="0"/>
          <a:chExt cx="0" cy="0"/>
        </a:xfrm>
      </p:grpSpPr>
      <p:sp>
        <p:nvSpPr>
          <p:cNvPr id="2" name="Text 0"/>
          <p:cNvSpPr/>
          <p:nvPr/>
        </p:nvSpPr>
        <p:spPr>
          <a:xfrm>
            <a:off x="502920" y="384048"/>
            <a:ext cx="9601200" cy="274320"/>
          </a:xfrm>
          <a:prstGeom prst="rect">
            <a:avLst/>
          </a:prstGeom>
          <a:noFill/>
        </p:spPr>
        <p:txBody>
          <a:bodyPr wrap="square" lIns="0" tIns="0" rIns="0" bIns="0" rtlCol="0" anchor="ctr"/>
          <a:lstStyle/>
          <a:p>
            <a:pPr marL="0" indent="0">
              <a:buNone/>
            </a:pPr>
            <a:r>
              <a:rPr lang="en-US" sz="1200" b="1" kern="0" spc="200" dirty="0">
                <a:solidFill>
                  <a:srgbClr val="A13D4C"/>
                </a:solidFill>
                <a:latin typeface="Calibri" panose="020F0502020204030204" pitchFamily="34" charset="0"/>
                <a:ea typeface="Calibri" panose="020F0502020204030204" pitchFamily="34" charset="-122"/>
                <a:cs typeface="Calibri" panose="020F0502020204030204" pitchFamily="34" charset="-120"/>
              </a:rPr>
              <a:t>DATA &amp; STORAGE</a:t>
            </a:r>
            <a:endParaRPr lang="en-US" sz="1200" dirty="0"/>
          </a:p>
        </p:txBody>
      </p:sp>
      <p:sp>
        <p:nvSpPr>
          <p:cNvPr id="3" name="Text 1"/>
          <p:cNvSpPr/>
          <p:nvPr/>
        </p:nvSpPr>
        <p:spPr>
          <a:xfrm>
            <a:off x="502920" y="658368"/>
            <a:ext cx="10515600" cy="566928"/>
          </a:xfrm>
          <a:prstGeom prst="rect">
            <a:avLst/>
          </a:prstGeom>
          <a:noFill/>
        </p:spPr>
        <p:txBody>
          <a:bodyPr wrap="square" lIns="0" tIns="0" rIns="0" bIns="0" rtlCol="0" anchor="ctr"/>
          <a:lstStyle/>
          <a:p>
            <a:pPr marL="0" indent="0">
              <a:buNone/>
            </a:pPr>
            <a:r>
              <a:rPr lang="en-US" sz="2700" b="1" dirty="0">
                <a:solidFill>
                  <a:srgbClr val="6E1423"/>
                </a:solidFill>
                <a:latin typeface="Cambria" panose="02040503050406030204" pitchFamily="34" charset="0"/>
                <a:ea typeface="Cambria" panose="02040503050406030204" pitchFamily="34" charset="-122"/>
                <a:cs typeface="Cambria" panose="02040503050406030204" pitchFamily="34" charset="-120"/>
              </a:rPr>
              <a:t>BigQuery &amp; Cloud Storage</a:t>
            </a:r>
            <a:endParaRPr lang="en-US" sz="2700" dirty="0"/>
          </a:p>
        </p:txBody>
      </p:sp>
      <p:sp>
        <p:nvSpPr>
          <p:cNvPr id="4" name="Text 2"/>
          <p:cNvSpPr/>
          <p:nvPr/>
        </p:nvSpPr>
        <p:spPr>
          <a:xfrm>
            <a:off x="502920" y="6492240"/>
            <a:ext cx="4572000" cy="256032"/>
          </a:xfrm>
          <a:prstGeom prst="rect">
            <a:avLst/>
          </a:prstGeom>
          <a:noFill/>
        </p:spPr>
        <p:txBody>
          <a:bodyPr wrap="square" lIns="0" tIns="0" rIns="0" bIns="0" rtlCol="0" anchor="ctr"/>
          <a:lstStyle/>
          <a:p>
            <a:pPr marL="0" indent="0">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Ford Internship Experience</a:t>
            </a:r>
            <a:endParaRPr lang="en-US" sz="1000" dirty="0"/>
          </a:p>
        </p:txBody>
      </p:sp>
      <p:sp>
        <p:nvSpPr>
          <p:cNvPr id="5" name="Text 3"/>
          <p:cNvSpPr/>
          <p:nvPr/>
        </p:nvSpPr>
        <p:spPr>
          <a:xfrm>
            <a:off x="10725912" y="6492240"/>
            <a:ext cx="457200" cy="256032"/>
          </a:xfrm>
          <a:prstGeom prst="rect">
            <a:avLst/>
          </a:prstGeom>
          <a:noFill/>
        </p:spPr>
        <p:txBody>
          <a:bodyPr wrap="square" lIns="0" tIns="0" rIns="0" bIns="0" rtlCol="0" anchor="ctr"/>
          <a:lstStyle/>
          <a:p>
            <a:pPr marL="0" indent="0" algn="r">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06</a:t>
            </a:r>
            <a:endParaRPr lang="en-US" sz="1000" dirty="0"/>
          </a:p>
        </p:txBody>
      </p:sp>
      <p:sp>
        <p:nvSpPr>
          <p:cNvPr id="6" name="Shape 4"/>
          <p:cNvSpPr/>
          <p:nvPr/>
        </p:nvSpPr>
        <p:spPr>
          <a:xfrm>
            <a:off x="502920" y="1371600"/>
            <a:ext cx="457200" cy="457200"/>
          </a:xfrm>
          <a:prstGeom prst="ellipse">
            <a:avLst/>
          </a:prstGeom>
          <a:solidFill>
            <a:srgbClr val="6E1423"/>
          </a:solidFill>
        </p:spPr>
      </p:sp>
      <p:pic>
        <p:nvPicPr>
          <p:cNvPr id="7" name="Image 0" descr="/home/claude/work/icons/database.png"/>
          <p:cNvPicPr>
            <a:picLocks noChangeAspect="1"/>
          </p:cNvPicPr>
          <p:nvPr/>
        </p:nvPicPr>
        <p:blipFill>
          <a:blip r:embed="rId3"/>
          <a:stretch>
            <a:fillRect/>
          </a:stretch>
        </p:blipFill>
        <p:spPr>
          <a:xfrm>
            <a:off x="571500" y="1440180"/>
            <a:ext cx="320040" cy="320040"/>
          </a:xfrm>
          <a:prstGeom prst="rect">
            <a:avLst/>
          </a:prstGeom>
        </p:spPr>
      </p:pic>
      <p:sp>
        <p:nvSpPr>
          <p:cNvPr id="8" name="Text 5"/>
          <p:cNvSpPr/>
          <p:nvPr/>
        </p:nvSpPr>
        <p:spPr>
          <a:xfrm>
            <a:off x="1097280" y="1371600"/>
            <a:ext cx="4754880" cy="457200"/>
          </a:xfrm>
          <a:prstGeom prst="rect">
            <a:avLst/>
          </a:prstGeom>
          <a:noFill/>
        </p:spPr>
        <p:txBody>
          <a:bodyPr wrap="square" lIns="0" tIns="0" rIns="0" bIns="0" rtlCol="0" anchor="ctr"/>
          <a:lstStyle/>
          <a:p>
            <a:pPr marL="0" indent="0">
              <a:buNone/>
            </a:pPr>
            <a:r>
              <a:rPr lang="en-US" sz="1800" b="1" dirty="0">
                <a:solidFill>
                  <a:srgbClr val="6E1423"/>
                </a:solidFill>
                <a:latin typeface="Cambria" panose="02040503050406030204" pitchFamily="34" charset="0"/>
                <a:ea typeface="Cambria" panose="02040503050406030204" pitchFamily="34" charset="-122"/>
                <a:cs typeface="Cambria" panose="02040503050406030204" pitchFamily="34" charset="-120"/>
              </a:rPr>
              <a:t>BigQuery</a:t>
            </a:r>
            <a:endParaRPr lang="en-US" sz="1800" dirty="0"/>
          </a:p>
        </p:txBody>
      </p:sp>
      <p:sp>
        <p:nvSpPr>
          <p:cNvPr id="9" name="Text 6"/>
          <p:cNvSpPr/>
          <p:nvPr/>
        </p:nvSpPr>
        <p:spPr>
          <a:xfrm>
            <a:off x="502920" y="1965960"/>
            <a:ext cx="5349240" cy="256032"/>
          </a:xfrm>
          <a:prstGeom prst="rect">
            <a:avLst/>
          </a:prstGeom>
          <a:noFill/>
        </p:spPr>
        <p:txBody>
          <a:bodyPr wrap="square" lIns="0" tIns="0" rIns="0" bIns="0" rtlCol="0" anchor="ctr"/>
          <a:lstStyle/>
          <a:p>
            <a:pPr marL="0" indent="0">
              <a:buNone/>
            </a:pPr>
            <a:r>
              <a:rPr lang="en-US" sz="1050" b="1" kern="0" spc="100" dirty="0">
                <a:solidFill>
                  <a:srgbClr val="A13D4C"/>
                </a:solidFill>
                <a:latin typeface="Calibri" panose="020F0502020204030204" pitchFamily="34" charset="0"/>
                <a:ea typeface="Calibri" panose="020F0502020204030204" pitchFamily="34" charset="-122"/>
                <a:cs typeface="Calibri" panose="020F0502020204030204" pitchFamily="34" charset="-120"/>
              </a:rPr>
              <a:t>CORE CONCEPTS</a:t>
            </a:r>
            <a:endParaRPr lang="en-US" sz="1050" dirty="0"/>
          </a:p>
        </p:txBody>
      </p:sp>
      <p:sp>
        <p:nvSpPr>
          <p:cNvPr id="10" name="Shape 7"/>
          <p:cNvSpPr/>
          <p:nvPr/>
        </p:nvSpPr>
        <p:spPr>
          <a:xfrm>
            <a:off x="502920" y="2267712"/>
            <a:ext cx="1691640" cy="384048"/>
          </a:xfrm>
          <a:prstGeom prst="roundRect">
            <a:avLst>
              <a:gd name="adj" fmla="val 19048"/>
            </a:avLst>
          </a:prstGeom>
          <a:solidFill>
            <a:srgbClr val="FFFFFF"/>
          </a:solidFill>
          <a:ln w="12700">
            <a:solidFill>
              <a:srgbClr val="E3C9CC"/>
            </a:solidFill>
            <a:prstDash val="solid"/>
          </a:ln>
        </p:spPr>
      </p:sp>
      <p:sp>
        <p:nvSpPr>
          <p:cNvPr id="11" name="Text 8"/>
          <p:cNvSpPr/>
          <p:nvPr/>
        </p:nvSpPr>
        <p:spPr>
          <a:xfrm>
            <a:off x="502920" y="2267712"/>
            <a:ext cx="1691640" cy="384048"/>
          </a:xfrm>
          <a:prstGeom prst="rect">
            <a:avLst/>
          </a:prstGeom>
          <a:noFill/>
        </p:spPr>
        <p:txBody>
          <a:bodyPr wrap="square" lIns="0" tIns="0" rIns="0" bIns="0" rtlCol="0" anchor="ctr"/>
          <a:lstStyle/>
          <a:p>
            <a:pPr marL="0" indent="0" algn="ctr">
              <a:buNone/>
            </a:pPr>
            <a:r>
              <a:rPr lang="en-US" sz="950" dirty="0">
                <a:solidFill>
                  <a:srgbClr val="6E1423"/>
                </a:solidFill>
                <a:latin typeface="Calibri" panose="020F0502020204030204" pitchFamily="34" charset="0"/>
                <a:ea typeface="Calibri" panose="020F0502020204030204" pitchFamily="34" charset="-122"/>
                <a:cs typeface="Calibri" panose="020F0502020204030204" pitchFamily="34" charset="-120"/>
              </a:rPr>
              <a:t>Dataset</a:t>
            </a:r>
            <a:endParaRPr lang="en-US" sz="950" dirty="0"/>
          </a:p>
        </p:txBody>
      </p:sp>
      <p:sp>
        <p:nvSpPr>
          <p:cNvPr id="12" name="Shape 9"/>
          <p:cNvSpPr/>
          <p:nvPr/>
        </p:nvSpPr>
        <p:spPr>
          <a:xfrm>
            <a:off x="2313432" y="2267712"/>
            <a:ext cx="1691640" cy="384048"/>
          </a:xfrm>
          <a:prstGeom prst="roundRect">
            <a:avLst>
              <a:gd name="adj" fmla="val 19048"/>
            </a:avLst>
          </a:prstGeom>
          <a:solidFill>
            <a:srgbClr val="FFFFFF"/>
          </a:solidFill>
          <a:ln w="12700">
            <a:solidFill>
              <a:srgbClr val="E3C9CC"/>
            </a:solidFill>
            <a:prstDash val="solid"/>
          </a:ln>
        </p:spPr>
      </p:sp>
      <p:sp>
        <p:nvSpPr>
          <p:cNvPr id="13" name="Text 10"/>
          <p:cNvSpPr/>
          <p:nvPr/>
        </p:nvSpPr>
        <p:spPr>
          <a:xfrm>
            <a:off x="2313432" y="2267712"/>
            <a:ext cx="1691640" cy="384048"/>
          </a:xfrm>
          <a:prstGeom prst="rect">
            <a:avLst/>
          </a:prstGeom>
          <a:noFill/>
        </p:spPr>
        <p:txBody>
          <a:bodyPr wrap="square" lIns="0" tIns="0" rIns="0" bIns="0" rtlCol="0" anchor="ctr"/>
          <a:lstStyle/>
          <a:p>
            <a:pPr marL="0" indent="0" algn="ctr">
              <a:buNone/>
            </a:pPr>
            <a:r>
              <a:rPr lang="en-US" sz="950" dirty="0">
                <a:solidFill>
                  <a:srgbClr val="6E1423"/>
                </a:solidFill>
                <a:latin typeface="Calibri" panose="020F0502020204030204" pitchFamily="34" charset="0"/>
                <a:ea typeface="Calibri" panose="020F0502020204030204" pitchFamily="34" charset="-122"/>
                <a:cs typeface="Calibri" panose="020F0502020204030204" pitchFamily="34" charset="-120"/>
              </a:rPr>
              <a:t>Table</a:t>
            </a:r>
            <a:endParaRPr lang="en-US" sz="950" dirty="0"/>
          </a:p>
        </p:txBody>
      </p:sp>
      <p:sp>
        <p:nvSpPr>
          <p:cNvPr id="14" name="Shape 11"/>
          <p:cNvSpPr/>
          <p:nvPr/>
        </p:nvSpPr>
        <p:spPr>
          <a:xfrm>
            <a:off x="4123944" y="2267712"/>
            <a:ext cx="1691640" cy="384048"/>
          </a:xfrm>
          <a:prstGeom prst="roundRect">
            <a:avLst>
              <a:gd name="adj" fmla="val 19048"/>
            </a:avLst>
          </a:prstGeom>
          <a:solidFill>
            <a:srgbClr val="FFFFFF"/>
          </a:solidFill>
          <a:ln w="12700">
            <a:solidFill>
              <a:srgbClr val="E3C9CC"/>
            </a:solidFill>
            <a:prstDash val="solid"/>
          </a:ln>
        </p:spPr>
      </p:sp>
      <p:sp>
        <p:nvSpPr>
          <p:cNvPr id="15" name="Text 12"/>
          <p:cNvSpPr/>
          <p:nvPr/>
        </p:nvSpPr>
        <p:spPr>
          <a:xfrm>
            <a:off x="4123944" y="2267712"/>
            <a:ext cx="1691640" cy="384048"/>
          </a:xfrm>
          <a:prstGeom prst="rect">
            <a:avLst/>
          </a:prstGeom>
          <a:noFill/>
        </p:spPr>
        <p:txBody>
          <a:bodyPr wrap="square" lIns="0" tIns="0" rIns="0" bIns="0" rtlCol="0" anchor="ctr"/>
          <a:lstStyle/>
          <a:p>
            <a:pPr marL="0" indent="0" algn="ctr">
              <a:buNone/>
            </a:pPr>
            <a:r>
              <a:rPr lang="en-US" sz="950" dirty="0">
                <a:solidFill>
                  <a:srgbClr val="6E1423"/>
                </a:solidFill>
                <a:latin typeface="Calibri" panose="020F0502020204030204" pitchFamily="34" charset="0"/>
                <a:ea typeface="Calibri" panose="020F0502020204030204" pitchFamily="34" charset="-122"/>
                <a:cs typeface="Calibri" panose="020F0502020204030204" pitchFamily="34" charset="-120"/>
              </a:rPr>
              <a:t>SQL</a:t>
            </a:r>
            <a:endParaRPr lang="en-US" sz="950" dirty="0"/>
          </a:p>
        </p:txBody>
      </p:sp>
      <p:sp>
        <p:nvSpPr>
          <p:cNvPr id="16" name="Text 13"/>
          <p:cNvSpPr/>
          <p:nvPr/>
        </p:nvSpPr>
        <p:spPr>
          <a:xfrm>
            <a:off x="502920" y="2788920"/>
            <a:ext cx="5349240" cy="256032"/>
          </a:xfrm>
          <a:prstGeom prst="rect">
            <a:avLst/>
          </a:prstGeom>
          <a:noFill/>
        </p:spPr>
        <p:txBody>
          <a:bodyPr wrap="square" lIns="0" tIns="0" rIns="0" bIns="0" rtlCol="0" anchor="ctr"/>
          <a:lstStyle/>
          <a:p>
            <a:pPr marL="0" indent="0">
              <a:buNone/>
            </a:pPr>
            <a:r>
              <a:rPr lang="en-US" sz="1050" b="1" kern="0" spc="100" dirty="0">
                <a:solidFill>
                  <a:srgbClr val="A13D4C"/>
                </a:solidFill>
                <a:latin typeface="Calibri" panose="020F0502020204030204" pitchFamily="34" charset="0"/>
                <a:ea typeface="Calibri" panose="020F0502020204030204" pitchFamily="34" charset="-122"/>
                <a:cs typeface="Calibri" panose="020F0502020204030204" pitchFamily="34" charset="-120"/>
              </a:rPr>
              <a:t>OPERATIONS</a:t>
            </a:r>
            <a:endParaRPr lang="en-US" sz="1050" dirty="0"/>
          </a:p>
        </p:txBody>
      </p:sp>
      <p:sp>
        <p:nvSpPr>
          <p:cNvPr id="17" name="Shape 14"/>
          <p:cNvSpPr/>
          <p:nvPr/>
        </p:nvSpPr>
        <p:spPr>
          <a:xfrm>
            <a:off x="502920" y="3090672"/>
            <a:ext cx="969264" cy="365760"/>
          </a:xfrm>
          <a:prstGeom prst="roundRect">
            <a:avLst>
              <a:gd name="adj" fmla="val 20000"/>
            </a:avLst>
          </a:prstGeom>
          <a:solidFill>
            <a:srgbClr val="FFFFFF"/>
          </a:solidFill>
          <a:ln w="12700">
            <a:solidFill>
              <a:srgbClr val="E3C9CC"/>
            </a:solidFill>
            <a:prstDash val="solid"/>
          </a:ln>
        </p:spPr>
      </p:sp>
      <p:sp>
        <p:nvSpPr>
          <p:cNvPr id="18" name="Text 15"/>
          <p:cNvSpPr/>
          <p:nvPr/>
        </p:nvSpPr>
        <p:spPr>
          <a:xfrm>
            <a:off x="502920" y="3090672"/>
            <a:ext cx="969264" cy="365760"/>
          </a:xfrm>
          <a:prstGeom prst="rect">
            <a:avLst/>
          </a:prstGeom>
          <a:noFill/>
        </p:spPr>
        <p:txBody>
          <a:bodyPr wrap="square" lIns="0" tIns="0" rIns="0" bIns="0" rtlCol="0" anchor="ctr"/>
          <a:lstStyle/>
          <a:p>
            <a:pPr marL="0" indent="0" algn="ctr">
              <a:buNone/>
            </a:pPr>
            <a:r>
              <a:rPr lang="en-US" sz="900" dirty="0">
                <a:solidFill>
                  <a:srgbClr val="6E1423"/>
                </a:solidFill>
                <a:latin typeface="Calibri" panose="020F0502020204030204" pitchFamily="34" charset="0"/>
                <a:ea typeface="Calibri" panose="020F0502020204030204" pitchFamily="34" charset="-122"/>
                <a:cs typeface="Calibri" panose="020F0502020204030204" pitchFamily="34" charset="-120"/>
              </a:rPr>
              <a:t>Create</a:t>
            </a:r>
            <a:endParaRPr lang="en-US" sz="900" dirty="0"/>
          </a:p>
        </p:txBody>
      </p:sp>
      <p:sp>
        <p:nvSpPr>
          <p:cNvPr id="19" name="Shape 16"/>
          <p:cNvSpPr/>
          <p:nvPr/>
        </p:nvSpPr>
        <p:spPr>
          <a:xfrm>
            <a:off x="1563624" y="3090672"/>
            <a:ext cx="969264" cy="365760"/>
          </a:xfrm>
          <a:prstGeom prst="roundRect">
            <a:avLst>
              <a:gd name="adj" fmla="val 20000"/>
            </a:avLst>
          </a:prstGeom>
          <a:solidFill>
            <a:srgbClr val="FFFFFF"/>
          </a:solidFill>
          <a:ln w="12700">
            <a:solidFill>
              <a:srgbClr val="E3C9CC"/>
            </a:solidFill>
            <a:prstDash val="solid"/>
          </a:ln>
        </p:spPr>
      </p:sp>
      <p:sp>
        <p:nvSpPr>
          <p:cNvPr id="20" name="Text 17"/>
          <p:cNvSpPr/>
          <p:nvPr/>
        </p:nvSpPr>
        <p:spPr>
          <a:xfrm>
            <a:off x="1563624" y="3090672"/>
            <a:ext cx="969264" cy="365760"/>
          </a:xfrm>
          <a:prstGeom prst="rect">
            <a:avLst/>
          </a:prstGeom>
          <a:noFill/>
        </p:spPr>
        <p:txBody>
          <a:bodyPr wrap="square" lIns="0" tIns="0" rIns="0" bIns="0" rtlCol="0" anchor="ctr"/>
          <a:lstStyle/>
          <a:p>
            <a:pPr marL="0" indent="0" algn="ctr">
              <a:buNone/>
            </a:pPr>
            <a:r>
              <a:rPr lang="en-US" sz="900" dirty="0">
                <a:solidFill>
                  <a:srgbClr val="6E1423"/>
                </a:solidFill>
                <a:latin typeface="Calibri" panose="020F0502020204030204" pitchFamily="34" charset="0"/>
                <a:ea typeface="Calibri" panose="020F0502020204030204" pitchFamily="34" charset="-122"/>
                <a:cs typeface="Calibri" panose="020F0502020204030204" pitchFamily="34" charset="-120"/>
              </a:rPr>
              <a:t>Insert</a:t>
            </a:r>
            <a:endParaRPr lang="en-US" sz="900" dirty="0"/>
          </a:p>
        </p:txBody>
      </p:sp>
      <p:sp>
        <p:nvSpPr>
          <p:cNvPr id="21" name="Shape 18"/>
          <p:cNvSpPr/>
          <p:nvPr/>
        </p:nvSpPr>
        <p:spPr>
          <a:xfrm>
            <a:off x="2624328" y="3090672"/>
            <a:ext cx="969264" cy="365760"/>
          </a:xfrm>
          <a:prstGeom prst="roundRect">
            <a:avLst>
              <a:gd name="adj" fmla="val 20000"/>
            </a:avLst>
          </a:prstGeom>
          <a:solidFill>
            <a:srgbClr val="FFFFFF"/>
          </a:solidFill>
          <a:ln w="12700">
            <a:solidFill>
              <a:srgbClr val="E3C9CC"/>
            </a:solidFill>
            <a:prstDash val="solid"/>
          </a:ln>
        </p:spPr>
      </p:sp>
      <p:sp>
        <p:nvSpPr>
          <p:cNvPr id="22" name="Text 19"/>
          <p:cNvSpPr/>
          <p:nvPr/>
        </p:nvSpPr>
        <p:spPr>
          <a:xfrm>
            <a:off x="2624328" y="3090672"/>
            <a:ext cx="969264" cy="365760"/>
          </a:xfrm>
          <a:prstGeom prst="rect">
            <a:avLst/>
          </a:prstGeom>
          <a:noFill/>
        </p:spPr>
        <p:txBody>
          <a:bodyPr wrap="square" lIns="0" tIns="0" rIns="0" bIns="0" rtlCol="0" anchor="ctr"/>
          <a:lstStyle/>
          <a:p>
            <a:pPr marL="0" indent="0" algn="ctr">
              <a:buNone/>
            </a:pPr>
            <a:r>
              <a:rPr lang="en-US" sz="900" dirty="0">
                <a:solidFill>
                  <a:srgbClr val="6E1423"/>
                </a:solidFill>
                <a:latin typeface="Calibri" panose="020F0502020204030204" pitchFamily="34" charset="0"/>
                <a:ea typeface="Calibri" panose="020F0502020204030204" pitchFamily="34" charset="-122"/>
                <a:cs typeface="Calibri" panose="020F0502020204030204" pitchFamily="34" charset="-120"/>
              </a:rPr>
              <a:t>Update</a:t>
            </a:r>
            <a:endParaRPr lang="en-US" sz="900" dirty="0"/>
          </a:p>
        </p:txBody>
      </p:sp>
      <p:sp>
        <p:nvSpPr>
          <p:cNvPr id="23" name="Shape 20"/>
          <p:cNvSpPr/>
          <p:nvPr/>
        </p:nvSpPr>
        <p:spPr>
          <a:xfrm>
            <a:off x="3685032" y="3090672"/>
            <a:ext cx="969264" cy="365760"/>
          </a:xfrm>
          <a:prstGeom prst="roundRect">
            <a:avLst>
              <a:gd name="adj" fmla="val 20000"/>
            </a:avLst>
          </a:prstGeom>
          <a:solidFill>
            <a:srgbClr val="FFFFFF"/>
          </a:solidFill>
          <a:ln w="12700">
            <a:solidFill>
              <a:srgbClr val="E3C9CC"/>
            </a:solidFill>
            <a:prstDash val="solid"/>
          </a:ln>
        </p:spPr>
      </p:sp>
      <p:sp>
        <p:nvSpPr>
          <p:cNvPr id="24" name="Text 21"/>
          <p:cNvSpPr/>
          <p:nvPr/>
        </p:nvSpPr>
        <p:spPr>
          <a:xfrm>
            <a:off x="3685032" y="3090672"/>
            <a:ext cx="969264" cy="365760"/>
          </a:xfrm>
          <a:prstGeom prst="rect">
            <a:avLst/>
          </a:prstGeom>
          <a:noFill/>
        </p:spPr>
        <p:txBody>
          <a:bodyPr wrap="square" lIns="0" tIns="0" rIns="0" bIns="0" rtlCol="0" anchor="ctr"/>
          <a:lstStyle/>
          <a:p>
            <a:pPr marL="0" indent="0" algn="ctr">
              <a:buNone/>
            </a:pPr>
            <a:r>
              <a:rPr lang="en-US" sz="900" dirty="0">
                <a:solidFill>
                  <a:srgbClr val="6E1423"/>
                </a:solidFill>
                <a:latin typeface="Calibri" panose="020F0502020204030204" pitchFamily="34" charset="0"/>
                <a:ea typeface="Calibri" panose="020F0502020204030204" pitchFamily="34" charset="-122"/>
                <a:cs typeface="Calibri" panose="020F0502020204030204" pitchFamily="34" charset="-120"/>
              </a:rPr>
              <a:t>Delete</a:t>
            </a:r>
            <a:endParaRPr lang="en-US" sz="900" dirty="0"/>
          </a:p>
        </p:txBody>
      </p:sp>
      <p:sp>
        <p:nvSpPr>
          <p:cNvPr id="25" name="Shape 22"/>
          <p:cNvSpPr/>
          <p:nvPr/>
        </p:nvSpPr>
        <p:spPr>
          <a:xfrm>
            <a:off x="4745736" y="3090672"/>
            <a:ext cx="969264" cy="365760"/>
          </a:xfrm>
          <a:prstGeom prst="roundRect">
            <a:avLst>
              <a:gd name="adj" fmla="val 20000"/>
            </a:avLst>
          </a:prstGeom>
          <a:solidFill>
            <a:srgbClr val="FFFFFF"/>
          </a:solidFill>
          <a:ln w="12700">
            <a:solidFill>
              <a:srgbClr val="E3C9CC"/>
            </a:solidFill>
            <a:prstDash val="solid"/>
          </a:ln>
        </p:spPr>
      </p:sp>
      <p:sp>
        <p:nvSpPr>
          <p:cNvPr id="26" name="Text 23"/>
          <p:cNvSpPr/>
          <p:nvPr/>
        </p:nvSpPr>
        <p:spPr>
          <a:xfrm>
            <a:off x="4745736" y="3090672"/>
            <a:ext cx="969264" cy="365760"/>
          </a:xfrm>
          <a:prstGeom prst="rect">
            <a:avLst/>
          </a:prstGeom>
          <a:noFill/>
        </p:spPr>
        <p:txBody>
          <a:bodyPr wrap="square" lIns="0" tIns="0" rIns="0" bIns="0" rtlCol="0" anchor="ctr"/>
          <a:lstStyle/>
          <a:p>
            <a:pPr marL="0" indent="0" algn="ctr">
              <a:buNone/>
            </a:pPr>
            <a:r>
              <a:rPr lang="en-US" sz="900" dirty="0">
                <a:solidFill>
                  <a:srgbClr val="6E1423"/>
                </a:solidFill>
                <a:latin typeface="Calibri" panose="020F0502020204030204" pitchFamily="34" charset="0"/>
                <a:ea typeface="Calibri" panose="020F0502020204030204" pitchFamily="34" charset="-122"/>
                <a:cs typeface="Calibri" panose="020F0502020204030204" pitchFamily="34" charset="-120"/>
              </a:rPr>
              <a:t>Query</a:t>
            </a:r>
            <a:endParaRPr lang="en-US" sz="900" dirty="0"/>
          </a:p>
        </p:txBody>
      </p:sp>
      <p:sp>
        <p:nvSpPr>
          <p:cNvPr id="27" name="Shape 24"/>
          <p:cNvSpPr/>
          <p:nvPr/>
        </p:nvSpPr>
        <p:spPr>
          <a:xfrm>
            <a:off x="502920" y="3611880"/>
            <a:ext cx="1709928" cy="1005840"/>
          </a:xfrm>
          <a:prstGeom prst="roundRect">
            <a:avLst>
              <a:gd name="adj" fmla="val 4545"/>
            </a:avLst>
          </a:prstGeom>
          <a:solidFill>
            <a:srgbClr val="FFFFFF"/>
          </a:solidFill>
          <a:ln w="12700">
            <a:solidFill>
              <a:srgbClr val="C9A3A8"/>
            </a:solidFill>
            <a:prstDash val="dash"/>
          </a:ln>
        </p:spPr>
      </p:sp>
      <p:sp>
        <p:nvSpPr>
          <p:cNvPr id="28" name="Text 25"/>
          <p:cNvSpPr/>
          <p:nvPr/>
        </p:nvSpPr>
        <p:spPr>
          <a:xfrm>
            <a:off x="502920" y="3611880"/>
            <a:ext cx="1709928" cy="1005840"/>
          </a:xfrm>
          <a:prstGeom prst="rect">
            <a:avLst/>
          </a:prstGeom>
          <a:noFill/>
        </p:spPr>
        <p:txBody>
          <a:bodyPr wrap="square" lIns="0" tIns="0" rIns="0" bIns="0" rtlCol="0" anchor="ctr"/>
          <a:lstStyle/>
          <a:p>
            <a:pPr marL="0" indent="0" algn="ctr">
              <a:buNone/>
            </a:pPr>
            <a:r>
              <a:rPr lang="en-US" sz="1050" i="1" dirty="0">
                <a:solidFill>
                  <a:srgbClr val="7D5A5E"/>
                </a:solidFill>
                <a:latin typeface="Calibri" panose="020F0502020204030204" pitchFamily="34" charset="0"/>
                <a:ea typeface="Calibri" panose="020F0502020204030204" pitchFamily="34" charset="-122"/>
                <a:cs typeface="Calibri" panose="020F0502020204030204" pitchFamily="34" charset="-120"/>
              </a:rPr>
              <a:t>&lt;&lt; SQL &gt;&gt;</a:t>
            </a:r>
            <a:endParaRPr lang="en-US" sz="1050" dirty="0"/>
          </a:p>
        </p:txBody>
      </p:sp>
      <p:sp>
        <p:nvSpPr>
          <p:cNvPr id="29" name="Shape 26"/>
          <p:cNvSpPr/>
          <p:nvPr/>
        </p:nvSpPr>
        <p:spPr>
          <a:xfrm>
            <a:off x="2322576" y="3611880"/>
            <a:ext cx="1709928" cy="1005840"/>
          </a:xfrm>
          <a:prstGeom prst="roundRect">
            <a:avLst>
              <a:gd name="adj" fmla="val 4545"/>
            </a:avLst>
          </a:prstGeom>
          <a:solidFill>
            <a:srgbClr val="FFFFFF"/>
          </a:solidFill>
          <a:ln w="12700">
            <a:solidFill>
              <a:srgbClr val="C9A3A8"/>
            </a:solidFill>
            <a:prstDash val="dash"/>
          </a:ln>
        </p:spPr>
      </p:sp>
      <p:sp>
        <p:nvSpPr>
          <p:cNvPr id="30" name="Text 27"/>
          <p:cNvSpPr/>
          <p:nvPr/>
        </p:nvSpPr>
        <p:spPr>
          <a:xfrm>
            <a:off x="2322576" y="3611880"/>
            <a:ext cx="1709928" cy="1005840"/>
          </a:xfrm>
          <a:prstGeom prst="rect">
            <a:avLst/>
          </a:prstGeom>
          <a:noFill/>
        </p:spPr>
        <p:txBody>
          <a:bodyPr wrap="square" lIns="0" tIns="0" rIns="0" bIns="0" rtlCol="0" anchor="ctr"/>
          <a:lstStyle/>
          <a:p>
            <a:pPr marL="0" indent="0" algn="ctr">
              <a:buNone/>
            </a:pPr>
            <a:r>
              <a:rPr lang="en-US" sz="1050" i="1" dirty="0">
                <a:solidFill>
                  <a:srgbClr val="7D5A5E"/>
                </a:solidFill>
                <a:latin typeface="Calibri" panose="020F0502020204030204" pitchFamily="34" charset="0"/>
                <a:ea typeface="Calibri" panose="020F0502020204030204" pitchFamily="34" charset="-122"/>
                <a:cs typeface="Calibri" panose="020F0502020204030204" pitchFamily="34" charset="-120"/>
              </a:rPr>
              <a:t>&lt;&lt; BigQuery &gt;&gt;</a:t>
            </a:r>
            <a:endParaRPr lang="en-US" sz="1050" dirty="0"/>
          </a:p>
        </p:txBody>
      </p:sp>
      <p:sp>
        <p:nvSpPr>
          <p:cNvPr id="32" name="Text 29"/>
          <p:cNvSpPr/>
          <p:nvPr/>
        </p:nvSpPr>
        <p:spPr>
          <a:xfrm>
            <a:off x="4142232" y="3611880"/>
            <a:ext cx="1709928" cy="1005840"/>
          </a:xfrm>
          <a:prstGeom prst="rect">
            <a:avLst/>
          </a:prstGeom>
          <a:noFill/>
        </p:spPr>
        <p:txBody>
          <a:bodyPr wrap="square" lIns="0" tIns="0" rIns="0" bIns="0" rtlCol="0" anchor="ctr"/>
          <a:lstStyle/>
          <a:p>
            <a:pPr marL="0" indent="0" algn="ctr">
              <a:buNone/>
            </a:pPr>
            <a:endParaRPr lang="en-US" sz="1050" dirty="0"/>
          </a:p>
        </p:txBody>
      </p:sp>
      <p:sp>
        <p:nvSpPr>
          <p:cNvPr id="33" name="Shape 30"/>
          <p:cNvSpPr/>
          <p:nvPr/>
        </p:nvSpPr>
        <p:spPr>
          <a:xfrm>
            <a:off x="6108192" y="1371600"/>
            <a:ext cx="457200" cy="457200"/>
          </a:xfrm>
          <a:prstGeom prst="ellipse">
            <a:avLst/>
          </a:prstGeom>
          <a:solidFill>
            <a:srgbClr val="6E1423"/>
          </a:solidFill>
        </p:spPr>
      </p:sp>
      <p:pic>
        <p:nvPicPr>
          <p:cNvPr id="34" name="Image 1" descr="/home/claude/work/icons/archive.png"/>
          <p:cNvPicPr>
            <a:picLocks noChangeAspect="1"/>
          </p:cNvPicPr>
          <p:nvPr/>
        </p:nvPicPr>
        <p:blipFill>
          <a:blip r:embed="rId4"/>
          <a:stretch>
            <a:fillRect/>
          </a:stretch>
        </p:blipFill>
        <p:spPr>
          <a:xfrm>
            <a:off x="6176772" y="1440180"/>
            <a:ext cx="320040" cy="320040"/>
          </a:xfrm>
          <a:prstGeom prst="rect">
            <a:avLst/>
          </a:prstGeom>
        </p:spPr>
      </p:pic>
      <p:sp>
        <p:nvSpPr>
          <p:cNvPr id="35" name="Text 31"/>
          <p:cNvSpPr/>
          <p:nvPr/>
        </p:nvSpPr>
        <p:spPr>
          <a:xfrm>
            <a:off x="6702552" y="1371600"/>
            <a:ext cx="4754880" cy="457200"/>
          </a:xfrm>
          <a:prstGeom prst="rect">
            <a:avLst/>
          </a:prstGeom>
          <a:noFill/>
        </p:spPr>
        <p:txBody>
          <a:bodyPr wrap="square" lIns="0" tIns="0" rIns="0" bIns="0" rtlCol="0" anchor="ctr"/>
          <a:lstStyle/>
          <a:p>
            <a:pPr marL="0" indent="0">
              <a:buNone/>
            </a:pPr>
            <a:r>
              <a:rPr lang="en-US" sz="1800" b="1" dirty="0">
                <a:solidFill>
                  <a:srgbClr val="6E1423"/>
                </a:solidFill>
                <a:latin typeface="Cambria" panose="02040503050406030204" pitchFamily="34" charset="0"/>
                <a:ea typeface="Cambria" panose="02040503050406030204" pitchFamily="34" charset="-122"/>
                <a:cs typeface="Cambria" panose="02040503050406030204" pitchFamily="34" charset="-120"/>
              </a:rPr>
              <a:t>Cloud Storage</a:t>
            </a:r>
            <a:endParaRPr lang="en-US" sz="1800" dirty="0"/>
          </a:p>
        </p:txBody>
      </p:sp>
      <p:sp>
        <p:nvSpPr>
          <p:cNvPr id="36" name="Text 32"/>
          <p:cNvSpPr/>
          <p:nvPr/>
        </p:nvSpPr>
        <p:spPr>
          <a:xfrm>
            <a:off x="6108192" y="1965960"/>
            <a:ext cx="5349240" cy="256032"/>
          </a:xfrm>
          <a:prstGeom prst="rect">
            <a:avLst/>
          </a:prstGeom>
          <a:noFill/>
        </p:spPr>
        <p:txBody>
          <a:bodyPr wrap="square" lIns="0" tIns="0" rIns="0" bIns="0" rtlCol="0" anchor="ctr"/>
          <a:lstStyle/>
          <a:p>
            <a:pPr marL="0" indent="0">
              <a:buNone/>
            </a:pPr>
            <a:r>
              <a:rPr lang="en-US" sz="1050" b="1" kern="0" spc="100" dirty="0">
                <a:solidFill>
                  <a:srgbClr val="A13D4C"/>
                </a:solidFill>
                <a:latin typeface="Calibri" panose="020F0502020204030204" pitchFamily="34" charset="0"/>
                <a:ea typeface="Calibri" panose="020F0502020204030204" pitchFamily="34" charset="-122"/>
                <a:cs typeface="Calibri" panose="020F0502020204030204" pitchFamily="34" charset="-120"/>
              </a:rPr>
              <a:t>CORE CONCEPTS</a:t>
            </a:r>
            <a:endParaRPr lang="en-US" sz="1050" dirty="0"/>
          </a:p>
        </p:txBody>
      </p:sp>
      <p:sp>
        <p:nvSpPr>
          <p:cNvPr id="37" name="Shape 33"/>
          <p:cNvSpPr/>
          <p:nvPr/>
        </p:nvSpPr>
        <p:spPr>
          <a:xfrm>
            <a:off x="6108192" y="2267712"/>
            <a:ext cx="1252728" cy="384048"/>
          </a:xfrm>
          <a:prstGeom prst="roundRect">
            <a:avLst>
              <a:gd name="adj" fmla="val 19048"/>
            </a:avLst>
          </a:prstGeom>
          <a:solidFill>
            <a:srgbClr val="FFFFFF"/>
          </a:solidFill>
          <a:ln w="12700">
            <a:solidFill>
              <a:srgbClr val="E3C9CC"/>
            </a:solidFill>
            <a:prstDash val="solid"/>
          </a:ln>
        </p:spPr>
      </p:sp>
      <p:sp>
        <p:nvSpPr>
          <p:cNvPr id="38" name="Text 34"/>
          <p:cNvSpPr/>
          <p:nvPr/>
        </p:nvSpPr>
        <p:spPr>
          <a:xfrm>
            <a:off x="6108192" y="2267712"/>
            <a:ext cx="1252728" cy="384048"/>
          </a:xfrm>
          <a:prstGeom prst="rect">
            <a:avLst/>
          </a:prstGeom>
          <a:noFill/>
        </p:spPr>
        <p:txBody>
          <a:bodyPr wrap="square" lIns="0" tIns="0" rIns="0" bIns="0" rtlCol="0" anchor="ctr"/>
          <a:lstStyle/>
          <a:p>
            <a:pPr marL="0" indent="0" algn="ctr">
              <a:buNone/>
            </a:pPr>
            <a:r>
              <a:rPr lang="en-US" sz="900" dirty="0">
                <a:solidFill>
                  <a:srgbClr val="6E1423"/>
                </a:solidFill>
                <a:latin typeface="Calibri" panose="020F0502020204030204" pitchFamily="34" charset="0"/>
                <a:ea typeface="Calibri" panose="020F0502020204030204" pitchFamily="34" charset="-122"/>
                <a:cs typeface="Calibri" panose="020F0502020204030204" pitchFamily="34" charset="-120"/>
              </a:rPr>
              <a:t>Buckets</a:t>
            </a:r>
            <a:endParaRPr lang="en-US" sz="900" dirty="0"/>
          </a:p>
        </p:txBody>
      </p:sp>
      <p:sp>
        <p:nvSpPr>
          <p:cNvPr id="39" name="Shape 35"/>
          <p:cNvSpPr/>
          <p:nvPr/>
        </p:nvSpPr>
        <p:spPr>
          <a:xfrm>
            <a:off x="7452360" y="2267712"/>
            <a:ext cx="1252728" cy="384048"/>
          </a:xfrm>
          <a:prstGeom prst="roundRect">
            <a:avLst>
              <a:gd name="adj" fmla="val 19048"/>
            </a:avLst>
          </a:prstGeom>
          <a:solidFill>
            <a:srgbClr val="FFFFFF"/>
          </a:solidFill>
          <a:ln w="12700">
            <a:solidFill>
              <a:srgbClr val="E3C9CC"/>
            </a:solidFill>
            <a:prstDash val="solid"/>
          </a:ln>
        </p:spPr>
      </p:sp>
      <p:sp>
        <p:nvSpPr>
          <p:cNvPr id="40" name="Text 36"/>
          <p:cNvSpPr/>
          <p:nvPr/>
        </p:nvSpPr>
        <p:spPr>
          <a:xfrm>
            <a:off x="7452360" y="2267712"/>
            <a:ext cx="1252728" cy="384048"/>
          </a:xfrm>
          <a:prstGeom prst="rect">
            <a:avLst/>
          </a:prstGeom>
          <a:noFill/>
        </p:spPr>
        <p:txBody>
          <a:bodyPr wrap="square" lIns="0" tIns="0" rIns="0" bIns="0" rtlCol="0" anchor="ctr"/>
          <a:lstStyle/>
          <a:p>
            <a:pPr marL="0" indent="0" algn="ctr">
              <a:buNone/>
            </a:pPr>
            <a:r>
              <a:rPr lang="en-US" sz="900" dirty="0">
                <a:solidFill>
                  <a:srgbClr val="6E1423"/>
                </a:solidFill>
                <a:latin typeface="Calibri" panose="020F0502020204030204" pitchFamily="34" charset="0"/>
                <a:ea typeface="Calibri" panose="020F0502020204030204" pitchFamily="34" charset="-122"/>
                <a:cs typeface="Calibri" panose="020F0502020204030204" pitchFamily="34" charset="-120"/>
              </a:rPr>
              <a:t>Objects</a:t>
            </a:r>
            <a:endParaRPr lang="en-US" sz="900" dirty="0"/>
          </a:p>
        </p:txBody>
      </p:sp>
      <p:sp>
        <p:nvSpPr>
          <p:cNvPr id="41" name="Shape 37"/>
          <p:cNvSpPr/>
          <p:nvPr/>
        </p:nvSpPr>
        <p:spPr>
          <a:xfrm>
            <a:off x="8796528" y="2267712"/>
            <a:ext cx="1252728" cy="384048"/>
          </a:xfrm>
          <a:prstGeom prst="roundRect">
            <a:avLst>
              <a:gd name="adj" fmla="val 19048"/>
            </a:avLst>
          </a:prstGeom>
          <a:solidFill>
            <a:srgbClr val="FFFFFF"/>
          </a:solidFill>
          <a:ln w="12700">
            <a:solidFill>
              <a:srgbClr val="E3C9CC"/>
            </a:solidFill>
            <a:prstDash val="solid"/>
          </a:ln>
        </p:spPr>
      </p:sp>
      <p:sp>
        <p:nvSpPr>
          <p:cNvPr id="42" name="Text 38"/>
          <p:cNvSpPr/>
          <p:nvPr/>
        </p:nvSpPr>
        <p:spPr>
          <a:xfrm>
            <a:off x="8796528" y="2267712"/>
            <a:ext cx="1252728" cy="384048"/>
          </a:xfrm>
          <a:prstGeom prst="rect">
            <a:avLst/>
          </a:prstGeom>
          <a:noFill/>
        </p:spPr>
        <p:txBody>
          <a:bodyPr wrap="square" lIns="0" tIns="0" rIns="0" bIns="0" rtlCol="0" anchor="ctr"/>
          <a:lstStyle/>
          <a:p>
            <a:pPr marL="0" indent="0" algn="ctr">
              <a:buNone/>
            </a:pPr>
            <a:r>
              <a:rPr lang="en-US" sz="900" dirty="0">
                <a:solidFill>
                  <a:srgbClr val="6E1423"/>
                </a:solidFill>
                <a:latin typeface="Calibri" panose="020F0502020204030204" pitchFamily="34" charset="0"/>
                <a:ea typeface="Calibri" panose="020F0502020204030204" pitchFamily="34" charset="-122"/>
                <a:cs typeface="Calibri" panose="020F0502020204030204" pitchFamily="34" charset="-120"/>
              </a:rPr>
              <a:t>Regions</a:t>
            </a:r>
            <a:endParaRPr lang="en-US" sz="900" dirty="0"/>
          </a:p>
        </p:txBody>
      </p:sp>
      <p:sp>
        <p:nvSpPr>
          <p:cNvPr id="43" name="Shape 39"/>
          <p:cNvSpPr/>
          <p:nvPr/>
        </p:nvSpPr>
        <p:spPr>
          <a:xfrm>
            <a:off x="10140696" y="2267712"/>
            <a:ext cx="1252728" cy="384048"/>
          </a:xfrm>
          <a:prstGeom prst="roundRect">
            <a:avLst>
              <a:gd name="adj" fmla="val 19048"/>
            </a:avLst>
          </a:prstGeom>
          <a:solidFill>
            <a:srgbClr val="FFFFFF"/>
          </a:solidFill>
          <a:ln w="12700">
            <a:solidFill>
              <a:srgbClr val="E3C9CC"/>
            </a:solidFill>
            <a:prstDash val="solid"/>
          </a:ln>
        </p:spPr>
      </p:sp>
      <p:sp>
        <p:nvSpPr>
          <p:cNvPr id="44" name="Text 40"/>
          <p:cNvSpPr/>
          <p:nvPr/>
        </p:nvSpPr>
        <p:spPr>
          <a:xfrm>
            <a:off x="10140696" y="2267712"/>
            <a:ext cx="1252728" cy="384048"/>
          </a:xfrm>
          <a:prstGeom prst="rect">
            <a:avLst/>
          </a:prstGeom>
          <a:noFill/>
        </p:spPr>
        <p:txBody>
          <a:bodyPr wrap="square" lIns="0" tIns="0" rIns="0" bIns="0" rtlCol="0" anchor="ctr"/>
          <a:lstStyle/>
          <a:p>
            <a:pPr marL="0" indent="0" algn="ctr">
              <a:buNone/>
            </a:pPr>
            <a:r>
              <a:rPr lang="en-US" sz="900" dirty="0">
                <a:solidFill>
                  <a:srgbClr val="6E1423"/>
                </a:solidFill>
                <a:latin typeface="Calibri" panose="020F0502020204030204" pitchFamily="34" charset="0"/>
                <a:ea typeface="Calibri" panose="020F0502020204030204" pitchFamily="34" charset="-122"/>
                <a:cs typeface="Calibri" panose="020F0502020204030204" pitchFamily="34" charset="-120"/>
              </a:rPr>
              <a:t>Storage Classes</a:t>
            </a:r>
            <a:endParaRPr lang="en-US" sz="900" dirty="0"/>
          </a:p>
        </p:txBody>
      </p:sp>
      <p:sp>
        <p:nvSpPr>
          <p:cNvPr id="45" name="Text 41"/>
          <p:cNvSpPr/>
          <p:nvPr/>
        </p:nvSpPr>
        <p:spPr>
          <a:xfrm>
            <a:off x="6108192" y="2788920"/>
            <a:ext cx="5349240" cy="256032"/>
          </a:xfrm>
          <a:prstGeom prst="rect">
            <a:avLst/>
          </a:prstGeom>
          <a:noFill/>
        </p:spPr>
        <p:txBody>
          <a:bodyPr wrap="square" lIns="0" tIns="0" rIns="0" bIns="0" rtlCol="0" anchor="ctr"/>
          <a:lstStyle/>
          <a:p>
            <a:pPr marL="0" indent="0">
              <a:buNone/>
            </a:pPr>
            <a:r>
              <a:rPr lang="en-US" sz="1050" b="1" kern="0" spc="100" dirty="0">
                <a:solidFill>
                  <a:srgbClr val="A13D4C"/>
                </a:solidFill>
                <a:latin typeface="Calibri" panose="020F0502020204030204" pitchFamily="34" charset="0"/>
                <a:ea typeface="Calibri" panose="020F0502020204030204" pitchFamily="34" charset="-122"/>
                <a:cs typeface="Calibri" panose="020F0502020204030204" pitchFamily="34" charset="-120"/>
              </a:rPr>
              <a:t>OPERATIONS</a:t>
            </a:r>
            <a:endParaRPr lang="en-US" sz="1050" dirty="0"/>
          </a:p>
        </p:txBody>
      </p:sp>
      <p:sp>
        <p:nvSpPr>
          <p:cNvPr id="46" name="Shape 42"/>
          <p:cNvSpPr/>
          <p:nvPr/>
        </p:nvSpPr>
        <p:spPr>
          <a:xfrm>
            <a:off x="6108192" y="3090672"/>
            <a:ext cx="1252728" cy="365760"/>
          </a:xfrm>
          <a:prstGeom prst="roundRect">
            <a:avLst>
              <a:gd name="adj" fmla="val 20000"/>
            </a:avLst>
          </a:prstGeom>
          <a:solidFill>
            <a:srgbClr val="FFFFFF"/>
          </a:solidFill>
          <a:ln w="12700">
            <a:solidFill>
              <a:srgbClr val="E3C9CC"/>
            </a:solidFill>
            <a:prstDash val="solid"/>
          </a:ln>
        </p:spPr>
      </p:sp>
      <p:sp>
        <p:nvSpPr>
          <p:cNvPr id="47" name="Text 43"/>
          <p:cNvSpPr/>
          <p:nvPr/>
        </p:nvSpPr>
        <p:spPr>
          <a:xfrm>
            <a:off x="6108192" y="3090672"/>
            <a:ext cx="1252728" cy="365760"/>
          </a:xfrm>
          <a:prstGeom prst="rect">
            <a:avLst/>
          </a:prstGeom>
          <a:noFill/>
        </p:spPr>
        <p:txBody>
          <a:bodyPr wrap="square" lIns="0" tIns="0" rIns="0" bIns="0" rtlCol="0" anchor="ctr"/>
          <a:lstStyle/>
          <a:p>
            <a:pPr marL="0" indent="0" algn="ctr">
              <a:buNone/>
            </a:pPr>
            <a:r>
              <a:rPr lang="en-US" sz="850" dirty="0">
                <a:solidFill>
                  <a:srgbClr val="6E1423"/>
                </a:solidFill>
                <a:latin typeface="Calibri" panose="020F0502020204030204" pitchFamily="34" charset="0"/>
                <a:ea typeface="Calibri" panose="020F0502020204030204" pitchFamily="34" charset="-122"/>
                <a:cs typeface="Calibri" panose="020F0502020204030204" pitchFamily="34" charset="-120"/>
              </a:rPr>
              <a:t>Create Bucket</a:t>
            </a:r>
            <a:endParaRPr lang="en-US" sz="850" dirty="0"/>
          </a:p>
        </p:txBody>
      </p:sp>
      <p:sp>
        <p:nvSpPr>
          <p:cNvPr id="48" name="Shape 44"/>
          <p:cNvSpPr/>
          <p:nvPr/>
        </p:nvSpPr>
        <p:spPr>
          <a:xfrm>
            <a:off x="7452360" y="3090672"/>
            <a:ext cx="1252728" cy="365760"/>
          </a:xfrm>
          <a:prstGeom prst="roundRect">
            <a:avLst>
              <a:gd name="adj" fmla="val 20000"/>
            </a:avLst>
          </a:prstGeom>
          <a:solidFill>
            <a:srgbClr val="FFFFFF"/>
          </a:solidFill>
          <a:ln w="12700">
            <a:solidFill>
              <a:srgbClr val="E3C9CC"/>
            </a:solidFill>
            <a:prstDash val="solid"/>
          </a:ln>
        </p:spPr>
      </p:sp>
      <p:sp>
        <p:nvSpPr>
          <p:cNvPr id="49" name="Text 45"/>
          <p:cNvSpPr/>
          <p:nvPr/>
        </p:nvSpPr>
        <p:spPr>
          <a:xfrm>
            <a:off x="7452360" y="3090672"/>
            <a:ext cx="1252728" cy="365760"/>
          </a:xfrm>
          <a:prstGeom prst="rect">
            <a:avLst/>
          </a:prstGeom>
          <a:noFill/>
        </p:spPr>
        <p:txBody>
          <a:bodyPr wrap="square" lIns="0" tIns="0" rIns="0" bIns="0" rtlCol="0" anchor="ctr"/>
          <a:lstStyle/>
          <a:p>
            <a:pPr marL="0" indent="0" algn="ctr">
              <a:buNone/>
            </a:pPr>
            <a:r>
              <a:rPr lang="en-US" sz="850" dirty="0">
                <a:solidFill>
                  <a:srgbClr val="6E1423"/>
                </a:solidFill>
                <a:latin typeface="Calibri" panose="020F0502020204030204" pitchFamily="34" charset="0"/>
                <a:ea typeface="Calibri" panose="020F0502020204030204" pitchFamily="34" charset="-122"/>
                <a:cs typeface="Calibri" panose="020F0502020204030204" pitchFamily="34" charset="-120"/>
              </a:rPr>
              <a:t>Upload Objects</a:t>
            </a:r>
            <a:endParaRPr lang="en-US" sz="850" dirty="0"/>
          </a:p>
        </p:txBody>
      </p:sp>
      <p:sp>
        <p:nvSpPr>
          <p:cNvPr id="50" name="Shape 46"/>
          <p:cNvSpPr/>
          <p:nvPr/>
        </p:nvSpPr>
        <p:spPr>
          <a:xfrm>
            <a:off x="8796528" y="3090672"/>
            <a:ext cx="1252728" cy="365760"/>
          </a:xfrm>
          <a:prstGeom prst="roundRect">
            <a:avLst>
              <a:gd name="adj" fmla="val 20000"/>
            </a:avLst>
          </a:prstGeom>
          <a:solidFill>
            <a:srgbClr val="FFFFFF"/>
          </a:solidFill>
          <a:ln w="12700">
            <a:solidFill>
              <a:srgbClr val="E3C9CC"/>
            </a:solidFill>
            <a:prstDash val="solid"/>
          </a:ln>
        </p:spPr>
      </p:sp>
      <p:sp>
        <p:nvSpPr>
          <p:cNvPr id="51" name="Text 47"/>
          <p:cNvSpPr/>
          <p:nvPr/>
        </p:nvSpPr>
        <p:spPr>
          <a:xfrm>
            <a:off x="8796528" y="3090672"/>
            <a:ext cx="1252728" cy="365760"/>
          </a:xfrm>
          <a:prstGeom prst="rect">
            <a:avLst/>
          </a:prstGeom>
          <a:noFill/>
        </p:spPr>
        <p:txBody>
          <a:bodyPr wrap="square" lIns="0" tIns="0" rIns="0" bIns="0" rtlCol="0" anchor="ctr"/>
          <a:lstStyle/>
          <a:p>
            <a:pPr marL="0" indent="0" algn="ctr">
              <a:buNone/>
            </a:pPr>
            <a:r>
              <a:rPr lang="en-US" sz="850" dirty="0">
                <a:solidFill>
                  <a:srgbClr val="6E1423"/>
                </a:solidFill>
                <a:latin typeface="Calibri" panose="020F0502020204030204" pitchFamily="34" charset="0"/>
                <a:ea typeface="Calibri" panose="020F0502020204030204" pitchFamily="34" charset="-122"/>
                <a:cs typeface="Calibri" panose="020F0502020204030204" pitchFamily="34" charset="-120"/>
              </a:rPr>
              <a:t>Delete Bucket</a:t>
            </a:r>
            <a:endParaRPr lang="en-US" sz="850" dirty="0"/>
          </a:p>
        </p:txBody>
      </p:sp>
      <p:sp>
        <p:nvSpPr>
          <p:cNvPr id="52" name="Shape 48"/>
          <p:cNvSpPr/>
          <p:nvPr/>
        </p:nvSpPr>
        <p:spPr>
          <a:xfrm>
            <a:off x="10140696" y="3090672"/>
            <a:ext cx="1252728" cy="365760"/>
          </a:xfrm>
          <a:prstGeom prst="roundRect">
            <a:avLst>
              <a:gd name="adj" fmla="val 20000"/>
            </a:avLst>
          </a:prstGeom>
          <a:solidFill>
            <a:srgbClr val="FFFFFF"/>
          </a:solidFill>
          <a:ln w="12700">
            <a:solidFill>
              <a:srgbClr val="E3C9CC"/>
            </a:solidFill>
            <a:prstDash val="solid"/>
          </a:ln>
        </p:spPr>
      </p:sp>
      <p:sp>
        <p:nvSpPr>
          <p:cNvPr id="53" name="Text 49"/>
          <p:cNvSpPr/>
          <p:nvPr/>
        </p:nvSpPr>
        <p:spPr>
          <a:xfrm>
            <a:off x="10140696" y="3090672"/>
            <a:ext cx="1252728" cy="365760"/>
          </a:xfrm>
          <a:prstGeom prst="rect">
            <a:avLst/>
          </a:prstGeom>
          <a:noFill/>
        </p:spPr>
        <p:txBody>
          <a:bodyPr wrap="square" lIns="0" tIns="0" rIns="0" bIns="0" rtlCol="0" anchor="ctr"/>
          <a:lstStyle/>
          <a:p>
            <a:pPr marL="0" indent="0" algn="ctr">
              <a:buNone/>
            </a:pPr>
            <a:r>
              <a:rPr lang="en-US" sz="850" dirty="0">
                <a:solidFill>
                  <a:srgbClr val="6E1423"/>
                </a:solidFill>
                <a:latin typeface="Calibri" panose="020F0502020204030204" pitchFamily="34" charset="0"/>
                <a:ea typeface="Calibri" panose="020F0502020204030204" pitchFamily="34" charset="-122"/>
                <a:cs typeface="Calibri" panose="020F0502020204030204" pitchFamily="34" charset="-120"/>
              </a:rPr>
              <a:t>Manage Files</a:t>
            </a:r>
            <a:endParaRPr lang="en-US" sz="850" dirty="0"/>
          </a:p>
        </p:txBody>
      </p:sp>
      <p:pic>
        <p:nvPicPr>
          <p:cNvPr id="58" name="Picture 57" descr="image"/>
          <p:cNvPicPr>
            <a:picLocks noChangeAspect="1"/>
          </p:cNvPicPr>
          <p:nvPr/>
        </p:nvPicPr>
        <p:blipFill>
          <a:blip r:embed="rId5"/>
          <a:stretch>
            <a:fillRect/>
          </a:stretch>
        </p:blipFill>
        <p:spPr>
          <a:xfrm>
            <a:off x="469900" y="3611880"/>
            <a:ext cx="3700145" cy="2842895"/>
          </a:xfrm>
          <a:prstGeom prst="rect">
            <a:avLst/>
          </a:prstGeom>
        </p:spPr>
      </p:pic>
      <p:pic>
        <p:nvPicPr>
          <p:cNvPr id="59" name="Picture 58" descr="image(1)"/>
          <p:cNvPicPr>
            <a:picLocks noChangeAspect="1"/>
          </p:cNvPicPr>
          <p:nvPr/>
        </p:nvPicPr>
        <p:blipFill>
          <a:blip r:embed="rId6"/>
          <a:stretch>
            <a:fillRect/>
          </a:stretch>
        </p:blipFill>
        <p:spPr>
          <a:xfrm>
            <a:off x="4343400" y="3611880"/>
            <a:ext cx="3674110" cy="2933065"/>
          </a:xfrm>
          <a:prstGeom prst="rect">
            <a:avLst/>
          </a:prstGeom>
        </p:spPr>
      </p:pic>
      <p:pic>
        <p:nvPicPr>
          <p:cNvPr id="60" name="Picture 59" descr="image(2)"/>
          <p:cNvPicPr>
            <a:picLocks noChangeAspect="1"/>
          </p:cNvPicPr>
          <p:nvPr/>
        </p:nvPicPr>
        <p:blipFill>
          <a:blip r:embed="rId7"/>
          <a:stretch>
            <a:fillRect/>
          </a:stretch>
        </p:blipFill>
        <p:spPr>
          <a:xfrm>
            <a:off x="8271510" y="3611880"/>
            <a:ext cx="3121660" cy="29337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3E7"/>
        </a:solidFill>
        <a:effectLst/>
      </p:bgPr>
    </p:bg>
    <p:spTree>
      <p:nvGrpSpPr>
        <p:cNvPr id="1" name=""/>
        <p:cNvGrpSpPr/>
        <p:nvPr/>
      </p:nvGrpSpPr>
      <p:grpSpPr>
        <a:xfrm>
          <a:off x="0" y="0"/>
          <a:ext cx="0" cy="0"/>
          <a:chOff x="0" y="0"/>
          <a:chExt cx="0" cy="0"/>
        </a:xfrm>
      </p:grpSpPr>
      <p:sp>
        <p:nvSpPr>
          <p:cNvPr id="2" name="Text 0"/>
          <p:cNvSpPr/>
          <p:nvPr/>
        </p:nvSpPr>
        <p:spPr>
          <a:xfrm>
            <a:off x="502920" y="384048"/>
            <a:ext cx="9601200" cy="274320"/>
          </a:xfrm>
          <a:prstGeom prst="rect">
            <a:avLst/>
          </a:prstGeom>
          <a:noFill/>
        </p:spPr>
        <p:txBody>
          <a:bodyPr wrap="square" lIns="0" tIns="0" rIns="0" bIns="0" rtlCol="0" anchor="ctr"/>
          <a:lstStyle/>
          <a:p>
            <a:pPr marL="0" indent="0">
              <a:buNone/>
            </a:pPr>
            <a:r>
              <a:rPr lang="en-US" sz="1200" b="1" kern="0" spc="200" dirty="0">
                <a:solidFill>
                  <a:srgbClr val="A13D4C"/>
                </a:solidFill>
                <a:latin typeface="Calibri" panose="020F0502020204030204" pitchFamily="34" charset="0"/>
                <a:ea typeface="Calibri" panose="020F0502020204030204" pitchFamily="34" charset="-122"/>
                <a:cs typeface="Calibri" panose="020F0502020204030204" pitchFamily="34" charset="-120"/>
              </a:rPr>
              <a:t>CORE PROJECT</a:t>
            </a:r>
            <a:endParaRPr lang="en-US" sz="1200" dirty="0"/>
          </a:p>
        </p:txBody>
      </p:sp>
      <p:sp>
        <p:nvSpPr>
          <p:cNvPr id="3" name="Text 1"/>
          <p:cNvSpPr/>
          <p:nvPr/>
        </p:nvSpPr>
        <p:spPr>
          <a:xfrm>
            <a:off x="502920" y="658368"/>
            <a:ext cx="10515600" cy="566928"/>
          </a:xfrm>
          <a:prstGeom prst="rect">
            <a:avLst/>
          </a:prstGeom>
          <a:noFill/>
        </p:spPr>
        <p:txBody>
          <a:bodyPr wrap="square" lIns="0" tIns="0" rIns="0" bIns="0" rtlCol="0" anchor="ctr"/>
          <a:lstStyle/>
          <a:p>
            <a:pPr marL="0" indent="0">
              <a:buNone/>
            </a:pPr>
            <a:r>
              <a:rPr lang="en-US" sz="2700" b="1" dirty="0">
                <a:solidFill>
                  <a:srgbClr val="6E1423"/>
                </a:solidFill>
                <a:latin typeface="Cambria" panose="02040503050406030204" pitchFamily="34" charset="0"/>
                <a:ea typeface="Cambria" panose="02040503050406030204" pitchFamily="34" charset="-122"/>
                <a:cs typeface="Cambria" panose="02040503050406030204" pitchFamily="34" charset="-120"/>
              </a:rPr>
              <a:t>Product Part Pricing Automation</a:t>
            </a:r>
            <a:endParaRPr lang="en-US" sz="2700" dirty="0"/>
          </a:p>
        </p:txBody>
      </p:sp>
      <p:sp>
        <p:nvSpPr>
          <p:cNvPr id="4" name="Text 2"/>
          <p:cNvSpPr/>
          <p:nvPr/>
        </p:nvSpPr>
        <p:spPr>
          <a:xfrm>
            <a:off x="502920" y="6492240"/>
            <a:ext cx="4572000" cy="256032"/>
          </a:xfrm>
          <a:prstGeom prst="rect">
            <a:avLst/>
          </a:prstGeom>
          <a:noFill/>
        </p:spPr>
        <p:txBody>
          <a:bodyPr wrap="square" lIns="0" tIns="0" rIns="0" bIns="0" rtlCol="0" anchor="ctr"/>
          <a:lstStyle/>
          <a:p>
            <a:pPr marL="0" indent="0">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Ford Internship Experience</a:t>
            </a:r>
            <a:endParaRPr lang="en-US" sz="1000" dirty="0"/>
          </a:p>
        </p:txBody>
      </p:sp>
      <p:sp>
        <p:nvSpPr>
          <p:cNvPr id="5" name="Text 3"/>
          <p:cNvSpPr/>
          <p:nvPr/>
        </p:nvSpPr>
        <p:spPr>
          <a:xfrm>
            <a:off x="10725912" y="6492240"/>
            <a:ext cx="457200" cy="256032"/>
          </a:xfrm>
          <a:prstGeom prst="rect">
            <a:avLst/>
          </a:prstGeom>
          <a:noFill/>
        </p:spPr>
        <p:txBody>
          <a:bodyPr wrap="square" lIns="0" tIns="0" rIns="0" bIns="0" rtlCol="0" anchor="ctr"/>
          <a:lstStyle/>
          <a:p>
            <a:pPr marL="0" indent="0" algn="r">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07</a:t>
            </a:r>
            <a:endParaRPr lang="en-US" sz="1000" dirty="0"/>
          </a:p>
        </p:txBody>
      </p:sp>
      <p:sp>
        <p:nvSpPr>
          <p:cNvPr id="6" name="Text 4"/>
          <p:cNvSpPr/>
          <p:nvPr/>
        </p:nvSpPr>
        <p:spPr>
          <a:xfrm>
            <a:off x="502920" y="1298448"/>
            <a:ext cx="10789920" cy="457200"/>
          </a:xfrm>
          <a:prstGeom prst="rect">
            <a:avLst/>
          </a:prstGeom>
          <a:noFill/>
        </p:spPr>
        <p:txBody>
          <a:bodyPr wrap="square" lIns="0" tIns="0" rIns="0" bIns="0" rtlCol="0" anchor="t"/>
          <a:lstStyle/>
          <a:p>
            <a:pPr marL="0" indent="0">
              <a:lnSpc>
                <a:spcPct val="115000"/>
              </a:lnSpc>
              <a:buNone/>
            </a:pPr>
            <a:r>
              <a:rPr lang="en-US" sz="1250" dirty="0">
                <a:solidFill>
                  <a:srgbClr val="7D5A5E"/>
                </a:solidFill>
                <a:latin typeface="Calibri" panose="020F0502020204030204" pitchFamily="34" charset="0"/>
                <a:ea typeface="Calibri" panose="020F0502020204030204" pitchFamily="34" charset="-122"/>
                <a:cs typeface="Calibri" panose="020F0502020204030204" pitchFamily="34" charset="-120"/>
              </a:rPr>
              <a:t>The Problem — checking part prices on AutoZone and NAPA Auto Parts manually, part by part, is repetitive and does not scale across a large product catalog.</a:t>
            </a:r>
            <a:endParaRPr lang="en-US" sz="1250" dirty="0"/>
          </a:p>
        </p:txBody>
      </p:sp>
      <p:sp>
        <p:nvSpPr>
          <p:cNvPr id="7" name="Text 5"/>
          <p:cNvSpPr/>
          <p:nvPr/>
        </p:nvSpPr>
        <p:spPr>
          <a:xfrm>
            <a:off x="502920" y="1920240"/>
            <a:ext cx="3657600" cy="256032"/>
          </a:xfrm>
          <a:prstGeom prst="rect">
            <a:avLst/>
          </a:prstGeom>
          <a:noFill/>
        </p:spPr>
        <p:txBody>
          <a:bodyPr wrap="square" lIns="0" tIns="0" rIns="0" bIns="0" rtlCol="0" anchor="ctr"/>
          <a:lstStyle/>
          <a:p>
            <a:pPr marL="0" indent="0">
              <a:buNone/>
            </a:pPr>
            <a:r>
              <a:rPr lang="en-US" sz="1050" b="1" kern="0" spc="100" dirty="0">
                <a:solidFill>
                  <a:srgbClr val="A13D4C"/>
                </a:solidFill>
                <a:latin typeface="Calibri" panose="020F0502020204030204" pitchFamily="34" charset="0"/>
                <a:ea typeface="Calibri" panose="020F0502020204030204" pitchFamily="34" charset="-122"/>
                <a:cs typeface="Calibri" panose="020F0502020204030204" pitchFamily="34" charset="-120"/>
              </a:rPr>
              <a:t>WORKFLOW</a:t>
            </a:r>
            <a:endParaRPr lang="en-US" sz="1050" dirty="0"/>
          </a:p>
        </p:txBody>
      </p:sp>
      <p:sp>
        <p:nvSpPr>
          <p:cNvPr id="8" name="Shape 6"/>
          <p:cNvSpPr/>
          <p:nvPr/>
        </p:nvSpPr>
        <p:spPr>
          <a:xfrm>
            <a:off x="502920" y="2240280"/>
            <a:ext cx="1463040" cy="868680"/>
          </a:xfrm>
          <a:prstGeom prst="roundRect">
            <a:avLst>
              <a:gd name="adj" fmla="val 5263"/>
            </a:avLst>
          </a:prstGeom>
          <a:solidFill>
            <a:srgbClr val="F3E6E1"/>
          </a:solidFill>
          <a:ln w="12700">
            <a:solidFill>
              <a:srgbClr val="E3C9CC"/>
            </a:solidFill>
            <a:prstDash val="solid"/>
          </a:ln>
        </p:spPr>
      </p:sp>
      <p:sp>
        <p:nvSpPr>
          <p:cNvPr id="9" name="Text 7"/>
          <p:cNvSpPr/>
          <p:nvPr/>
        </p:nvSpPr>
        <p:spPr>
          <a:xfrm>
            <a:off x="502920" y="2240280"/>
            <a:ext cx="1463040" cy="868680"/>
          </a:xfrm>
          <a:prstGeom prst="rect">
            <a:avLst/>
          </a:prstGeom>
          <a:noFill/>
        </p:spPr>
        <p:txBody>
          <a:bodyPr wrap="square" lIns="25400" tIns="25400" rIns="25400" bIns="25400" rtlCol="0" anchor="ctr"/>
          <a:lstStyle/>
          <a:p>
            <a:pPr marL="0" indent="0" algn="ctr">
              <a:buNone/>
            </a:pPr>
            <a:r>
              <a:rPr lang="en-US" sz="900" b="1" dirty="0">
                <a:solidFill>
                  <a:srgbClr val="6E1423"/>
                </a:solidFill>
                <a:latin typeface="Calibri" panose="020F0502020204030204" pitchFamily="34" charset="0"/>
                <a:ea typeface="Calibri" panose="020F0502020204030204" pitchFamily="34" charset="-122"/>
                <a:cs typeface="Calibri" panose="020F0502020204030204" pitchFamily="34" charset="-120"/>
              </a:rPr>
              <a:t>Excel</a:t>
            </a:r>
            <a:endParaRPr lang="en-US" sz="900" dirty="0"/>
          </a:p>
          <a:p>
            <a:pPr marL="0" indent="0" algn="ctr">
              <a:buNone/>
            </a:pPr>
            <a:r>
              <a:rPr lang="en-US" sz="900" b="1" dirty="0">
                <a:solidFill>
                  <a:srgbClr val="6E1423"/>
                </a:solidFill>
                <a:latin typeface="Calibri" panose="020F0502020204030204" pitchFamily="34" charset="0"/>
                <a:ea typeface="Calibri" panose="020F0502020204030204" pitchFamily="34" charset="-122"/>
                <a:cs typeface="Calibri" panose="020F0502020204030204" pitchFamily="34" charset="-120"/>
              </a:rPr>
              <a:t>Input</a:t>
            </a:r>
            <a:endParaRPr lang="en-US" sz="900" dirty="0"/>
          </a:p>
        </p:txBody>
      </p:sp>
      <p:sp>
        <p:nvSpPr>
          <p:cNvPr id="10" name="Text 8"/>
          <p:cNvSpPr/>
          <p:nvPr/>
        </p:nvSpPr>
        <p:spPr>
          <a:xfrm>
            <a:off x="1965960" y="2240280"/>
            <a:ext cx="146304" cy="868680"/>
          </a:xfrm>
          <a:prstGeom prst="rect">
            <a:avLst/>
          </a:prstGeom>
          <a:noFill/>
        </p:spPr>
        <p:txBody>
          <a:bodyPr wrap="square" lIns="0" tIns="0" rIns="0" bIns="0" rtlCol="0" anchor="ctr"/>
          <a:lstStyle/>
          <a:p>
            <a:pPr marL="0" indent="0" algn="ctr">
              <a:buNone/>
            </a:pPr>
            <a:r>
              <a:rPr lang="en-US" sz="1500" b="1" dirty="0">
                <a:solidFill>
                  <a:srgbClr val="A13D4C"/>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11" name="Shape 9"/>
          <p:cNvSpPr/>
          <p:nvPr/>
        </p:nvSpPr>
        <p:spPr>
          <a:xfrm>
            <a:off x="2112264" y="2240280"/>
            <a:ext cx="1463040" cy="868680"/>
          </a:xfrm>
          <a:prstGeom prst="roundRect">
            <a:avLst>
              <a:gd name="adj" fmla="val 5263"/>
            </a:avLst>
          </a:prstGeom>
          <a:solidFill>
            <a:srgbClr val="F3E6E1"/>
          </a:solidFill>
          <a:ln w="12700">
            <a:solidFill>
              <a:srgbClr val="E3C9CC"/>
            </a:solidFill>
            <a:prstDash val="solid"/>
          </a:ln>
        </p:spPr>
      </p:sp>
      <p:sp>
        <p:nvSpPr>
          <p:cNvPr id="12" name="Text 10"/>
          <p:cNvSpPr/>
          <p:nvPr/>
        </p:nvSpPr>
        <p:spPr>
          <a:xfrm>
            <a:off x="2112264" y="2240280"/>
            <a:ext cx="1463040" cy="868680"/>
          </a:xfrm>
          <a:prstGeom prst="rect">
            <a:avLst/>
          </a:prstGeom>
          <a:noFill/>
        </p:spPr>
        <p:txBody>
          <a:bodyPr wrap="square" lIns="25400" tIns="25400" rIns="25400" bIns="25400" rtlCol="0" anchor="ctr"/>
          <a:lstStyle/>
          <a:p>
            <a:pPr marL="0" indent="0" algn="ctr">
              <a:buNone/>
            </a:pPr>
            <a:r>
              <a:rPr lang="en-US" sz="900" b="1" dirty="0">
                <a:solidFill>
                  <a:srgbClr val="6E1423"/>
                </a:solidFill>
                <a:latin typeface="Calibri" panose="020F0502020204030204" pitchFamily="34" charset="0"/>
                <a:ea typeface="Calibri" panose="020F0502020204030204" pitchFamily="34" charset="-122"/>
                <a:cs typeface="Calibri" panose="020F0502020204030204" pitchFamily="34" charset="-120"/>
              </a:rPr>
              <a:t>Read Part</a:t>
            </a:r>
            <a:endParaRPr lang="en-US" sz="900" dirty="0"/>
          </a:p>
          <a:p>
            <a:pPr marL="0" indent="0" algn="ctr">
              <a:buNone/>
            </a:pPr>
            <a:r>
              <a:rPr lang="en-US" sz="900" b="1" dirty="0">
                <a:solidFill>
                  <a:srgbClr val="6E1423"/>
                </a:solidFill>
                <a:latin typeface="Calibri" panose="020F0502020204030204" pitchFamily="34" charset="0"/>
                <a:ea typeface="Calibri" panose="020F0502020204030204" pitchFamily="34" charset="-122"/>
                <a:cs typeface="Calibri" panose="020F0502020204030204" pitchFamily="34" charset="-120"/>
              </a:rPr>
              <a:t>Number</a:t>
            </a:r>
            <a:endParaRPr lang="en-US" sz="900" dirty="0"/>
          </a:p>
        </p:txBody>
      </p:sp>
      <p:sp>
        <p:nvSpPr>
          <p:cNvPr id="13" name="Text 11"/>
          <p:cNvSpPr/>
          <p:nvPr/>
        </p:nvSpPr>
        <p:spPr>
          <a:xfrm>
            <a:off x="3575304" y="2240280"/>
            <a:ext cx="146304" cy="868680"/>
          </a:xfrm>
          <a:prstGeom prst="rect">
            <a:avLst/>
          </a:prstGeom>
          <a:noFill/>
        </p:spPr>
        <p:txBody>
          <a:bodyPr wrap="square" lIns="0" tIns="0" rIns="0" bIns="0" rtlCol="0" anchor="ctr"/>
          <a:lstStyle/>
          <a:p>
            <a:pPr marL="0" indent="0" algn="ctr">
              <a:buNone/>
            </a:pPr>
            <a:r>
              <a:rPr lang="en-US" sz="1500" b="1" dirty="0">
                <a:solidFill>
                  <a:srgbClr val="A13D4C"/>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14" name="Shape 12"/>
          <p:cNvSpPr/>
          <p:nvPr/>
        </p:nvSpPr>
        <p:spPr>
          <a:xfrm>
            <a:off x="3721608" y="2240280"/>
            <a:ext cx="1463040" cy="868680"/>
          </a:xfrm>
          <a:prstGeom prst="roundRect">
            <a:avLst>
              <a:gd name="adj" fmla="val 5263"/>
            </a:avLst>
          </a:prstGeom>
          <a:solidFill>
            <a:srgbClr val="F3E6E1"/>
          </a:solidFill>
          <a:ln w="12700">
            <a:solidFill>
              <a:srgbClr val="E3C9CC"/>
            </a:solidFill>
            <a:prstDash val="solid"/>
          </a:ln>
        </p:spPr>
      </p:sp>
      <p:sp>
        <p:nvSpPr>
          <p:cNvPr id="15" name="Text 13"/>
          <p:cNvSpPr/>
          <p:nvPr/>
        </p:nvSpPr>
        <p:spPr>
          <a:xfrm>
            <a:off x="3721608" y="2240280"/>
            <a:ext cx="1463040" cy="868680"/>
          </a:xfrm>
          <a:prstGeom prst="rect">
            <a:avLst/>
          </a:prstGeom>
          <a:noFill/>
        </p:spPr>
        <p:txBody>
          <a:bodyPr wrap="square" lIns="25400" tIns="25400" rIns="25400" bIns="25400" rtlCol="0" anchor="ctr"/>
          <a:lstStyle/>
          <a:p>
            <a:pPr marL="0" indent="0" algn="ctr">
              <a:buNone/>
            </a:pPr>
            <a:r>
              <a:rPr lang="en-US" sz="900" b="1" dirty="0">
                <a:solidFill>
                  <a:srgbClr val="6E1423"/>
                </a:solidFill>
                <a:latin typeface="Calibri" panose="020F0502020204030204" pitchFamily="34" charset="0"/>
                <a:ea typeface="Calibri" panose="020F0502020204030204" pitchFamily="34" charset="-122"/>
                <a:cs typeface="Calibri" panose="020F0502020204030204" pitchFamily="34" charset="-120"/>
              </a:rPr>
              <a:t>Generate</a:t>
            </a:r>
            <a:endParaRPr lang="en-US" sz="900" dirty="0"/>
          </a:p>
          <a:p>
            <a:pPr marL="0" indent="0" algn="ctr">
              <a:buNone/>
            </a:pPr>
            <a:r>
              <a:rPr lang="en-US" sz="900" b="1" dirty="0">
                <a:solidFill>
                  <a:srgbClr val="6E1423"/>
                </a:solidFill>
                <a:latin typeface="Calibri" panose="020F0502020204030204" pitchFamily="34" charset="0"/>
                <a:ea typeface="Calibri" panose="020F0502020204030204" pitchFamily="34" charset="-122"/>
                <a:cs typeface="Calibri" panose="020F0502020204030204" pitchFamily="34" charset="-120"/>
              </a:rPr>
              <a:t>Search URL</a:t>
            </a:r>
            <a:endParaRPr lang="en-US" sz="900" dirty="0"/>
          </a:p>
        </p:txBody>
      </p:sp>
      <p:sp>
        <p:nvSpPr>
          <p:cNvPr id="16" name="Text 14"/>
          <p:cNvSpPr/>
          <p:nvPr/>
        </p:nvSpPr>
        <p:spPr>
          <a:xfrm>
            <a:off x="5184648" y="2240280"/>
            <a:ext cx="146304" cy="868680"/>
          </a:xfrm>
          <a:prstGeom prst="rect">
            <a:avLst/>
          </a:prstGeom>
          <a:noFill/>
        </p:spPr>
        <p:txBody>
          <a:bodyPr wrap="square" lIns="0" tIns="0" rIns="0" bIns="0" rtlCol="0" anchor="ctr"/>
          <a:lstStyle/>
          <a:p>
            <a:pPr marL="0" indent="0" algn="ctr">
              <a:buNone/>
            </a:pPr>
            <a:r>
              <a:rPr lang="en-US" sz="1500" b="1" dirty="0">
                <a:solidFill>
                  <a:srgbClr val="A13D4C"/>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17" name="Shape 15"/>
          <p:cNvSpPr/>
          <p:nvPr/>
        </p:nvSpPr>
        <p:spPr>
          <a:xfrm>
            <a:off x="5330952" y="2240280"/>
            <a:ext cx="1463040" cy="868680"/>
          </a:xfrm>
          <a:prstGeom prst="roundRect">
            <a:avLst>
              <a:gd name="adj" fmla="val 5263"/>
            </a:avLst>
          </a:prstGeom>
          <a:solidFill>
            <a:srgbClr val="F3E6E1"/>
          </a:solidFill>
          <a:ln w="12700">
            <a:solidFill>
              <a:srgbClr val="E3C9CC"/>
            </a:solidFill>
            <a:prstDash val="solid"/>
          </a:ln>
        </p:spPr>
      </p:sp>
      <p:sp>
        <p:nvSpPr>
          <p:cNvPr id="18" name="Text 16"/>
          <p:cNvSpPr/>
          <p:nvPr/>
        </p:nvSpPr>
        <p:spPr>
          <a:xfrm>
            <a:off x="5330952" y="2240280"/>
            <a:ext cx="1463040" cy="868680"/>
          </a:xfrm>
          <a:prstGeom prst="rect">
            <a:avLst/>
          </a:prstGeom>
          <a:noFill/>
        </p:spPr>
        <p:txBody>
          <a:bodyPr wrap="square" lIns="25400" tIns="25400" rIns="25400" bIns="25400" rtlCol="0" anchor="ctr"/>
          <a:lstStyle/>
          <a:p>
            <a:pPr marL="0" indent="0" algn="ctr">
              <a:buNone/>
            </a:pPr>
            <a:r>
              <a:rPr lang="en-US" sz="900" b="1" dirty="0">
                <a:solidFill>
                  <a:srgbClr val="6E1423"/>
                </a:solidFill>
                <a:latin typeface="Calibri" panose="020F0502020204030204" pitchFamily="34" charset="0"/>
                <a:ea typeface="Calibri" panose="020F0502020204030204" pitchFamily="34" charset="-122"/>
                <a:cs typeface="Calibri" panose="020F0502020204030204" pitchFamily="34" charset="-120"/>
              </a:rPr>
              <a:t>Search</a:t>
            </a:r>
            <a:endParaRPr lang="en-US" sz="900" dirty="0"/>
          </a:p>
          <a:p>
            <a:pPr marL="0" indent="0" algn="ctr">
              <a:buNone/>
            </a:pPr>
            <a:r>
              <a:rPr lang="en-US" sz="800" b="1" dirty="0">
                <a:solidFill>
                  <a:srgbClr val="6E1423"/>
                </a:solidFill>
                <a:latin typeface="Calibri" panose="020F0502020204030204" pitchFamily="34" charset="0"/>
                <a:ea typeface="Calibri" panose="020F0502020204030204" pitchFamily="34" charset="-122"/>
                <a:cs typeface="Calibri" panose="020F0502020204030204" pitchFamily="34" charset="-120"/>
              </a:rPr>
              <a:t>AutoZone/NAPA</a:t>
            </a:r>
            <a:endParaRPr lang="en-US" sz="900" dirty="0"/>
          </a:p>
        </p:txBody>
      </p:sp>
      <p:sp>
        <p:nvSpPr>
          <p:cNvPr id="19" name="Text 17"/>
          <p:cNvSpPr/>
          <p:nvPr/>
        </p:nvSpPr>
        <p:spPr>
          <a:xfrm>
            <a:off x="6793992" y="2240280"/>
            <a:ext cx="146304" cy="868680"/>
          </a:xfrm>
          <a:prstGeom prst="rect">
            <a:avLst/>
          </a:prstGeom>
          <a:noFill/>
        </p:spPr>
        <p:txBody>
          <a:bodyPr wrap="square" lIns="0" tIns="0" rIns="0" bIns="0" rtlCol="0" anchor="ctr"/>
          <a:lstStyle/>
          <a:p>
            <a:pPr marL="0" indent="0" algn="ctr">
              <a:buNone/>
            </a:pPr>
            <a:r>
              <a:rPr lang="en-US" sz="1500" b="1" dirty="0">
                <a:solidFill>
                  <a:srgbClr val="A13D4C"/>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20" name="Shape 18"/>
          <p:cNvSpPr/>
          <p:nvPr/>
        </p:nvSpPr>
        <p:spPr>
          <a:xfrm>
            <a:off x="6940296" y="2240280"/>
            <a:ext cx="1463040" cy="868680"/>
          </a:xfrm>
          <a:prstGeom prst="roundRect">
            <a:avLst>
              <a:gd name="adj" fmla="val 5263"/>
            </a:avLst>
          </a:prstGeom>
          <a:solidFill>
            <a:srgbClr val="F3E6E1"/>
          </a:solidFill>
          <a:ln w="12700">
            <a:solidFill>
              <a:srgbClr val="E3C9CC"/>
            </a:solidFill>
            <a:prstDash val="solid"/>
          </a:ln>
        </p:spPr>
      </p:sp>
      <p:sp>
        <p:nvSpPr>
          <p:cNvPr id="21" name="Text 19"/>
          <p:cNvSpPr/>
          <p:nvPr/>
        </p:nvSpPr>
        <p:spPr>
          <a:xfrm>
            <a:off x="6940296" y="2240280"/>
            <a:ext cx="1463040" cy="868680"/>
          </a:xfrm>
          <a:prstGeom prst="rect">
            <a:avLst/>
          </a:prstGeom>
          <a:noFill/>
        </p:spPr>
        <p:txBody>
          <a:bodyPr wrap="square" lIns="25400" tIns="25400" rIns="25400" bIns="25400" rtlCol="0" anchor="ctr"/>
          <a:lstStyle/>
          <a:p>
            <a:pPr marL="0" indent="0" algn="ctr">
              <a:buNone/>
            </a:pPr>
            <a:r>
              <a:rPr lang="en-US" sz="900" b="1" dirty="0">
                <a:solidFill>
                  <a:srgbClr val="6E1423"/>
                </a:solidFill>
                <a:latin typeface="Calibri" panose="020F0502020204030204" pitchFamily="34" charset="0"/>
                <a:ea typeface="Calibri" panose="020F0502020204030204" pitchFamily="34" charset="-122"/>
                <a:cs typeface="Calibri" panose="020F0502020204030204" pitchFamily="34" charset="-120"/>
              </a:rPr>
              <a:t>Retrieve</a:t>
            </a:r>
            <a:endParaRPr lang="en-US" sz="900" dirty="0"/>
          </a:p>
          <a:p>
            <a:pPr marL="0" indent="0" algn="ctr">
              <a:buNone/>
            </a:pPr>
            <a:r>
              <a:rPr lang="en-US" sz="900" b="1" dirty="0">
                <a:solidFill>
                  <a:srgbClr val="6E1423"/>
                </a:solidFill>
                <a:latin typeface="Calibri" panose="020F0502020204030204" pitchFamily="34" charset="0"/>
                <a:ea typeface="Calibri" panose="020F0502020204030204" pitchFamily="34" charset="-122"/>
                <a:cs typeface="Calibri" panose="020F0502020204030204" pitchFamily="34" charset="-120"/>
              </a:rPr>
              <a:t>Product Price</a:t>
            </a:r>
            <a:endParaRPr lang="en-US" sz="900" dirty="0"/>
          </a:p>
        </p:txBody>
      </p:sp>
      <p:sp>
        <p:nvSpPr>
          <p:cNvPr id="22" name="Text 20"/>
          <p:cNvSpPr/>
          <p:nvPr/>
        </p:nvSpPr>
        <p:spPr>
          <a:xfrm>
            <a:off x="8403336" y="2240280"/>
            <a:ext cx="146304" cy="868680"/>
          </a:xfrm>
          <a:prstGeom prst="rect">
            <a:avLst/>
          </a:prstGeom>
          <a:noFill/>
        </p:spPr>
        <p:txBody>
          <a:bodyPr wrap="square" lIns="0" tIns="0" rIns="0" bIns="0" rtlCol="0" anchor="ctr"/>
          <a:lstStyle/>
          <a:p>
            <a:pPr marL="0" indent="0" algn="ctr">
              <a:buNone/>
            </a:pPr>
            <a:r>
              <a:rPr lang="en-US" sz="1500" b="1" dirty="0">
                <a:solidFill>
                  <a:srgbClr val="A13D4C"/>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23" name="Shape 21"/>
          <p:cNvSpPr/>
          <p:nvPr/>
        </p:nvSpPr>
        <p:spPr>
          <a:xfrm>
            <a:off x="8549640" y="2240280"/>
            <a:ext cx="1463040" cy="868680"/>
          </a:xfrm>
          <a:prstGeom prst="roundRect">
            <a:avLst>
              <a:gd name="adj" fmla="val 5263"/>
            </a:avLst>
          </a:prstGeom>
          <a:solidFill>
            <a:srgbClr val="F3E6E1"/>
          </a:solidFill>
          <a:ln w="12700">
            <a:solidFill>
              <a:srgbClr val="E3C9CC"/>
            </a:solidFill>
            <a:prstDash val="solid"/>
          </a:ln>
        </p:spPr>
      </p:sp>
      <p:sp>
        <p:nvSpPr>
          <p:cNvPr id="24" name="Text 22"/>
          <p:cNvSpPr/>
          <p:nvPr/>
        </p:nvSpPr>
        <p:spPr>
          <a:xfrm>
            <a:off x="8549640" y="2240280"/>
            <a:ext cx="1463040" cy="868680"/>
          </a:xfrm>
          <a:prstGeom prst="rect">
            <a:avLst/>
          </a:prstGeom>
          <a:noFill/>
        </p:spPr>
        <p:txBody>
          <a:bodyPr wrap="square" lIns="25400" tIns="25400" rIns="25400" bIns="25400" rtlCol="0" anchor="ctr"/>
          <a:lstStyle/>
          <a:p>
            <a:pPr marL="0" indent="0" algn="ctr">
              <a:buNone/>
            </a:pPr>
            <a:r>
              <a:rPr lang="en-US" sz="900" b="1" dirty="0">
                <a:solidFill>
                  <a:srgbClr val="6E1423"/>
                </a:solidFill>
                <a:latin typeface="Calibri" panose="020F0502020204030204" pitchFamily="34" charset="0"/>
                <a:ea typeface="Calibri" panose="020F0502020204030204" pitchFamily="34" charset="-122"/>
                <a:cs typeface="Calibri" panose="020F0502020204030204" pitchFamily="34" charset="-120"/>
              </a:rPr>
              <a:t>Generate</a:t>
            </a:r>
            <a:endParaRPr lang="en-US" sz="900" dirty="0"/>
          </a:p>
          <a:p>
            <a:pPr marL="0" indent="0" algn="ctr">
              <a:buNone/>
            </a:pPr>
            <a:r>
              <a:rPr lang="en-US" sz="900" b="1" dirty="0">
                <a:solidFill>
                  <a:srgbClr val="6E1423"/>
                </a:solidFill>
                <a:latin typeface="Calibri" panose="020F0502020204030204" pitchFamily="34" charset="0"/>
                <a:ea typeface="Calibri" panose="020F0502020204030204" pitchFamily="34" charset="-122"/>
                <a:cs typeface="Calibri" panose="020F0502020204030204" pitchFamily="34" charset="-120"/>
              </a:rPr>
              <a:t>Excel Report</a:t>
            </a:r>
            <a:endParaRPr lang="en-US" sz="900" dirty="0"/>
          </a:p>
        </p:txBody>
      </p:sp>
      <p:sp>
        <p:nvSpPr>
          <p:cNvPr id="25" name="Text 23"/>
          <p:cNvSpPr/>
          <p:nvPr/>
        </p:nvSpPr>
        <p:spPr>
          <a:xfrm>
            <a:off x="10012680" y="2240280"/>
            <a:ext cx="146304" cy="868680"/>
          </a:xfrm>
          <a:prstGeom prst="rect">
            <a:avLst/>
          </a:prstGeom>
          <a:noFill/>
        </p:spPr>
        <p:txBody>
          <a:bodyPr wrap="square" lIns="0" tIns="0" rIns="0" bIns="0" rtlCol="0" anchor="ctr"/>
          <a:lstStyle/>
          <a:p>
            <a:pPr marL="0" indent="0" algn="ctr">
              <a:buNone/>
            </a:pPr>
            <a:r>
              <a:rPr lang="en-US" sz="1500" b="1" dirty="0">
                <a:solidFill>
                  <a:srgbClr val="A13D4C"/>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26" name="Shape 24"/>
          <p:cNvSpPr/>
          <p:nvPr/>
        </p:nvSpPr>
        <p:spPr>
          <a:xfrm>
            <a:off x="10158984" y="2240280"/>
            <a:ext cx="1463040" cy="868680"/>
          </a:xfrm>
          <a:prstGeom prst="roundRect">
            <a:avLst>
              <a:gd name="adj" fmla="val 5263"/>
            </a:avLst>
          </a:prstGeom>
          <a:solidFill>
            <a:srgbClr val="F3E6E1"/>
          </a:solidFill>
          <a:ln w="12700">
            <a:solidFill>
              <a:srgbClr val="E3C9CC"/>
            </a:solidFill>
            <a:prstDash val="solid"/>
          </a:ln>
        </p:spPr>
      </p:sp>
      <p:sp>
        <p:nvSpPr>
          <p:cNvPr id="27" name="Text 25"/>
          <p:cNvSpPr/>
          <p:nvPr/>
        </p:nvSpPr>
        <p:spPr>
          <a:xfrm>
            <a:off x="10158984" y="2240280"/>
            <a:ext cx="1463040" cy="868680"/>
          </a:xfrm>
          <a:prstGeom prst="rect">
            <a:avLst/>
          </a:prstGeom>
          <a:noFill/>
        </p:spPr>
        <p:txBody>
          <a:bodyPr wrap="square" lIns="25400" tIns="25400" rIns="25400" bIns="25400" rtlCol="0" anchor="ctr"/>
          <a:lstStyle/>
          <a:p>
            <a:pPr marL="0" indent="0" algn="ctr">
              <a:buNone/>
            </a:pPr>
            <a:r>
              <a:rPr lang="en-US" sz="900" b="1" dirty="0">
                <a:solidFill>
                  <a:srgbClr val="6E1423"/>
                </a:solidFill>
                <a:latin typeface="Calibri" panose="020F0502020204030204" pitchFamily="34" charset="0"/>
                <a:ea typeface="Calibri" panose="020F0502020204030204" pitchFamily="34" charset="-122"/>
                <a:cs typeface="Calibri" panose="020F0502020204030204" pitchFamily="34" charset="-120"/>
              </a:rPr>
              <a:t>Generate</a:t>
            </a:r>
            <a:endParaRPr lang="en-US" sz="900" dirty="0"/>
          </a:p>
          <a:p>
            <a:pPr marL="0" indent="0" algn="ctr">
              <a:buNone/>
            </a:pPr>
            <a:r>
              <a:rPr lang="en-US" sz="900" b="1" dirty="0">
                <a:solidFill>
                  <a:srgbClr val="6E1423"/>
                </a:solidFill>
                <a:latin typeface="Calibri" panose="020F0502020204030204" pitchFamily="34" charset="0"/>
                <a:ea typeface="Calibri" panose="020F0502020204030204" pitchFamily="34" charset="-122"/>
                <a:cs typeface="Calibri" panose="020F0502020204030204" pitchFamily="34" charset="-120"/>
              </a:rPr>
              <a:t>JSON Output</a:t>
            </a:r>
            <a:endParaRPr lang="en-US" sz="900" dirty="0"/>
          </a:p>
        </p:txBody>
      </p:sp>
      <p:sp>
        <p:nvSpPr>
          <p:cNvPr id="28" name="Text 26"/>
          <p:cNvSpPr/>
          <p:nvPr/>
        </p:nvSpPr>
        <p:spPr>
          <a:xfrm>
            <a:off x="502920" y="3429000"/>
            <a:ext cx="3657600" cy="256032"/>
          </a:xfrm>
          <a:prstGeom prst="rect">
            <a:avLst/>
          </a:prstGeom>
          <a:noFill/>
        </p:spPr>
        <p:txBody>
          <a:bodyPr wrap="square" lIns="0" tIns="0" rIns="0" bIns="0" rtlCol="0" anchor="ctr"/>
          <a:lstStyle/>
          <a:p>
            <a:pPr marL="0" indent="0">
              <a:buNone/>
            </a:pPr>
            <a:r>
              <a:rPr lang="en-US" sz="1050" b="1" kern="0" spc="100" dirty="0">
                <a:solidFill>
                  <a:srgbClr val="A13D4C"/>
                </a:solidFill>
                <a:latin typeface="Calibri" panose="020F0502020204030204" pitchFamily="34" charset="0"/>
                <a:ea typeface="Calibri" panose="020F0502020204030204" pitchFamily="34" charset="-122"/>
                <a:cs typeface="Calibri" panose="020F0502020204030204" pitchFamily="34" charset="-120"/>
              </a:rPr>
              <a:t>OUTPUTS</a:t>
            </a:r>
            <a:endParaRPr lang="en-US" sz="1050" dirty="0"/>
          </a:p>
        </p:txBody>
      </p:sp>
      <p:sp>
        <p:nvSpPr>
          <p:cNvPr id="29" name="Shape 27"/>
          <p:cNvSpPr/>
          <p:nvPr/>
        </p:nvSpPr>
        <p:spPr>
          <a:xfrm>
            <a:off x="502920" y="3749040"/>
            <a:ext cx="3502152" cy="1737360"/>
          </a:xfrm>
          <a:prstGeom prst="roundRect">
            <a:avLst>
              <a:gd name="adj" fmla="val 2632"/>
            </a:avLst>
          </a:prstGeom>
          <a:solidFill>
            <a:srgbClr val="FFFFFF"/>
          </a:solidFill>
          <a:ln w="12700">
            <a:solidFill>
              <a:srgbClr val="C9A3A8"/>
            </a:solidFill>
            <a:prstDash val="dash"/>
          </a:ln>
        </p:spPr>
      </p:sp>
      <p:sp>
        <p:nvSpPr>
          <p:cNvPr id="30" name="Text 28"/>
          <p:cNvSpPr/>
          <p:nvPr/>
        </p:nvSpPr>
        <p:spPr>
          <a:xfrm>
            <a:off x="502920" y="3749040"/>
            <a:ext cx="3502152" cy="1737360"/>
          </a:xfrm>
          <a:prstGeom prst="rect">
            <a:avLst/>
          </a:prstGeom>
          <a:noFill/>
        </p:spPr>
        <p:txBody>
          <a:bodyPr wrap="square" lIns="0" tIns="0" rIns="0" bIns="0" rtlCol="0" anchor="ctr"/>
          <a:lstStyle/>
          <a:p>
            <a:pPr marL="0" indent="0" algn="ctr">
              <a:buNone/>
            </a:pPr>
            <a:r>
              <a:rPr lang="en-US" sz="1050" i="1" dirty="0">
                <a:solidFill>
                  <a:srgbClr val="7D5A5E"/>
                </a:solidFill>
                <a:latin typeface="Calibri" panose="020F0502020204030204" pitchFamily="34" charset="0"/>
                <a:ea typeface="Calibri" panose="020F0502020204030204" pitchFamily="34" charset="-122"/>
                <a:cs typeface="Calibri" panose="020F0502020204030204" pitchFamily="34" charset="-120"/>
              </a:rPr>
              <a:t>&lt;&lt; Automation Code &gt;&gt;</a:t>
            </a:r>
            <a:endParaRPr lang="en-US" sz="1050" dirty="0"/>
          </a:p>
        </p:txBody>
      </p:sp>
      <p:sp>
        <p:nvSpPr>
          <p:cNvPr id="31" name="Shape 29"/>
          <p:cNvSpPr/>
          <p:nvPr/>
        </p:nvSpPr>
        <p:spPr>
          <a:xfrm>
            <a:off x="4142232" y="3749040"/>
            <a:ext cx="3502152" cy="1737360"/>
          </a:xfrm>
          <a:prstGeom prst="roundRect">
            <a:avLst>
              <a:gd name="adj" fmla="val 2632"/>
            </a:avLst>
          </a:prstGeom>
          <a:solidFill>
            <a:srgbClr val="FFFFFF"/>
          </a:solidFill>
          <a:ln w="12700">
            <a:solidFill>
              <a:srgbClr val="C9A3A8"/>
            </a:solidFill>
            <a:prstDash val="dash"/>
          </a:ln>
        </p:spPr>
      </p:sp>
      <p:sp>
        <p:nvSpPr>
          <p:cNvPr id="32" name="Text 30"/>
          <p:cNvSpPr/>
          <p:nvPr/>
        </p:nvSpPr>
        <p:spPr>
          <a:xfrm>
            <a:off x="4142232" y="3749040"/>
            <a:ext cx="3502152" cy="1737360"/>
          </a:xfrm>
          <a:prstGeom prst="rect">
            <a:avLst/>
          </a:prstGeom>
          <a:noFill/>
        </p:spPr>
        <p:txBody>
          <a:bodyPr wrap="square" lIns="0" tIns="0" rIns="0" bIns="0" rtlCol="0" anchor="ctr"/>
          <a:lstStyle/>
          <a:p>
            <a:pPr marL="0" indent="0" algn="ctr">
              <a:buNone/>
            </a:pPr>
            <a:r>
              <a:rPr lang="en-US" sz="1050" i="1" dirty="0">
                <a:solidFill>
                  <a:srgbClr val="7D5A5E"/>
                </a:solidFill>
                <a:latin typeface="Calibri" panose="020F0502020204030204" pitchFamily="34" charset="0"/>
                <a:ea typeface="Calibri" panose="020F0502020204030204" pitchFamily="34" charset="-122"/>
                <a:cs typeface="Calibri" panose="020F0502020204030204" pitchFamily="34" charset="-120"/>
              </a:rPr>
              <a:t>&lt;&lt; Exce</a:t>
            </a:r>
            <a:endParaRPr lang="en-US" sz="1050" dirty="0"/>
          </a:p>
        </p:txBody>
      </p:sp>
      <p:sp>
        <p:nvSpPr>
          <p:cNvPr id="33" name="Shape 31"/>
          <p:cNvSpPr/>
          <p:nvPr/>
        </p:nvSpPr>
        <p:spPr>
          <a:xfrm>
            <a:off x="7781544" y="3749040"/>
            <a:ext cx="3502152" cy="1737360"/>
          </a:xfrm>
          <a:prstGeom prst="roundRect">
            <a:avLst>
              <a:gd name="adj" fmla="val 2632"/>
            </a:avLst>
          </a:prstGeom>
          <a:solidFill>
            <a:srgbClr val="FFFFFF"/>
          </a:solidFill>
          <a:ln w="12700">
            <a:solidFill>
              <a:srgbClr val="C9A3A8"/>
            </a:solidFill>
            <a:prstDash val="dash"/>
          </a:ln>
        </p:spPr>
      </p:sp>
      <p:sp>
        <p:nvSpPr>
          <p:cNvPr id="34" name="Text 32"/>
          <p:cNvSpPr/>
          <p:nvPr/>
        </p:nvSpPr>
        <p:spPr>
          <a:xfrm>
            <a:off x="7781544" y="3749040"/>
            <a:ext cx="3502152" cy="1737360"/>
          </a:xfrm>
          <a:prstGeom prst="rect">
            <a:avLst/>
          </a:prstGeom>
          <a:noFill/>
        </p:spPr>
        <p:txBody>
          <a:bodyPr wrap="square" lIns="0" tIns="0" rIns="0" bIns="0" rtlCol="0" anchor="ctr"/>
          <a:lstStyle/>
          <a:p>
            <a:pPr marL="0" indent="0" algn="ctr">
              <a:buNone/>
            </a:pPr>
            <a:r>
              <a:rPr lang="en-US" sz="1050" i="1" dirty="0">
                <a:solidFill>
                  <a:srgbClr val="7D5A5E"/>
                </a:solidFill>
                <a:latin typeface="Calibri" panose="020F0502020204030204" pitchFamily="34" charset="0"/>
                <a:ea typeface="Calibri" panose="020F0502020204030204" pitchFamily="34" charset="-122"/>
                <a:cs typeface="Calibri" panose="020F0502020204030204" pitchFamily="34" charset="-120"/>
              </a:rPr>
              <a:t>&lt;&lt; JSON Output &gt;&gt;</a:t>
            </a:r>
            <a:endParaRPr lang="en-US" sz="1050" dirty="0"/>
          </a:p>
        </p:txBody>
      </p:sp>
      <p:pic>
        <p:nvPicPr>
          <p:cNvPr id="37" name="Picture 3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92967" y="3628414"/>
            <a:ext cx="3829057" cy="2124916"/>
          </a:xfrm>
          <a:prstGeom prst="rect">
            <a:avLst/>
          </a:prstGeom>
        </p:spPr>
      </p:pic>
      <p:pic>
        <p:nvPicPr>
          <p:cNvPr id="38" name="Picture 3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60520" y="3647803"/>
            <a:ext cx="3483863" cy="2086138"/>
          </a:xfrm>
          <a:prstGeom prst="rect">
            <a:avLst/>
          </a:prstGeom>
        </p:spPr>
      </p:pic>
      <p:pic>
        <p:nvPicPr>
          <p:cNvPr id="39" name="Picture 3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4831" y="3647804"/>
            <a:ext cx="3488817" cy="208613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3E7"/>
        </a:solidFill>
        <a:effectLst/>
      </p:bgPr>
    </p:bg>
    <p:spTree>
      <p:nvGrpSpPr>
        <p:cNvPr id="1" name=""/>
        <p:cNvGrpSpPr/>
        <p:nvPr/>
      </p:nvGrpSpPr>
      <p:grpSpPr>
        <a:xfrm>
          <a:off x="0" y="0"/>
          <a:ext cx="0" cy="0"/>
          <a:chOff x="0" y="0"/>
          <a:chExt cx="0" cy="0"/>
        </a:xfrm>
      </p:grpSpPr>
      <p:sp>
        <p:nvSpPr>
          <p:cNvPr id="101" name="Text"/>
          <p:cNvSpPr/>
          <p:nvPr/>
        </p:nvSpPr>
        <p:spPr>
          <a:xfrm>
            <a:off x="502920" y="314048"/>
            <a:ext cx="9601200" cy="285392"/>
          </a:xfrm>
          <a:prstGeom prst="rect">
            <a:avLst/>
          </a:prstGeom>
          <a:noFill/>
        </p:spPr>
        <p:txBody>
          <a:bodyPr wrap="square" lIns="0" tIns="0" rIns="0" bIns="0" rtlCol="0" anchor="ctr"/>
          <a:lstStyle/>
          <a:p>
            <a:pPr marL="0" indent="0" algn="l">
              <a:buNone/>
            </a:pPr>
            <a:r>
              <a:rPr lang="en-US" sz="1100" b="1" spc="180" dirty="0">
                <a:solidFill>
                  <a:srgbClr val="A13D4C"/>
                </a:solidFill>
                <a:latin typeface="Calibri"/>
                <a:cs typeface="Calibri"/>
              </a:rPr>
              <a:t>SCRAPING AUTOMATION</a:t>
            </a:r>
          </a:p>
        </p:txBody>
      </p:sp>
      <p:sp>
        <p:nvSpPr>
          <p:cNvPr id="102" name="Text"/>
          <p:cNvSpPr/>
          <p:nvPr/>
        </p:nvSpPr>
        <p:spPr>
          <a:xfrm>
            <a:off x="502920" y="672786"/>
            <a:ext cx="10515600" cy="500000"/>
          </a:xfrm>
          <a:prstGeom prst="rect">
            <a:avLst/>
          </a:prstGeom>
          <a:noFill/>
        </p:spPr>
        <p:txBody>
          <a:bodyPr wrap="square" lIns="0" tIns="0" rIns="0" bIns="0" rtlCol="0" anchor="ctr"/>
          <a:lstStyle/>
          <a:p>
            <a:pPr marL="0" indent="0" algn="l">
              <a:buNone/>
            </a:pPr>
            <a:r>
              <a:rPr lang="en-US" sz="2600" b="1" dirty="0">
                <a:solidFill>
                  <a:srgbClr val="6E1423"/>
                </a:solidFill>
                <a:latin typeface="Cambria"/>
                <a:cs typeface="Cambria"/>
              </a:rPr>
              <a:t>AutoZone Scraping Analysis</a:t>
            </a:r>
          </a:p>
        </p:txBody>
      </p:sp>
      <p:sp>
        <p:nvSpPr>
          <p:cNvPr id="103" name="Text"/>
          <p:cNvSpPr/>
          <p:nvPr/>
        </p:nvSpPr>
        <p:spPr>
          <a:xfrm>
            <a:off x="502920" y="1128368"/>
            <a:ext cx="10515600" cy="320000"/>
          </a:xfrm>
          <a:prstGeom prst="rect">
            <a:avLst/>
          </a:prstGeom>
          <a:noFill/>
        </p:spPr>
        <p:txBody>
          <a:bodyPr wrap="square" lIns="0" tIns="0" rIns="0" bIns="0" rtlCol="0" anchor="ctr"/>
          <a:lstStyle/>
          <a:p>
            <a:pPr marL="0" indent="0" algn="l">
              <a:buNone/>
            </a:pPr>
            <a:r>
              <a:rPr lang="en-US" sz="1300" i="1" dirty="0">
                <a:solidFill>
                  <a:srgbClr val="7D5A5E"/>
                </a:solidFill>
                <a:latin typeface="Calibri"/>
                <a:cs typeface="Calibri"/>
              </a:rPr>
              <a:t>Apify-Based Price Automation</a:t>
            </a:r>
          </a:p>
        </p:txBody>
      </p:sp>
      <p:sp>
        <p:nvSpPr>
          <p:cNvPr id="104" name="Text"/>
          <p:cNvSpPr/>
          <p:nvPr/>
        </p:nvSpPr>
        <p:spPr>
          <a:xfrm>
            <a:off x="502920" y="6492240"/>
            <a:ext cx="4572000" cy="256032"/>
          </a:xfrm>
          <a:prstGeom prst="rect">
            <a:avLst/>
          </a:prstGeom>
          <a:noFill/>
        </p:spPr>
        <p:txBody>
          <a:bodyPr wrap="square" lIns="0" tIns="0" rIns="0" bIns="0" rtlCol="0" anchor="ctr"/>
          <a:lstStyle/>
          <a:p>
            <a:pPr marL="0" indent="0" algn="l">
              <a:buNone/>
            </a:pPr>
            <a:r>
              <a:rPr lang="en-US" sz="1000" dirty="0">
                <a:solidFill>
                  <a:srgbClr val="7D5A5E"/>
                </a:solidFill>
                <a:latin typeface="Calibri"/>
                <a:cs typeface="Calibri"/>
              </a:rPr>
              <a:t>Ford Internship Experience</a:t>
            </a:r>
          </a:p>
        </p:txBody>
      </p:sp>
      <p:sp>
        <p:nvSpPr>
          <p:cNvPr id="105" name="Text"/>
          <p:cNvSpPr/>
          <p:nvPr/>
        </p:nvSpPr>
        <p:spPr>
          <a:xfrm>
            <a:off x="10725912" y="6492240"/>
            <a:ext cx="457200" cy="256032"/>
          </a:xfrm>
          <a:prstGeom prst="rect">
            <a:avLst/>
          </a:prstGeom>
          <a:noFill/>
        </p:spPr>
        <p:txBody>
          <a:bodyPr wrap="square" lIns="0" tIns="0" rIns="0" bIns="0" rtlCol="0" anchor="ctr"/>
          <a:lstStyle/>
          <a:p>
            <a:pPr marL="0" indent="0" algn="r">
              <a:buNone/>
            </a:pPr>
            <a:r>
              <a:rPr lang="en-US" sz="1000" dirty="0">
                <a:solidFill>
                  <a:srgbClr val="7D5A5E"/>
                </a:solidFill>
                <a:latin typeface="Calibri"/>
                <a:cs typeface="Calibri"/>
              </a:rPr>
              <a:t>08</a:t>
            </a:r>
          </a:p>
        </p:txBody>
      </p:sp>
      <p:sp>
        <p:nvSpPr>
          <p:cNvPr id="106" name="Card"/>
          <p:cNvSpPr/>
          <p:nvPr/>
        </p:nvSpPr>
        <p:spPr>
          <a:xfrm>
            <a:off x="502920" y="1560000"/>
            <a:ext cx="5468080" cy="2050000"/>
          </a:xfrm>
          <a:prstGeom prst="roundRect">
            <a:avLst>
              <a:gd name="adj" fmla="val 1319"/>
            </a:avLst>
          </a:prstGeom>
          <a:solidFill>
            <a:srgbClr val="F3E6E1"/>
          </a:solidFill>
          <a:effectLst>
            <a:outerShdw blurRad="90000" dist="30000" dir="5400000" algn="tl" rotWithShape="0">
              <a:srgbClr val="3A1520">
                <a:alpha val="18000"/>
              </a:srgbClr>
            </a:outerShdw>
          </a:effectLst>
        </p:spPr>
      </p:sp>
      <p:sp>
        <p:nvSpPr>
          <p:cNvPr id="107" name="Text"/>
          <p:cNvSpPr/>
          <p:nvPr/>
        </p:nvSpPr>
        <p:spPr>
          <a:xfrm>
            <a:off x="732920" y="1710000"/>
            <a:ext cx="5008080" cy="220000"/>
          </a:xfrm>
          <a:prstGeom prst="rect">
            <a:avLst/>
          </a:prstGeom>
          <a:noFill/>
        </p:spPr>
        <p:txBody>
          <a:bodyPr wrap="square" lIns="0" tIns="0" rIns="0" bIns="0" rtlCol="0" anchor="ctr"/>
          <a:lstStyle/>
          <a:p>
            <a:pPr marL="0" indent="0" algn="l">
              <a:buNone/>
            </a:pPr>
            <a:r>
              <a:rPr lang="en-US" sz="1100" b="1" spc="180" dirty="0">
                <a:solidFill>
                  <a:srgbClr val="A13D4C"/>
                </a:solidFill>
                <a:latin typeface="Calibri"/>
                <a:cs typeface="Calibri"/>
              </a:rPr>
              <a:t>OBJECTIVE</a:t>
            </a:r>
          </a:p>
        </p:txBody>
      </p:sp>
      <p:sp>
        <p:nvSpPr>
          <p:cNvPr id="108" name="Text"/>
          <p:cNvSpPr/>
          <p:nvPr/>
        </p:nvSpPr>
        <p:spPr>
          <a:xfrm>
            <a:off x="732920" y="1980000"/>
            <a:ext cx="5008080" cy="620000"/>
          </a:xfrm>
          <a:prstGeom prst="rect">
            <a:avLst/>
          </a:prstGeom>
          <a:noFill/>
        </p:spPr>
        <p:txBody>
          <a:bodyPr wrap="square" lIns="0" tIns="0" rIns="0" bIns="0" rtlCol="0" anchor="t"/>
          <a:lstStyle/>
          <a:p>
            <a:pPr marL="0" indent="0" algn="l">
              <a:lnSpc>
                <a:spcPct val="118"/>
              </a:lnSpc>
              <a:buNone/>
            </a:pPr>
            <a:r>
              <a:rPr lang="en-US" sz="1050" dirty="0">
                <a:solidFill>
                  <a:srgbClr val="4A2E33"/>
                </a:solidFill>
                <a:latin typeface="Calibri"/>
                <a:cs typeface="Calibri"/>
              </a:rPr>
              <a:t>Automate retrieval of automotive part information by searching AutoZone using part numbers, exporting matched results to Excel and JSON.</a:t>
            </a:r>
          </a:p>
        </p:txBody>
      </p:sp>
      <p:sp>
        <p:nvSpPr>
          <p:cNvPr id="109" name="Text"/>
          <p:cNvSpPr/>
          <p:nvPr/>
        </p:nvSpPr>
        <p:spPr>
          <a:xfrm>
            <a:off x="732920" y="2640000"/>
            <a:ext cx="5008080" cy="220000"/>
          </a:xfrm>
          <a:prstGeom prst="rect">
            <a:avLst/>
          </a:prstGeom>
          <a:noFill/>
        </p:spPr>
        <p:txBody>
          <a:bodyPr wrap="square" lIns="0" tIns="0" rIns="0" bIns="0" rtlCol="0" anchor="ctr"/>
          <a:lstStyle/>
          <a:p>
            <a:pPr marL="0" indent="0" algn="l">
              <a:buNone/>
            </a:pPr>
            <a:r>
              <a:rPr lang="en-US" sz="1100" b="1" spc="180" dirty="0">
                <a:solidFill>
                  <a:srgbClr val="A13D4C"/>
                </a:solidFill>
                <a:latin typeface="Calibri"/>
                <a:cs typeface="Calibri"/>
              </a:rPr>
              <a:t>WORKFLOW</a:t>
            </a:r>
          </a:p>
        </p:txBody>
      </p:sp>
      <p:sp>
        <p:nvSpPr>
          <p:cNvPr id="110" name="IconCircle"/>
          <p:cNvSpPr/>
          <p:nvPr/>
        </p:nvSpPr>
        <p:spPr>
          <a:xfrm>
            <a:off x="920260" y="2890000"/>
            <a:ext cx="460000" cy="460000"/>
          </a:xfrm>
          <a:prstGeom prst="ellipse">
            <a:avLst/>
          </a:prstGeom>
          <a:solidFill>
            <a:srgbClr val="6E1423"/>
          </a:solidFill>
        </p:spPr>
      </p:sp>
      <p:pic>
        <p:nvPicPr>
          <p:cNvPr id="111" name="Icon" descr="/icons/excel.png"/>
          <p:cNvPicPr>
            <a:picLocks noChangeAspect="1"/>
          </p:cNvPicPr>
          <p:nvPr/>
        </p:nvPicPr>
        <p:blipFill>
          <a:blip r:embed="rId2"/>
          <a:stretch>
            <a:fillRect/>
          </a:stretch>
        </p:blipFill>
        <p:spPr>
          <a:xfrm>
            <a:off x="1007660" y="2977400"/>
            <a:ext cx="285200" cy="285200"/>
          </a:xfrm>
          <a:prstGeom prst="rect">
            <a:avLst/>
          </a:prstGeom>
        </p:spPr>
      </p:pic>
      <p:sp>
        <p:nvSpPr>
          <p:cNvPr id="112" name="Text"/>
          <p:cNvSpPr/>
          <p:nvPr/>
        </p:nvSpPr>
        <p:spPr>
          <a:xfrm>
            <a:off x="732920" y="3390000"/>
            <a:ext cx="834680" cy="300000"/>
          </a:xfrm>
          <a:prstGeom prst="rect">
            <a:avLst/>
          </a:prstGeom>
          <a:noFill/>
        </p:spPr>
        <p:txBody>
          <a:bodyPr wrap="square" lIns="0" tIns="0" rIns="0" bIns="0" rtlCol="0" anchor="t"/>
          <a:lstStyle/>
          <a:p>
            <a:pPr marL="0" indent="0" algn="ctr">
              <a:lnSpc>
                <a:spcPct val="105"/>
              </a:lnSpc>
              <a:buNone/>
            </a:pPr>
            <a:r>
              <a:rPr lang="en-US" sz="780" b="1" dirty="0">
                <a:solidFill>
                  <a:srgbClr val="6E1423"/>
                </a:solidFill>
                <a:latin typeface="Calibri"/>
                <a:cs typeface="Calibri"/>
              </a:rPr>
              <a:t>Excel Input</a:t>
            </a:r>
          </a:p>
        </p:txBody>
      </p:sp>
      <p:sp>
        <p:nvSpPr>
          <p:cNvPr id="113" name="Text"/>
          <p:cNvSpPr/>
          <p:nvPr/>
        </p:nvSpPr>
        <p:spPr>
          <a:xfrm>
            <a:off x="1537600" y="3018800"/>
            <a:ext cx="60000" cy="202400"/>
          </a:xfrm>
          <a:prstGeom prst="rect">
            <a:avLst/>
          </a:prstGeom>
          <a:noFill/>
        </p:spPr>
        <p:txBody>
          <a:bodyPr wrap="square" lIns="0" tIns="0" rIns="0" bIns="0" rtlCol="0" anchor="ctr"/>
          <a:lstStyle/>
          <a:p>
            <a:pPr marL="0" indent="0" algn="ctr">
              <a:buNone/>
            </a:pPr>
            <a:r>
              <a:rPr lang="en-US" sz="1600" b="1" dirty="0">
                <a:solidFill>
                  <a:srgbClr val="A13D4C"/>
                </a:solidFill>
                <a:latin typeface="Calibri"/>
                <a:cs typeface="Calibri"/>
              </a:rPr>
              <a:t>›</a:t>
            </a:r>
          </a:p>
        </p:txBody>
      </p:sp>
      <p:sp>
        <p:nvSpPr>
          <p:cNvPr id="114" name="IconCircle"/>
          <p:cNvSpPr/>
          <p:nvPr/>
        </p:nvSpPr>
        <p:spPr>
          <a:xfrm>
            <a:off x="1754940" y="2890000"/>
            <a:ext cx="460000" cy="460000"/>
          </a:xfrm>
          <a:prstGeom prst="ellipse">
            <a:avLst/>
          </a:prstGeom>
          <a:solidFill>
            <a:srgbClr val="6E1423"/>
          </a:solidFill>
        </p:spPr>
      </p:sp>
      <p:pic>
        <p:nvPicPr>
          <p:cNvPr id="115" name="Icon" descr="/icons/cogs.png"/>
          <p:cNvPicPr>
            <a:picLocks noChangeAspect="1"/>
          </p:cNvPicPr>
          <p:nvPr/>
        </p:nvPicPr>
        <p:blipFill>
          <a:blip r:embed="rId3"/>
          <a:stretch>
            <a:fillRect/>
          </a:stretch>
        </p:blipFill>
        <p:spPr>
          <a:xfrm>
            <a:off x="1842340" y="2977400"/>
            <a:ext cx="285200" cy="285200"/>
          </a:xfrm>
          <a:prstGeom prst="rect">
            <a:avLst/>
          </a:prstGeom>
        </p:spPr>
      </p:pic>
      <p:sp>
        <p:nvSpPr>
          <p:cNvPr id="116" name="Text"/>
          <p:cNvSpPr/>
          <p:nvPr/>
        </p:nvSpPr>
        <p:spPr>
          <a:xfrm>
            <a:off x="1567600" y="3390000"/>
            <a:ext cx="834680" cy="300000"/>
          </a:xfrm>
          <a:prstGeom prst="rect">
            <a:avLst/>
          </a:prstGeom>
          <a:noFill/>
        </p:spPr>
        <p:txBody>
          <a:bodyPr wrap="square" lIns="0" tIns="0" rIns="0" bIns="0" rtlCol="0" anchor="t"/>
          <a:lstStyle/>
          <a:p>
            <a:pPr marL="0" indent="0" algn="ctr">
              <a:lnSpc>
                <a:spcPct val="105"/>
              </a:lnSpc>
              <a:buNone/>
            </a:pPr>
            <a:r>
              <a:rPr lang="en-US" sz="780" b="1" dirty="0">
                <a:solidFill>
                  <a:srgbClr val="6E1423"/>
                </a:solidFill>
                <a:latin typeface="Calibri"/>
                <a:cs typeface="Calibri"/>
              </a:rPr>
              <a:t>Apify Actor</a:t>
            </a:r>
          </a:p>
        </p:txBody>
      </p:sp>
      <p:sp>
        <p:nvSpPr>
          <p:cNvPr id="117" name="Text"/>
          <p:cNvSpPr/>
          <p:nvPr/>
        </p:nvSpPr>
        <p:spPr>
          <a:xfrm>
            <a:off x="2372280" y="3018800"/>
            <a:ext cx="60000" cy="202400"/>
          </a:xfrm>
          <a:prstGeom prst="rect">
            <a:avLst/>
          </a:prstGeom>
          <a:noFill/>
        </p:spPr>
        <p:txBody>
          <a:bodyPr wrap="square" lIns="0" tIns="0" rIns="0" bIns="0" rtlCol="0" anchor="ctr"/>
          <a:lstStyle/>
          <a:p>
            <a:pPr marL="0" indent="0" algn="ctr">
              <a:buNone/>
            </a:pPr>
            <a:r>
              <a:rPr lang="en-US" sz="1600" b="1" dirty="0">
                <a:solidFill>
                  <a:srgbClr val="A13D4C"/>
                </a:solidFill>
                <a:latin typeface="Calibri"/>
                <a:cs typeface="Calibri"/>
              </a:rPr>
              <a:t>›</a:t>
            </a:r>
          </a:p>
        </p:txBody>
      </p:sp>
      <p:sp>
        <p:nvSpPr>
          <p:cNvPr id="118" name="IconCircle"/>
          <p:cNvSpPr/>
          <p:nvPr/>
        </p:nvSpPr>
        <p:spPr>
          <a:xfrm>
            <a:off x="2589620" y="2890000"/>
            <a:ext cx="460000" cy="460000"/>
          </a:xfrm>
          <a:prstGeom prst="ellipse">
            <a:avLst/>
          </a:prstGeom>
          <a:solidFill>
            <a:srgbClr val="6E1423"/>
          </a:solidFill>
        </p:spPr>
      </p:sp>
      <p:pic>
        <p:nvPicPr>
          <p:cNvPr id="119" name="Icon" descr="/icons/globe.png"/>
          <p:cNvPicPr>
            <a:picLocks noChangeAspect="1"/>
          </p:cNvPicPr>
          <p:nvPr/>
        </p:nvPicPr>
        <p:blipFill>
          <a:blip r:embed="rId4"/>
          <a:stretch>
            <a:fillRect/>
          </a:stretch>
        </p:blipFill>
        <p:spPr>
          <a:xfrm>
            <a:off x="2677020" y="2977400"/>
            <a:ext cx="285200" cy="285200"/>
          </a:xfrm>
          <a:prstGeom prst="rect">
            <a:avLst/>
          </a:prstGeom>
        </p:spPr>
      </p:pic>
      <p:sp>
        <p:nvSpPr>
          <p:cNvPr id="120" name="Text"/>
          <p:cNvSpPr/>
          <p:nvPr/>
        </p:nvSpPr>
        <p:spPr>
          <a:xfrm>
            <a:off x="2402280" y="3390000"/>
            <a:ext cx="834680" cy="300000"/>
          </a:xfrm>
          <a:prstGeom prst="rect">
            <a:avLst/>
          </a:prstGeom>
          <a:noFill/>
        </p:spPr>
        <p:txBody>
          <a:bodyPr wrap="square" lIns="0" tIns="0" rIns="0" bIns="0" rtlCol="0" anchor="t"/>
          <a:lstStyle/>
          <a:p>
            <a:pPr marL="0" indent="0" algn="ctr">
              <a:lnSpc>
                <a:spcPct val="105"/>
              </a:lnSpc>
              <a:buNone/>
            </a:pPr>
            <a:r>
              <a:rPr lang="en-US" sz="780" b="1" dirty="0">
                <a:solidFill>
                  <a:srgbClr val="6E1423"/>
                </a:solidFill>
                <a:latin typeface="Calibri"/>
                <a:cs typeface="Calibri"/>
              </a:rPr>
              <a:t>AutoZone Search</a:t>
            </a:r>
          </a:p>
        </p:txBody>
      </p:sp>
      <p:sp>
        <p:nvSpPr>
          <p:cNvPr id="121" name="Text"/>
          <p:cNvSpPr/>
          <p:nvPr/>
        </p:nvSpPr>
        <p:spPr>
          <a:xfrm>
            <a:off x="3206960" y="3018800"/>
            <a:ext cx="60000" cy="202400"/>
          </a:xfrm>
          <a:prstGeom prst="rect">
            <a:avLst/>
          </a:prstGeom>
          <a:noFill/>
        </p:spPr>
        <p:txBody>
          <a:bodyPr wrap="square" lIns="0" tIns="0" rIns="0" bIns="0" rtlCol="0" anchor="ctr"/>
          <a:lstStyle/>
          <a:p>
            <a:pPr marL="0" indent="0" algn="ctr">
              <a:buNone/>
            </a:pPr>
            <a:r>
              <a:rPr lang="en-US" sz="1600" b="1" dirty="0">
                <a:solidFill>
                  <a:srgbClr val="A13D4C"/>
                </a:solidFill>
                <a:latin typeface="Calibri"/>
                <a:cs typeface="Calibri"/>
              </a:rPr>
              <a:t>›</a:t>
            </a:r>
          </a:p>
        </p:txBody>
      </p:sp>
      <p:sp>
        <p:nvSpPr>
          <p:cNvPr id="122" name="IconCircle"/>
          <p:cNvSpPr/>
          <p:nvPr/>
        </p:nvSpPr>
        <p:spPr>
          <a:xfrm>
            <a:off x="3424300" y="2890000"/>
            <a:ext cx="460000" cy="460000"/>
          </a:xfrm>
          <a:prstGeom prst="ellipse">
            <a:avLst/>
          </a:prstGeom>
          <a:solidFill>
            <a:srgbClr val="6E1423"/>
          </a:solidFill>
        </p:spPr>
      </p:sp>
      <p:pic>
        <p:nvPicPr>
          <p:cNvPr id="123" name="Icon" descr="/icons/network.png"/>
          <p:cNvPicPr>
            <a:picLocks noChangeAspect="1"/>
          </p:cNvPicPr>
          <p:nvPr/>
        </p:nvPicPr>
        <p:blipFill>
          <a:blip r:embed="rId5"/>
          <a:stretch>
            <a:fillRect/>
          </a:stretch>
        </p:blipFill>
        <p:spPr>
          <a:xfrm>
            <a:off x="3511700" y="2977400"/>
            <a:ext cx="285200" cy="285200"/>
          </a:xfrm>
          <a:prstGeom prst="rect">
            <a:avLst/>
          </a:prstGeom>
        </p:spPr>
      </p:pic>
      <p:sp>
        <p:nvSpPr>
          <p:cNvPr id="124" name="Text"/>
          <p:cNvSpPr/>
          <p:nvPr/>
        </p:nvSpPr>
        <p:spPr>
          <a:xfrm>
            <a:off x="3236960" y="3390000"/>
            <a:ext cx="834680" cy="300000"/>
          </a:xfrm>
          <a:prstGeom prst="rect">
            <a:avLst/>
          </a:prstGeom>
          <a:noFill/>
        </p:spPr>
        <p:txBody>
          <a:bodyPr wrap="square" lIns="0" tIns="0" rIns="0" bIns="0" rtlCol="0" anchor="t"/>
          <a:lstStyle/>
          <a:p>
            <a:pPr marL="0" indent="0" algn="ctr">
              <a:lnSpc>
                <a:spcPct val="105"/>
              </a:lnSpc>
              <a:buNone/>
            </a:pPr>
            <a:r>
              <a:rPr lang="en-US" sz="780" b="1" dirty="0">
                <a:solidFill>
                  <a:srgbClr val="6E1423"/>
                </a:solidFill>
                <a:latin typeface="Calibri"/>
                <a:cs typeface="Calibri"/>
              </a:rPr>
              <a:t>Retrieve URL</a:t>
            </a:r>
          </a:p>
        </p:txBody>
      </p:sp>
      <p:sp>
        <p:nvSpPr>
          <p:cNvPr id="125" name="Text"/>
          <p:cNvSpPr/>
          <p:nvPr/>
        </p:nvSpPr>
        <p:spPr>
          <a:xfrm>
            <a:off x="4041640" y="3018800"/>
            <a:ext cx="60000" cy="202400"/>
          </a:xfrm>
          <a:prstGeom prst="rect">
            <a:avLst/>
          </a:prstGeom>
          <a:noFill/>
        </p:spPr>
        <p:txBody>
          <a:bodyPr wrap="square" lIns="0" tIns="0" rIns="0" bIns="0" rtlCol="0" anchor="ctr"/>
          <a:lstStyle/>
          <a:p>
            <a:pPr marL="0" indent="0" algn="ctr">
              <a:buNone/>
            </a:pPr>
            <a:r>
              <a:rPr lang="en-US" sz="1600" b="1" dirty="0">
                <a:solidFill>
                  <a:srgbClr val="A13D4C"/>
                </a:solidFill>
                <a:latin typeface="Calibri"/>
                <a:cs typeface="Calibri"/>
              </a:rPr>
              <a:t>›</a:t>
            </a:r>
          </a:p>
        </p:txBody>
      </p:sp>
      <p:sp>
        <p:nvSpPr>
          <p:cNvPr id="126" name="IconCircle"/>
          <p:cNvSpPr/>
          <p:nvPr/>
        </p:nvSpPr>
        <p:spPr>
          <a:xfrm>
            <a:off x="4258980" y="2890000"/>
            <a:ext cx="460000" cy="460000"/>
          </a:xfrm>
          <a:prstGeom prst="ellipse">
            <a:avLst/>
          </a:prstGeom>
          <a:solidFill>
            <a:srgbClr val="6E1423"/>
          </a:solidFill>
        </p:spPr>
      </p:sp>
      <p:pic>
        <p:nvPicPr>
          <p:cNvPr id="127" name="Icon" descr="/icons/bug.png"/>
          <p:cNvPicPr>
            <a:picLocks noChangeAspect="1"/>
          </p:cNvPicPr>
          <p:nvPr/>
        </p:nvPicPr>
        <p:blipFill>
          <a:blip r:embed="rId6"/>
          <a:stretch>
            <a:fillRect/>
          </a:stretch>
        </p:blipFill>
        <p:spPr>
          <a:xfrm>
            <a:off x="4346380" y="2977400"/>
            <a:ext cx="285200" cy="285200"/>
          </a:xfrm>
          <a:prstGeom prst="rect">
            <a:avLst/>
          </a:prstGeom>
        </p:spPr>
      </p:pic>
      <p:sp>
        <p:nvSpPr>
          <p:cNvPr id="128" name="Text"/>
          <p:cNvSpPr/>
          <p:nvPr/>
        </p:nvSpPr>
        <p:spPr>
          <a:xfrm>
            <a:off x="4071640" y="3390000"/>
            <a:ext cx="834680" cy="300000"/>
          </a:xfrm>
          <a:prstGeom prst="rect">
            <a:avLst/>
          </a:prstGeom>
          <a:noFill/>
        </p:spPr>
        <p:txBody>
          <a:bodyPr wrap="square" lIns="0" tIns="0" rIns="0" bIns="0" rtlCol="0" anchor="t"/>
          <a:lstStyle/>
          <a:p>
            <a:pPr marL="0" indent="0" algn="ctr">
              <a:lnSpc>
                <a:spcPct val="105"/>
              </a:lnSpc>
              <a:buNone/>
            </a:pPr>
            <a:r>
              <a:rPr lang="en-US" sz="780" b="1" dirty="0">
                <a:solidFill>
                  <a:srgbClr val="6E1423"/>
                </a:solidFill>
                <a:latin typeface="Calibri"/>
                <a:cs typeface="Calibri"/>
              </a:rPr>
              <a:t>Price Extraction</a:t>
            </a:r>
          </a:p>
        </p:txBody>
      </p:sp>
      <p:sp>
        <p:nvSpPr>
          <p:cNvPr id="129" name="Text"/>
          <p:cNvSpPr/>
          <p:nvPr/>
        </p:nvSpPr>
        <p:spPr>
          <a:xfrm>
            <a:off x="4876320" y="3018800"/>
            <a:ext cx="60000" cy="202400"/>
          </a:xfrm>
          <a:prstGeom prst="rect">
            <a:avLst/>
          </a:prstGeom>
          <a:noFill/>
        </p:spPr>
        <p:txBody>
          <a:bodyPr wrap="square" lIns="0" tIns="0" rIns="0" bIns="0" rtlCol="0" anchor="ctr"/>
          <a:lstStyle/>
          <a:p>
            <a:pPr marL="0" indent="0" algn="ctr">
              <a:buNone/>
            </a:pPr>
            <a:r>
              <a:rPr lang="en-US" sz="1600" b="1" dirty="0">
                <a:solidFill>
                  <a:srgbClr val="A13D4C"/>
                </a:solidFill>
                <a:latin typeface="Calibri"/>
                <a:cs typeface="Calibri"/>
              </a:rPr>
              <a:t>›</a:t>
            </a:r>
          </a:p>
        </p:txBody>
      </p:sp>
      <p:sp>
        <p:nvSpPr>
          <p:cNvPr id="130" name="IconCircle"/>
          <p:cNvSpPr/>
          <p:nvPr/>
        </p:nvSpPr>
        <p:spPr>
          <a:xfrm>
            <a:off x="5093660" y="2890000"/>
            <a:ext cx="460000" cy="460000"/>
          </a:xfrm>
          <a:prstGeom prst="ellipse">
            <a:avLst/>
          </a:prstGeom>
          <a:solidFill>
            <a:srgbClr val="6E1423"/>
          </a:solidFill>
        </p:spPr>
      </p:sp>
      <p:pic>
        <p:nvPicPr>
          <p:cNvPr id="131" name="Icon" descr="/icons/excel.png"/>
          <p:cNvPicPr>
            <a:picLocks noChangeAspect="1"/>
          </p:cNvPicPr>
          <p:nvPr/>
        </p:nvPicPr>
        <p:blipFill>
          <a:blip r:embed="rId2"/>
          <a:stretch>
            <a:fillRect/>
          </a:stretch>
        </p:blipFill>
        <p:spPr>
          <a:xfrm>
            <a:off x="5181060" y="2977400"/>
            <a:ext cx="285200" cy="285200"/>
          </a:xfrm>
          <a:prstGeom prst="rect">
            <a:avLst/>
          </a:prstGeom>
        </p:spPr>
      </p:pic>
      <p:sp>
        <p:nvSpPr>
          <p:cNvPr id="132" name="Text"/>
          <p:cNvSpPr/>
          <p:nvPr/>
        </p:nvSpPr>
        <p:spPr>
          <a:xfrm>
            <a:off x="4906320" y="3390000"/>
            <a:ext cx="834680" cy="300000"/>
          </a:xfrm>
          <a:prstGeom prst="rect">
            <a:avLst/>
          </a:prstGeom>
          <a:noFill/>
        </p:spPr>
        <p:txBody>
          <a:bodyPr wrap="square" lIns="0" tIns="0" rIns="0" bIns="0" rtlCol="0" anchor="t"/>
          <a:lstStyle/>
          <a:p>
            <a:pPr marL="0" indent="0" algn="ctr">
              <a:lnSpc>
                <a:spcPct val="105"/>
              </a:lnSpc>
              <a:buNone/>
            </a:pPr>
            <a:r>
              <a:rPr lang="en-US" sz="780" b="1" dirty="0">
                <a:solidFill>
                  <a:srgbClr val="6E1423"/>
                </a:solidFill>
                <a:latin typeface="Calibri"/>
                <a:cs typeface="Calibri"/>
              </a:rPr>
              <a:t>Excel / JSON Output</a:t>
            </a:r>
          </a:p>
        </p:txBody>
      </p:sp>
      <p:sp>
        <p:nvSpPr>
          <p:cNvPr id="133" name="Card"/>
          <p:cNvSpPr/>
          <p:nvPr/>
        </p:nvSpPr>
        <p:spPr>
          <a:xfrm>
            <a:off x="6115680" y="1489488"/>
            <a:ext cx="5468080" cy="2050000"/>
          </a:xfrm>
          <a:prstGeom prst="roundRect">
            <a:avLst>
              <a:gd name="adj" fmla="val 1319"/>
            </a:avLst>
          </a:prstGeom>
          <a:solidFill>
            <a:srgbClr val="F3E6E1"/>
          </a:solidFill>
          <a:effectLst>
            <a:outerShdw blurRad="90000" dist="30000" dir="5400000" algn="tl" rotWithShape="0">
              <a:srgbClr val="3A1520">
                <a:alpha val="18000"/>
              </a:srgbClr>
            </a:outerShdw>
          </a:effectLst>
        </p:spPr>
      </p:sp>
      <p:sp>
        <p:nvSpPr>
          <p:cNvPr id="134" name="Text"/>
          <p:cNvSpPr/>
          <p:nvPr/>
        </p:nvSpPr>
        <p:spPr>
          <a:xfrm>
            <a:off x="6451000" y="1710000"/>
            <a:ext cx="5008080" cy="220000"/>
          </a:xfrm>
          <a:prstGeom prst="rect">
            <a:avLst/>
          </a:prstGeom>
          <a:noFill/>
        </p:spPr>
        <p:txBody>
          <a:bodyPr wrap="square" lIns="0" tIns="0" rIns="0" bIns="0" rtlCol="0" anchor="ctr"/>
          <a:lstStyle/>
          <a:p>
            <a:pPr marL="0" indent="0" algn="l">
              <a:buNone/>
            </a:pPr>
            <a:r>
              <a:rPr lang="en-US" sz="1100" b="1" spc="180" dirty="0">
                <a:solidFill>
                  <a:srgbClr val="A13D4C"/>
                </a:solidFill>
                <a:latin typeface="Calibri"/>
                <a:cs typeface="Calibri"/>
              </a:rPr>
              <a:t>CHALLENGES FACED</a:t>
            </a:r>
          </a:p>
        </p:txBody>
      </p:sp>
      <p:sp>
        <p:nvSpPr>
          <p:cNvPr id="135" name="Bullets"/>
          <p:cNvSpPr/>
          <p:nvPr/>
        </p:nvSpPr>
        <p:spPr>
          <a:xfrm>
            <a:off x="6451000" y="1990000"/>
            <a:ext cx="5008080" cy="1550000"/>
          </a:xfrm>
          <a:prstGeom prst="rect">
            <a:avLst/>
          </a:prstGeom>
          <a:noFill/>
        </p:spPr>
        <p:txBody>
          <a:bodyPr wrap="square" lIns="0" tIns="0" rIns="0" bIns="0" rtlCol="0" anchor="t"/>
          <a:lstStyle/>
          <a:p>
            <a:pPr marL="182880" indent="-182880">
              <a:lnSpc>
                <a:spcPct val="112"/>
              </a:lnSpc>
              <a:spcAft>
                <a:spcPts val="600"/>
              </a:spcAft>
              <a:buFont typeface="Arial"/>
              <a:buChar char="•"/>
            </a:pPr>
            <a:endParaRPr lang="en-US" sz="920" dirty="0">
              <a:solidFill>
                <a:srgbClr val="3A1520"/>
              </a:solidFill>
              <a:latin typeface="Calibri"/>
              <a:cs typeface="Calibri"/>
            </a:endParaRPr>
          </a:p>
        </p:txBody>
      </p:sp>
      <p:sp>
        <p:nvSpPr>
          <p:cNvPr id="136" name="Card"/>
          <p:cNvSpPr/>
          <p:nvPr/>
        </p:nvSpPr>
        <p:spPr>
          <a:xfrm>
            <a:off x="502920" y="3740000"/>
            <a:ext cx="11186160" cy="620000"/>
          </a:xfrm>
          <a:prstGeom prst="roundRect">
            <a:avLst>
              <a:gd name="adj" fmla="val 5217"/>
            </a:avLst>
          </a:prstGeom>
          <a:solidFill>
            <a:srgbClr val="6E1423"/>
          </a:solidFill>
        </p:spPr>
      </p:sp>
      <p:sp>
        <p:nvSpPr>
          <p:cNvPr id="137" name="Text"/>
          <p:cNvSpPr/>
          <p:nvPr/>
        </p:nvSpPr>
        <p:spPr>
          <a:xfrm>
            <a:off x="822960" y="3740000"/>
            <a:ext cx="10546080" cy="620000"/>
          </a:xfrm>
          <a:prstGeom prst="rect">
            <a:avLst/>
          </a:prstGeom>
          <a:noFill/>
        </p:spPr>
        <p:txBody>
          <a:bodyPr wrap="square" lIns="0" tIns="0" rIns="0" bIns="0" rtlCol="0" anchor="ctr"/>
          <a:lstStyle/>
          <a:p>
            <a:pPr marL="0" indent="0" algn="l">
              <a:buNone/>
            </a:pPr>
            <a:r>
              <a:rPr lang="en-US" sz="1150" b="1" dirty="0">
                <a:solidFill>
                  <a:srgbClr val="FFFFFF"/>
                </a:solidFill>
                <a:latin typeface="Calibri"/>
                <a:cs typeface="Calibri"/>
              </a:rPr>
              <a:t>Key Learning — The pipeline worked end-to-end, but the selected AutoZone Apify actor only supports search and URL matching; it does not expose product pricing, making it unsuitable for full price automation.</a:t>
            </a:r>
          </a:p>
        </p:txBody>
      </p:sp>
      <p:sp>
        <p:nvSpPr>
          <p:cNvPr id="139" name="Text"/>
          <p:cNvSpPr/>
          <p:nvPr/>
        </p:nvSpPr>
        <p:spPr>
          <a:xfrm>
            <a:off x="502920" y="0"/>
            <a:ext cx="2684040" cy="0"/>
          </a:xfrm>
          <a:prstGeom prst="rect">
            <a:avLst/>
          </a:prstGeom>
          <a:noFill/>
        </p:spPr>
        <p:txBody>
          <a:bodyPr wrap="square" lIns="0" tIns="0" rIns="0" bIns="0" rtlCol="0" anchor="ctr"/>
          <a:lstStyle/>
          <a:p>
            <a:pPr marL="0" indent="0" algn="ctr">
              <a:buNone/>
            </a:pPr>
            <a:endParaRPr lang="en-US" sz="1600" b="1" dirty="0">
              <a:solidFill>
                <a:srgbClr val="6E1423"/>
              </a:solidFill>
              <a:latin typeface="Cambria"/>
              <a:cs typeface="Cambria"/>
            </a:endParaRPr>
          </a:p>
        </p:txBody>
      </p:sp>
      <p:sp>
        <p:nvSpPr>
          <p:cNvPr id="140" name="Text"/>
          <p:cNvSpPr/>
          <p:nvPr/>
        </p:nvSpPr>
        <p:spPr>
          <a:xfrm>
            <a:off x="582920" y="0"/>
            <a:ext cx="2524040" cy="0"/>
          </a:xfrm>
          <a:prstGeom prst="rect">
            <a:avLst/>
          </a:prstGeom>
          <a:noFill/>
        </p:spPr>
        <p:txBody>
          <a:bodyPr wrap="square" lIns="0" tIns="0" rIns="0" bIns="0" rtlCol="0" anchor="t"/>
          <a:lstStyle/>
          <a:p>
            <a:pPr marL="0" indent="0" algn="ctr">
              <a:buNone/>
            </a:pPr>
            <a:r>
              <a:rPr lang="en-US" sz="850" dirty="0">
                <a:solidFill>
                  <a:srgbClr val="7D5A5E"/>
                </a:solidFill>
                <a:latin typeface="Calibri"/>
                <a:cs typeface="Calibri"/>
              </a:rPr>
              <a:t>Part Numbers Processed</a:t>
            </a:r>
          </a:p>
        </p:txBody>
      </p:sp>
      <p:sp>
        <p:nvSpPr>
          <p:cNvPr id="142" name="Text"/>
          <p:cNvSpPr/>
          <p:nvPr/>
        </p:nvSpPr>
        <p:spPr>
          <a:xfrm>
            <a:off x="3336960" y="0"/>
            <a:ext cx="2684040" cy="0"/>
          </a:xfrm>
          <a:prstGeom prst="rect">
            <a:avLst/>
          </a:prstGeom>
          <a:noFill/>
        </p:spPr>
        <p:txBody>
          <a:bodyPr wrap="square" lIns="0" tIns="0" rIns="0" bIns="0" rtlCol="0" anchor="ctr"/>
          <a:lstStyle/>
          <a:p>
            <a:pPr marL="0" indent="0" algn="ctr">
              <a:buNone/>
            </a:pPr>
            <a:endParaRPr lang="en-US" sz="1600" b="1" dirty="0">
              <a:solidFill>
                <a:srgbClr val="B3261E"/>
              </a:solidFill>
              <a:latin typeface="Cambria"/>
              <a:cs typeface="Cambria"/>
            </a:endParaRPr>
          </a:p>
        </p:txBody>
      </p:sp>
      <p:sp>
        <p:nvSpPr>
          <p:cNvPr id="143" name="Text"/>
          <p:cNvSpPr/>
          <p:nvPr/>
        </p:nvSpPr>
        <p:spPr>
          <a:xfrm>
            <a:off x="3416960" y="0"/>
            <a:ext cx="2524040" cy="0"/>
          </a:xfrm>
          <a:prstGeom prst="rect">
            <a:avLst/>
          </a:prstGeom>
          <a:noFill/>
        </p:spPr>
        <p:txBody>
          <a:bodyPr wrap="square" lIns="0" tIns="0" rIns="0" bIns="0" rtlCol="0" anchor="t"/>
          <a:lstStyle/>
          <a:p>
            <a:pPr marL="0" indent="0" algn="ctr">
              <a:buNone/>
            </a:pPr>
            <a:r>
              <a:rPr lang="en-US" sz="850" dirty="0">
                <a:solidFill>
                  <a:srgbClr val="7D5A5E"/>
                </a:solidFill>
                <a:latin typeface="Calibri"/>
                <a:cs typeface="Calibri"/>
              </a:rPr>
              <a:t>Product URLs Generated</a:t>
            </a:r>
          </a:p>
        </p:txBody>
      </p:sp>
      <p:sp>
        <p:nvSpPr>
          <p:cNvPr id="145" name="Text"/>
          <p:cNvSpPr/>
          <p:nvPr/>
        </p:nvSpPr>
        <p:spPr>
          <a:xfrm>
            <a:off x="6171000" y="0"/>
            <a:ext cx="2684040" cy="0"/>
          </a:xfrm>
          <a:prstGeom prst="rect">
            <a:avLst/>
          </a:prstGeom>
          <a:noFill/>
        </p:spPr>
        <p:txBody>
          <a:bodyPr wrap="square" lIns="0" tIns="0" rIns="0" bIns="0" rtlCol="0" anchor="ctr"/>
          <a:lstStyle/>
          <a:p>
            <a:pPr marL="0" indent="0" algn="ctr">
              <a:buNone/>
            </a:pPr>
            <a:endParaRPr lang="en-US" sz="1600" b="1" dirty="0">
              <a:solidFill>
                <a:srgbClr val="B3261E"/>
              </a:solidFill>
              <a:latin typeface="Cambria"/>
              <a:cs typeface="Cambria"/>
            </a:endParaRPr>
          </a:p>
        </p:txBody>
      </p:sp>
      <p:sp>
        <p:nvSpPr>
          <p:cNvPr id="146" name="Text"/>
          <p:cNvSpPr/>
          <p:nvPr/>
        </p:nvSpPr>
        <p:spPr>
          <a:xfrm>
            <a:off x="6251000" y="0"/>
            <a:ext cx="2524040" cy="0"/>
          </a:xfrm>
          <a:prstGeom prst="rect">
            <a:avLst/>
          </a:prstGeom>
          <a:noFill/>
        </p:spPr>
        <p:txBody>
          <a:bodyPr wrap="square" lIns="0" tIns="0" rIns="0" bIns="0" rtlCol="0" anchor="t"/>
          <a:lstStyle/>
          <a:p>
            <a:pPr marL="0" indent="0" algn="ctr">
              <a:buNone/>
            </a:pPr>
            <a:r>
              <a:rPr lang="en-US" sz="850" dirty="0">
                <a:solidFill>
                  <a:srgbClr val="7D5A5E"/>
                </a:solidFill>
                <a:latin typeface="Calibri"/>
                <a:cs typeface="Calibri"/>
              </a:rPr>
              <a:t>Prices Extracted</a:t>
            </a:r>
          </a:p>
        </p:txBody>
      </p:sp>
      <p:sp>
        <p:nvSpPr>
          <p:cNvPr id="148" name="Text"/>
          <p:cNvSpPr/>
          <p:nvPr/>
        </p:nvSpPr>
        <p:spPr>
          <a:xfrm>
            <a:off x="9005040" y="0"/>
            <a:ext cx="2684040" cy="0"/>
          </a:xfrm>
          <a:prstGeom prst="rect">
            <a:avLst/>
          </a:prstGeom>
          <a:noFill/>
        </p:spPr>
        <p:txBody>
          <a:bodyPr wrap="square" lIns="0" tIns="0" rIns="0" bIns="0" rtlCol="0" anchor="ctr"/>
          <a:lstStyle/>
          <a:p>
            <a:pPr marL="0" indent="0" algn="ctr">
              <a:buNone/>
            </a:pPr>
            <a:endParaRPr lang="en-US" sz="1600" b="1" dirty="0">
              <a:solidFill>
                <a:srgbClr val="B3261E"/>
              </a:solidFill>
              <a:latin typeface="Cambria"/>
              <a:cs typeface="Cambria"/>
            </a:endParaRPr>
          </a:p>
        </p:txBody>
      </p:sp>
      <p:sp>
        <p:nvSpPr>
          <p:cNvPr id="149" name="Text"/>
          <p:cNvSpPr/>
          <p:nvPr/>
        </p:nvSpPr>
        <p:spPr>
          <a:xfrm>
            <a:off x="9085040" y="0"/>
            <a:ext cx="2524040" cy="0"/>
          </a:xfrm>
          <a:prstGeom prst="rect">
            <a:avLst/>
          </a:prstGeom>
          <a:noFill/>
        </p:spPr>
        <p:txBody>
          <a:bodyPr wrap="square" lIns="0" tIns="0" rIns="0" bIns="0" rtlCol="0" anchor="t"/>
          <a:lstStyle/>
          <a:p>
            <a:pPr marL="0" indent="0" algn="ctr">
              <a:buNone/>
            </a:pPr>
            <a:r>
              <a:rPr lang="en-US" sz="850" dirty="0">
                <a:solidFill>
                  <a:srgbClr val="7D5A5E"/>
                </a:solidFill>
                <a:latin typeface="Calibri"/>
                <a:cs typeface="Calibri"/>
              </a:rPr>
              <a:t>Product Mismatches</a:t>
            </a:r>
          </a:p>
        </p:txBody>
      </p:sp>
      <p:sp>
        <p:nvSpPr>
          <p:cNvPr id="150" name="Card"/>
          <p:cNvSpPr/>
          <p:nvPr/>
        </p:nvSpPr>
        <p:spPr>
          <a:xfrm>
            <a:off x="444620" y="4630000"/>
            <a:ext cx="2684040" cy="1180000"/>
          </a:xfrm>
          <a:prstGeom prst="roundRect">
            <a:avLst>
              <a:gd name="adj" fmla="val 6000"/>
            </a:avLst>
          </a:prstGeom>
          <a:solidFill>
            <a:srgbClr val="FFFFFF"/>
          </a:solidFill>
          <a:ln w="12700">
            <a:solidFill>
              <a:srgbClr val="E3C9CC"/>
            </a:solidFill>
            <a:prstDash val="solid"/>
          </a:ln>
        </p:spPr>
      </p:sp>
      <p:sp>
        <p:nvSpPr>
          <p:cNvPr id="153" name="Text"/>
          <p:cNvSpPr/>
          <p:nvPr/>
        </p:nvSpPr>
        <p:spPr>
          <a:xfrm>
            <a:off x="542920" y="6130000"/>
            <a:ext cx="2604040" cy="280000"/>
          </a:xfrm>
          <a:prstGeom prst="rect">
            <a:avLst/>
          </a:prstGeom>
          <a:noFill/>
        </p:spPr>
        <p:txBody>
          <a:bodyPr wrap="square" lIns="0" tIns="0" rIns="0" bIns="0" rtlCol="0" anchor="t"/>
          <a:lstStyle/>
          <a:p>
            <a:pPr marL="0" indent="0" algn="ctr">
              <a:lnSpc>
                <a:spcPct val="105"/>
              </a:lnSpc>
              <a:buNone/>
            </a:pPr>
            <a:r>
              <a:rPr lang="en-US" sz="820" b="1" dirty="0">
                <a:solidFill>
                  <a:srgbClr val="A13D4C"/>
                </a:solidFill>
                <a:latin typeface="Calibri"/>
                <a:cs typeface="Calibri"/>
              </a:rPr>
              <a:t>AutoZone Logo</a:t>
            </a:r>
          </a:p>
        </p:txBody>
      </p:sp>
      <p:sp>
        <p:nvSpPr>
          <p:cNvPr id="154" name="Card"/>
          <p:cNvSpPr/>
          <p:nvPr/>
        </p:nvSpPr>
        <p:spPr>
          <a:xfrm>
            <a:off x="3266960" y="4634429"/>
            <a:ext cx="2684040" cy="1180000"/>
          </a:xfrm>
          <a:prstGeom prst="roundRect">
            <a:avLst>
              <a:gd name="adj" fmla="val 6000"/>
            </a:avLst>
          </a:prstGeom>
          <a:solidFill>
            <a:srgbClr val="FFFFFF"/>
          </a:solidFill>
          <a:ln w="12700">
            <a:solidFill>
              <a:srgbClr val="E3C9CC"/>
            </a:solidFill>
            <a:prstDash val="solid"/>
          </a:ln>
        </p:spPr>
      </p:sp>
      <p:sp>
        <p:nvSpPr>
          <p:cNvPr id="157" name="Text"/>
          <p:cNvSpPr/>
          <p:nvPr/>
        </p:nvSpPr>
        <p:spPr>
          <a:xfrm>
            <a:off x="3376960" y="6130000"/>
            <a:ext cx="2604040" cy="280000"/>
          </a:xfrm>
          <a:prstGeom prst="rect">
            <a:avLst/>
          </a:prstGeom>
          <a:noFill/>
        </p:spPr>
        <p:txBody>
          <a:bodyPr wrap="square" lIns="0" tIns="0" rIns="0" bIns="0" rtlCol="0" anchor="t"/>
          <a:lstStyle/>
          <a:p>
            <a:pPr marL="0" indent="0" algn="ctr">
              <a:lnSpc>
                <a:spcPct val="105"/>
              </a:lnSpc>
              <a:buNone/>
            </a:pPr>
            <a:r>
              <a:rPr lang="en-US" sz="820" b="1" dirty="0">
                <a:solidFill>
                  <a:srgbClr val="A13D4C"/>
                </a:solidFill>
                <a:latin typeface="Calibri"/>
                <a:cs typeface="Calibri"/>
              </a:rPr>
              <a:t>Homepage Screenshot</a:t>
            </a:r>
          </a:p>
        </p:txBody>
      </p:sp>
      <p:sp>
        <p:nvSpPr>
          <p:cNvPr id="158" name="Card"/>
          <p:cNvSpPr/>
          <p:nvPr/>
        </p:nvSpPr>
        <p:spPr>
          <a:xfrm>
            <a:off x="6131000" y="4634429"/>
            <a:ext cx="2684040" cy="1180000"/>
          </a:xfrm>
          <a:prstGeom prst="roundRect">
            <a:avLst>
              <a:gd name="adj" fmla="val 6000"/>
            </a:avLst>
          </a:prstGeom>
          <a:solidFill>
            <a:srgbClr val="FFFFFF"/>
          </a:solidFill>
          <a:ln w="12700">
            <a:solidFill>
              <a:srgbClr val="E3C9CC"/>
            </a:solidFill>
            <a:prstDash val="solid"/>
          </a:ln>
        </p:spPr>
      </p:sp>
      <p:sp>
        <p:nvSpPr>
          <p:cNvPr id="161" name="Text"/>
          <p:cNvSpPr/>
          <p:nvPr/>
        </p:nvSpPr>
        <p:spPr>
          <a:xfrm>
            <a:off x="6211000" y="6130000"/>
            <a:ext cx="2604040" cy="280000"/>
          </a:xfrm>
          <a:prstGeom prst="rect">
            <a:avLst/>
          </a:prstGeom>
          <a:noFill/>
        </p:spPr>
        <p:txBody>
          <a:bodyPr wrap="square" lIns="0" tIns="0" rIns="0" bIns="0" rtlCol="0" anchor="t"/>
          <a:lstStyle/>
          <a:p>
            <a:pPr marL="0" indent="0" algn="ctr">
              <a:lnSpc>
                <a:spcPct val="105"/>
              </a:lnSpc>
              <a:buNone/>
            </a:pPr>
            <a:r>
              <a:rPr lang="en-US" sz="820" b="1" dirty="0">
                <a:solidFill>
                  <a:srgbClr val="A13D4C"/>
                </a:solidFill>
                <a:latin typeface="Calibri"/>
                <a:cs typeface="Calibri"/>
              </a:rPr>
              <a:t>Product Search Screenshot</a:t>
            </a:r>
          </a:p>
        </p:txBody>
      </p:sp>
      <p:sp>
        <p:nvSpPr>
          <p:cNvPr id="162" name="Card"/>
          <p:cNvSpPr/>
          <p:nvPr/>
        </p:nvSpPr>
        <p:spPr>
          <a:xfrm>
            <a:off x="9005040" y="4651632"/>
            <a:ext cx="2684040" cy="1180000"/>
          </a:xfrm>
          <a:prstGeom prst="roundRect">
            <a:avLst>
              <a:gd name="adj" fmla="val 6000"/>
            </a:avLst>
          </a:prstGeom>
          <a:solidFill>
            <a:srgbClr val="FFFFFF"/>
          </a:solidFill>
          <a:ln w="12700">
            <a:solidFill>
              <a:srgbClr val="E3C9CC"/>
            </a:solidFill>
            <a:prstDash val="solid"/>
          </a:ln>
        </p:spPr>
      </p:sp>
      <p:sp>
        <p:nvSpPr>
          <p:cNvPr id="165" name="Text"/>
          <p:cNvSpPr/>
          <p:nvPr/>
        </p:nvSpPr>
        <p:spPr>
          <a:xfrm>
            <a:off x="9045040" y="6130000"/>
            <a:ext cx="2604040" cy="280000"/>
          </a:xfrm>
          <a:prstGeom prst="rect">
            <a:avLst/>
          </a:prstGeom>
          <a:noFill/>
        </p:spPr>
        <p:txBody>
          <a:bodyPr wrap="square" lIns="0" tIns="0" rIns="0" bIns="0" rtlCol="0" anchor="t"/>
          <a:lstStyle/>
          <a:p>
            <a:pPr marL="0" indent="0" algn="ctr">
              <a:lnSpc>
                <a:spcPct val="105"/>
              </a:lnSpc>
              <a:buNone/>
            </a:pPr>
            <a:r>
              <a:rPr lang="en-US" sz="820" b="1" dirty="0">
                <a:solidFill>
                  <a:srgbClr val="A13D4C"/>
                </a:solidFill>
                <a:latin typeface="Calibri"/>
                <a:cs typeface="Calibri"/>
              </a:rPr>
              <a:t>Product Page Screenshot</a:t>
            </a:r>
          </a:p>
        </p:txBody>
      </p:sp>
      <p:pic>
        <p:nvPicPr>
          <p:cNvPr id="2" name="Picture 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44620" y="4606588"/>
            <a:ext cx="2642340" cy="1266799"/>
          </a:xfrm>
          <a:prstGeom prst="rect">
            <a:avLst/>
          </a:prstGeom>
        </p:spPr>
      </p:pic>
      <p:pic>
        <p:nvPicPr>
          <p:cNvPr id="3" name="Picture 2"/>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217354" y="4606588"/>
            <a:ext cx="2733646" cy="1331361"/>
          </a:xfrm>
          <a:prstGeom prst="rect">
            <a:avLst/>
          </a:prstGeom>
        </p:spPr>
      </p:pic>
      <p:pic>
        <p:nvPicPr>
          <p:cNvPr id="4" name="Picture 3"/>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171000" y="4537309"/>
            <a:ext cx="2746577" cy="1469917"/>
          </a:xfrm>
          <a:prstGeom prst="rect">
            <a:avLst/>
          </a:prstGeom>
        </p:spPr>
      </p:pic>
      <p:pic>
        <p:nvPicPr>
          <p:cNvPr id="5" name="Picture 4"/>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045040" y="4574184"/>
            <a:ext cx="2797797" cy="1341632"/>
          </a:xfrm>
          <a:prstGeom prst="rect">
            <a:avLst/>
          </a:prstGeom>
        </p:spPr>
      </p:pic>
      <p:sp>
        <p:nvSpPr>
          <p:cNvPr id="8" name="Rectangle 3"/>
          <p:cNvSpPr>
            <a:spLocks noChangeArrowheads="1"/>
          </p:cNvSpPr>
          <p:nvPr/>
        </p:nvSpPr>
        <p:spPr bwMode="auto">
          <a:xfrm>
            <a:off x="6078760" y="1973484"/>
            <a:ext cx="4910319" cy="807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smtClean="0">
                <a:ln>
                  <a:noFill/>
                </a:ln>
                <a:solidFill>
                  <a:schemeClr val="tx1"/>
                </a:solidFill>
                <a:effectLst/>
                <a:latin typeface="Arial" panose="020B0604020202020204" pitchFamily="34" charset="0"/>
              </a:rPr>
              <a:t>Some part numbers returned different or unrelated products.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smtClean="0">
                <a:ln>
                  <a:noFill/>
                </a:ln>
                <a:solidFill>
                  <a:schemeClr val="tx1"/>
                </a:solidFill>
                <a:effectLst/>
                <a:latin typeface="Arial" panose="020B0604020202020204" pitchFamily="34" charset="0"/>
              </a:rPr>
              <a:t>The search results were not always an exact match for the input part number.</a:t>
            </a:r>
            <a:r>
              <a:rPr kumimoji="0" lang="en-US" altLang="en-US" sz="1800" b="0" i="0" u="none" strike="noStrike" cap="none" normalizeH="0" baseline="0" dirty="0" smtClean="0">
                <a:ln>
                  <a:noFill/>
                </a:ln>
                <a:solidFill>
                  <a:schemeClr val="tx1"/>
                </a:solidFill>
                <a:effectLst/>
                <a:latin typeface="Arial" panose="020B0604020202020204" pitchFamily="34" charset="0"/>
              </a:rPr>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3E7"/>
        </a:solidFill>
        <a:effectLst/>
      </p:bgPr>
    </p:bg>
    <p:spTree>
      <p:nvGrpSpPr>
        <p:cNvPr id="1" name=""/>
        <p:cNvGrpSpPr/>
        <p:nvPr/>
      </p:nvGrpSpPr>
      <p:grpSpPr>
        <a:xfrm>
          <a:off x="0" y="0"/>
          <a:ext cx="0" cy="0"/>
          <a:chOff x="0" y="0"/>
          <a:chExt cx="0" cy="0"/>
        </a:xfrm>
      </p:grpSpPr>
      <p:sp>
        <p:nvSpPr>
          <p:cNvPr id="166" name="Text"/>
          <p:cNvSpPr/>
          <p:nvPr/>
        </p:nvSpPr>
        <p:spPr>
          <a:xfrm>
            <a:off x="502920" y="314048"/>
            <a:ext cx="9601200" cy="274320"/>
          </a:xfrm>
          <a:prstGeom prst="rect">
            <a:avLst/>
          </a:prstGeom>
          <a:noFill/>
        </p:spPr>
        <p:txBody>
          <a:bodyPr wrap="square" lIns="0" tIns="0" rIns="0" bIns="0" rtlCol="0" anchor="ctr"/>
          <a:lstStyle/>
          <a:p>
            <a:pPr marL="0" indent="0" algn="l">
              <a:buNone/>
            </a:pPr>
            <a:r>
              <a:rPr lang="en-US" sz="1100" b="1" spc="180" dirty="0">
                <a:solidFill>
                  <a:srgbClr val="A13D4C"/>
                </a:solidFill>
                <a:latin typeface="Calibri"/>
                <a:cs typeface="Calibri"/>
              </a:rPr>
              <a:t>SCRAPING AUTOMATION</a:t>
            </a:r>
          </a:p>
        </p:txBody>
      </p:sp>
      <p:sp>
        <p:nvSpPr>
          <p:cNvPr id="167" name="Text"/>
          <p:cNvSpPr/>
          <p:nvPr/>
        </p:nvSpPr>
        <p:spPr>
          <a:xfrm>
            <a:off x="502920" y="588368"/>
            <a:ext cx="10515600" cy="500000"/>
          </a:xfrm>
          <a:prstGeom prst="rect">
            <a:avLst/>
          </a:prstGeom>
          <a:noFill/>
        </p:spPr>
        <p:txBody>
          <a:bodyPr wrap="square" lIns="0" tIns="0" rIns="0" bIns="0" rtlCol="0" anchor="ctr"/>
          <a:lstStyle/>
          <a:p>
            <a:pPr marL="0" indent="0" algn="l">
              <a:buNone/>
            </a:pPr>
            <a:r>
              <a:rPr lang="en-US" sz="2600" b="1" dirty="0">
                <a:solidFill>
                  <a:srgbClr val="6E1423"/>
                </a:solidFill>
                <a:latin typeface="Cambria"/>
                <a:cs typeface="Cambria"/>
              </a:rPr>
              <a:t>NAPA Scraping Analysis</a:t>
            </a:r>
          </a:p>
        </p:txBody>
      </p:sp>
      <p:sp>
        <p:nvSpPr>
          <p:cNvPr id="168" name="Text"/>
          <p:cNvSpPr/>
          <p:nvPr/>
        </p:nvSpPr>
        <p:spPr>
          <a:xfrm>
            <a:off x="502920" y="1128368"/>
            <a:ext cx="10515600" cy="320000"/>
          </a:xfrm>
          <a:prstGeom prst="rect">
            <a:avLst/>
          </a:prstGeom>
          <a:noFill/>
        </p:spPr>
        <p:txBody>
          <a:bodyPr wrap="square" lIns="0" tIns="0" rIns="0" bIns="0" rtlCol="0" anchor="ctr"/>
          <a:lstStyle/>
          <a:p>
            <a:pPr marL="0" indent="0" algn="l">
              <a:buNone/>
            </a:pPr>
            <a:r>
              <a:rPr lang="en-US" sz="1300" i="1" dirty="0">
                <a:solidFill>
                  <a:srgbClr val="7D5A5E"/>
                </a:solidFill>
                <a:latin typeface="Calibri"/>
                <a:cs typeface="Calibri"/>
              </a:rPr>
              <a:t>Apify-Based Price Automation</a:t>
            </a:r>
          </a:p>
        </p:txBody>
      </p:sp>
      <p:sp>
        <p:nvSpPr>
          <p:cNvPr id="169" name="Text"/>
          <p:cNvSpPr/>
          <p:nvPr/>
        </p:nvSpPr>
        <p:spPr>
          <a:xfrm>
            <a:off x="502920" y="6492240"/>
            <a:ext cx="4572000" cy="256032"/>
          </a:xfrm>
          <a:prstGeom prst="rect">
            <a:avLst/>
          </a:prstGeom>
          <a:noFill/>
        </p:spPr>
        <p:txBody>
          <a:bodyPr wrap="square" lIns="0" tIns="0" rIns="0" bIns="0" rtlCol="0" anchor="ctr"/>
          <a:lstStyle/>
          <a:p>
            <a:pPr marL="0" indent="0" algn="l">
              <a:buNone/>
            </a:pPr>
            <a:r>
              <a:rPr lang="en-US" sz="1000" dirty="0">
                <a:solidFill>
                  <a:srgbClr val="7D5A5E"/>
                </a:solidFill>
                <a:latin typeface="Calibri"/>
                <a:cs typeface="Calibri"/>
              </a:rPr>
              <a:t>Ford Internship Experience</a:t>
            </a:r>
          </a:p>
        </p:txBody>
      </p:sp>
      <p:sp>
        <p:nvSpPr>
          <p:cNvPr id="170" name="Text"/>
          <p:cNvSpPr/>
          <p:nvPr/>
        </p:nvSpPr>
        <p:spPr>
          <a:xfrm>
            <a:off x="10725912" y="6492240"/>
            <a:ext cx="457200" cy="256032"/>
          </a:xfrm>
          <a:prstGeom prst="rect">
            <a:avLst/>
          </a:prstGeom>
          <a:noFill/>
        </p:spPr>
        <p:txBody>
          <a:bodyPr wrap="square" lIns="0" tIns="0" rIns="0" bIns="0" rtlCol="0" anchor="ctr"/>
          <a:lstStyle/>
          <a:p>
            <a:pPr marL="0" indent="0" algn="r">
              <a:buNone/>
            </a:pPr>
            <a:r>
              <a:rPr lang="en-US" sz="1000" dirty="0">
                <a:solidFill>
                  <a:srgbClr val="7D5A5E"/>
                </a:solidFill>
                <a:latin typeface="Calibri"/>
                <a:cs typeface="Calibri"/>
              </a:rPr>
              <a:t>09</a:t>
            </a:r>
          </a:p>
        </p:txBody>
      </p:sp>
      <p:sp>
        <p:nvSpPr>
          <p:cNvPr id="171" name="Card"/>
          <p:cNvSpPr/>
          <p:nvPr/>
        </p:nvSpPr>
        <p:spPr>
          <a:xfrm>
            <a:off x="502920" y="1560000"/>
            <a:ext cx="5468080" cy="2050000"/>
          </a:xfrm>
          <a:prstGeom prst="roundRect">
            <a:avLst>
              <a:gd name="adj" fmla="val 1319"/>
            </a:avLst>
          </a:prstGeom>
          <a:solidFill>
            <a:srgbClr val="F3E6E1"/>
          </a:solidFill>
          <a:effectLst>
            <a:outerShdw blurRad="90000" dist="30000" dir="5400000" algn="tl" rotWithShape="0">
              <a:srgbClr val="3A1520">
                <a:alpha val="18000"/>
              </a:srgbClr>
            </a:outerShdw>
          </a:effectLst>
        </p:spPr>
      </p:sp>
      <p:sp>
        <p:nvSpPr>
          <p:cNvPr id="172" name="Text"/>
          <p:cNvSpPr/>
          <p:nvPr/>
        </p:nvSpPr>
        <p:spPr>
          <a:xfrm>
            <a:off x="732920" y="1710000"/>
            <a:ext cx="5008080" cy="220000"/>
          </a:xfrm>
          <a:prstGeom prst="rect">
            <a:avLst/>
          </a:prstGeom>
          <a:noFill/>
        </p:spPr>
        <p:txBody>
          <a:bodyPr wrap="square" lIns="0" tIns="0" rIns="0" bIns="0" rtlCol="0" anchor="ctr"/>
          <a:lstStyle/>
          <a:p>
            <a:pPr marL="0" indent="0" algn="l">
              <a:buNone/>
            </a:pPr>
            <a:r>
              <a:rPr lang="en-US" sz="1100" b="1" spc="180" dirty="0">
                <a:solidFill>
                  <a:srgbClr val="A13D4C"/>
                </a:solidFill>
                <a:latin typeface="Calibri"/>
                <a:cs typeface="Calibri"/>
              </a:rPr>
              <a:t>OBJECTIVE</a:t>
            </a:r>
          </a:p>
        </p:txBody>
      </p:sp>
      <p:sp>
        <p:nvSpPr>
          <p:cNvPr id="173" name="Text"/>
          <p:cNvSpPr/>
          <p:nvPr/>
        </p:nvSpPr>
        <p:spPr>
          <a:xfrm>
            <a:off x="732920" y="1980000"/>
            <a:ext cx="5008080" cy="620000"/>
          </a:xfrm>
          <a:prstGeom prst="rect">
            <a:avLst/>
          </a:prstGeom>
          <a:noFill/>
        </p:spPr>
        <p:txBody>
          <a:bodyPr wrap="square" lIns="0" tIns="0" rIns="0" bIns="0" rtlCol="0" anchor="t"/>
          <a:lstStyle/>
          <a:p>
            <a:pPr marL="0" indent="0" algn="l">
              <a:lnSpc>
                <a:spcPct val="118"/>
              </a:lnSpc>
              <a:buNone/>
            </a:pPr>
            <a:r>
              <a:rPr lang="en-US" sz="1050" dirty="0">
                <a:solidFill>
                  <a:srgbClr val="4A2E33"/>
                </a:solidFill>
                <a:latin typeface="Calibri"/>
                <a:cs typeface="Calibri"/>
              </a:rPr>
              <a:t>Automate retrieval of automotive part prices from NAPA Auto Parts using Apify, exporting results into Excel.</a:t>
            </a:r>
          </a:p>
        </p:txBody>
      </p:sp>
      <p:sp>
        <p:nvSpPr>
          <p:cNvPr id="174" name="Text"/>
          <p:cNvSpPr/>
          <p:nvPr/>
        </p:nvSpPr>
        <p:spPr>
          <a:xfrm>
            <a:off x="732920" y="2640000"/>
            <a:ext cx="5008080" cy="220000"/>
          </a:xfrm>
          <a:prstGeom prst="rect">
            <a:avLst/>
          </a:prstGeom>
          <a:noFill/>
        </p:spPr>
        <p:txBody>
          <a:bodyPr wrap="square" lIns="0" tIns="0" rIns="0" bIns="0" rtlCol="0" anchor="ctr"/>
          <a:lstStyle/>
          <a:p>
            <a:pPr marL="0" indent="0" algn="l">
              <a:buNone/>
            </a:pPr>
            <a:r>
              <a:rPr lang="en-US" sz="1100" b="1" spc="180" dirty="0">
                <a:solidFill>
                  <a:srgbClr val="A13D4C"/>
                </a:solidFill>
                <a:latin typeface="Calibri"/>
                <a:cs typeface="Calibri"/>
              </a:rPr>
              <a:t>WORKFLOW</a:t>
            </a:r>
          </a:p>
        </p:txBody>
      </p:sp>
      <p:sp>
        <p:nvSpPr>
          <p:cNvPr id="175" name="IconCircle"/>
          <p:cNvSpPr/>
          <p:nvPr/>
        </p:nvSpPr>
        <p:spPr>
          <a:xfrm>
            <a:off x="1003728" y="2890000"/>
            <a:ext cx="460000" cy="460000"/>
          </a:xfrm>
          <a:prstGeom prst="ellipse">
            <a:avLst/>
          </a:prstGeom>
          <a:solidFill>
            <a:srgbClr val="6E1423"/>
          </a:solidFill>
        </p:spPr>
      </p:sp>
      <p:pic>
        <p:nvPicPr>
          <p:cNvPr id="176" name="Icon" descr="/icons/excel.png"/>
          <p:cNvPicPr>
            <a:picLocks noChangeAspect="1"/>
          </p:cNvPicPr>
          <p:nvPr/>
        </p:nvPicPr>
        <p:blipFill>
          <a:blip r:embed="rId2"/>
          <a:stretch>
            <a:fillRect/>
          </a:stretch>
        </p:blipFill>
        <p:spPr>
          <a:xfrm>
            <a:off x="1091128" y="2977400"/>
            <a:ext cx="285200" cy="285200"/>
          </a:xfrm>
          <a:prstGeom prst="rect">
            <a:avLst/>
          </a:prstGeom>
        </p:spPr>
      </p:pic>
      <p:sp>
        <p:nvSpPr>
          <p:cNvPr id="177" name="Text"/>
          <p:cNvSpPr/>
          <p:nvPr/>
        </p:nvSpPr>
        <p:spPr>
          <a:xfrm>
            <a:off x="732920" y="3390000"/>
            <a:ext cx="1001616" cy="300000"/>
          </a:xfrm>
          <a:prstGeom prst="rect">
            <a:avLst/>
          </a:prstGeom>
          <a:noFill/>
        </p:spPr>
        <p:txBody>
          <a:bodyPr wrap="square" lIns="0" tIns="0" rIns="0" bIns="0" rtlCol="0" anchor="t"/>
          <a:lstStyle/>
          <a:p>
            <a:pPr marL="0" indent="0" algn="ctr">
              <a:lnSpc>
                <a:spcPct val="105"/>
              </a:lnSpc>
              <a:buNone/>
            </a:pPr>
            <a:r>
              <a:rPr lang="en-US" sz="780" b="1" dirty="0">
                <a:solidFill>
                  <a:srgbClr val="6E1423"/>
                </a:solidFill>
                <a:latin typeface="Calibri"/>
                <a:cs typeface="Calibri"/>
              </a:rPr>
              <a:t>Excel Input</a:t>
            </a:r>
          </a:p>
        </p:txBody>
      </p:sp>
      <p:sp>
        <p:nvSpPr>
          <p:cNvPr id="178" name="Text"/>
          <p:cNvSpPr/>
          <p:nvPr/>
        </p:nvSpPr>
        <p:spPr>
          <a:xfrm>
            <a:off x="1704536" y="3018800"/>
            <a:ext cx="60000" cy="202400"/>
          </a:xfrm>
          <a:prstGeom prst="rect">
            <a:avLst/>
          </a:prstGeom>
          <a:noFill/>
        </p:spPr>
        <p:txBody>
          <a:bodyPr wrap="square" lIns="0" tIns="0" rIns="0" bIns="0" rtlCol="0" anchor="ctr"/>
          <a:lstStyle/>
          <a:p>
            <a:pPr marL="0" indent="0" algn="ctr">
              <a:buNone/>
            </a:pPr>
            <a:r>
              <a:rPr lang="en-US" sz="1600" b="1" dirty="0">
                <a:solidFill>
                  <a:srgbClr val="A13D4C"/>
                </a:solidFill>
                <a:latin typeface="Calibri"/>
                <a:cs typeface="Calibri"/>
              </a:rPr>
              <a:t>›</a:t>
            </a:r>
          </a:p>
        </p:txBody>
      </p:sp>
      <p:sp>
        <p:nvSpPr>
          <p:cNvPr id="179" name="IconCircle"/>
          <p:cNvSpPr/>
          <p:nvPr/>
        </p:nvSpPr>
        <p:spPr>
          <a:xfrm>
            <a:off x="2005344" y="2890000"/>
            <a:ext cx="460000" cy="460000"/>
          </a:xfrm>
          <a:prstGeom prst="ellipse">
            <a:avLst/>
          </a:prstGeom>
          <a:solidFill>
            <a:srgbClr val="6E1423"/>
          </a:solidFill>
        </p:spPr>
      </p:sp>
      <p:pic>
        <p:nvPicPr>
          <p:cNvPr id="180" name="Icon" descr="/icons/cogs.png"/>
          <p:cNvPicPr>
            <a:picLocks noChangeAspect="1"/>
          </p:cNvPicPr>
          <p:nvPr/>
        </p:nvPicPr>
        <p:blipFill>
          <a:blip r:embed="rId3"/>
          <a:stretch>
            <a:fillRect/>
          </a:stretch>
        </p:blipFill>
        <p:spPr>
          <a:xfrm>
            <a:off x="2092744" y="2977400"/>
            <a:ext cx="285200" cy="285200"/>
          </a:xfrm>
          <a:prstGeom prst="rect">
            <a:avLst/>
          </a:prstGeom>
        </p:spPr>
      </p:pic>
      <p:sp>
        <p:nvSpPr>
          <p:cNvPr id="181" name="Text"/>
          <p:cNvSpPr/>
          <p:nvPr/>
        </p:nvSpPr>
        <p:spPr>
          <a:xfrm>
            <a:off x="1734536" y="3390000"/>
            <a:ext cx="1001616" cy="300000"/>
          </a:xfrm>
          <a:prstGeom prst="rect">
            <a:avLst/>
          </a:prstGeom>
          <a:noFill/>
        </p:spPr>
        <p:txBody>
          <a:bodyPr wrap="square" lIns="0" tIns="0" rIns="0" bIns="0" rtlCol="0" anchor="t"/>
          <a:lstStyle/>
          <a:p>
            <a:pPr marL="0" indent="0" algn="ctr">
              <a:lnSpc>
                <a:spcPct val="105"/>
              </a:lnSpc>
              <a:buNone/>
            </a:pPr>
            <a:r>
              <a:rPr lang="en-US" sz="780" b="1" dirty="0">
                <a:solidFill>
                  <a:srgbClr val="6E1423"/>
                </a:solidFill>
                <a:latin typeface="Calibri"/>
                <a:cs typeface="Calibri"/>
              </a:rPr>
              <a:t>Apify NAPA Actor</a:t>
            </a:r>
          </a:p>
        </p:txBody>
      </p:sp>
      <p:sp>
        <p:nvSpPr>
          <p:cNvPr id="182" name="Text"/>
          <p:cNvSpPr/>
          <p:nvPr/>
        </p:nvSpPr>
        <p:spPr>
          <a:xfrm>
            <a:off x="2706152" y="3018800"/>
            <a:ext cx="60000" cy="202400"/>
          </a:xfrm>
          <a:prstGeom prst="rect">
            <a:avLst/>
          </a:prstGeom>
          <a:noFill/>
        </p:spPr>
        <p:txBody>
          <a:bodyPr wrap="square" lIns="0" tIns="0" rIns="0" bIns="0" rtlCol="0" anchor="ctr"/>
          <a:lstStyle/>
          <a:p>
            <a:pPr marL="0" indent="0" algn="ctr">
              <a:buNone/>
            </a:pPr>
            <a:r>
              <a:rPr lang="en-US" sz="1600" b="1" dirty="0">
                <a:solidFill>
                  <a:srgbClr val="A13D4C"/>
                </a:solidFill>
                <a:latin typeface="Calibri"/>
                <a:cs typeface="Calibri"/>
              </a:rPr>
              <a:t>›</a:t>
            </a:r>
          </a:p>
        </p:txBody>
      </p:sp>
      <p:sp>
        <p:nvSpPr>
          <p:cNvPr id="183" name="IconCircle"/>
          <p:cNvSpPr/>
          <p:nvPr/>
        </p:nvSpPr>
        <p:spPr>
          <a:xfrm>
            <a:off x="3006960" y="2890000"/>
            <a:ext cx="460000" cy="460000"/>
          </a:xfrm>
          <a:prstGeom prst="ellipse">
            <a:avLst/>
          </a:prstGeom>
          <a:solidFill>
            <a:srgbClr val="6E1423"/>
          </a:solidFill>
        </p:spPr>
      </p:sp>
      <p:pic>
        <p:nvPicPr>
          <p:cNvPr id="184" name="Icon" descr="/icons/globe.png"/>
          <p:cNvPicPr>
            <a:picLocks noChangeAspect="1"/>
          </p:cNvPicPr>
          <p:nvPr/>
        </p:nvPicPr>
        <p:blipFill>
          <a:blip r:embed="rId4"/>
          <a:stretch>
            <a:fillRect/>
          </a:stretch>
        </p:blipFill>
        <p:spPr>
          <a:xfrm>
            <a:off x="3094360" y="2977400"/>
            <a:ext cx="285200" cy="285200"/>
          </a:xfrm>
          <a:prstGeom prst="rect">
            <a:avLst/>
          </a:prstGeom>
        </p:spPr>
      </p:pic>
      <p:sp>
        <p:nvSpPr>
          <p:cNvPr id="185" name="Text"/>
          <p:cNvSpPr/>
          <p:nvPr/>
        </p:nvSpPr>
        <p:spPr>
          <a:xfrm>
            <a:off x="2736152" y="3390000"/>
            <a:ext cx="1001616" cy="300000"/>
          </a:xfrm>
          <a:prstGeom prst="rect">
            <a:avLst/>
          </a:prstGeom>
          <a:noFill/>
        </p:spPr>
        <p:txBody>
          <a:bodyPr wrap="square" lIns="0" tIns="0" rIns="0" bIns="0" rtlCol="0" anchor="t"/>
          <a:lstStyle/>
          <a:p>
            <a:pPr marL="0" indent="0" algn="ctr">
              <a:lnSpc>
                <a:spcPct val="105"/>
              </a:lnSpc>
              <a:buNone/>
            </a:pPr>
            <a:r>
              <a:rPr lang="en-US" sz="780" b="1" dirty="0">
                <a:solidFill>
                  <a:srgbClr val="6E1423"/>
                </a:solidFill>
                <a:latin typeface="Calibri"/>
                <a:cs typeface="Calibri"/>
              </a:rPr>
              <a:t>NAPA Search</a:t>
            </a:r>
          </a:p>
        </p:txBody>
      </p:sp>
      <p:sp>
        <p:nvSpPr>
          <p:cNvPr id="186" name="Text"/>
          <p:cNvSpPr/>
          <p:nvPr/>
        </p:nvSpPr>
        <p:spPr>
          <a:xfrm>
            <a:off x="3707768" y="3018800"/>
            <a:ext cx="60000" cy="202400"/>
          </a:xfrm>
          <a:prstGeom prst="rect">
            <a:avLst/>
          </a:prstGeom>
          <a:noFill/>
        </p:spPr>
        <p:txBody>
          <a:bodyPr wrap="square" lIns="0" tIns="0" rIns="0" bIns="0" rtlCol="0" anchor="ctr"/>
          <a:lstStyle/>
          <a:p>
            <a:pPr marL="0" indent="0" algn="ctr">
              <a:buNone/>
            </a:pPr>
            <a:r>
              <a:rPr lang="en-US" sz="1600" b="1" dirty="0">
                <a:solidFill>
                  <a:srgbClr val="A13D4C"/>
                </a:solidFill>
                <a:latin typeface="Calibri"/>
                <a:cs typeface="Calibri"/>
              </a:rPr>
              <a:t>›</a:t>
            </a:r>
          </a:p>
        </p:txBody>
      </p:sp>
      <p:sp>
        <p:nvSpPr>
          <p:cNvPr id="187" name="IconCircle"/>
          <p:cNvSpPr/>
          <p:nvPr/>
        </p:nvSpPr>
        <p:spPr>
          <a:xfrm>
            <a:off x="4008576" y="2890000"/>
            <a:ext cx="460000" cy="460000"/>
          </a:xfrm>
          <a:prstGeom prst="ellipse">
            <a:avLst/>
          </a:prstGeom>
          <a:solidFill>
            <a:srgbClr val="6E1423"/>
          </a:solidFill>
        </p:spPr>
      </p:sp>
      <p:pic>
        <p:nvPicPr>
          <p:cNvPr id="188" name="Icon" descr="/icons/bug.png"/>
          <p:cNvPicPr>
            <a:picLocks noChangeAspect="1"/>
          </p:cNvPicPr>
          <p:nvPr/>
        </p:nvPicPr>
        <p:blipFill>
          <a:blip r:embed="rId5"/>
          <a:stretch>
            <a:fillRect/>
          </a:stretch>
        </p:blipFill>
        <p:spPr>
          <a:xfrm>
            <a:off x="4095976" y="2977400"/>
            <a:ext cx="285200" cy="285200"/>
          </a:xfrm>
          <a:prstGeom prst="rect">
            <a:avLst/>
          </a:prstGeom>
        </p:spPr>
      </p:pic>
      <p:sp>
        <p:nvSpPr>
          <p:cNvPr id="189" name="Text"/>
          <p:cNvSpPr/>
          <p:nvPr/>
        </p:nvSpPr>
        <p:spPr>
          <a:xfrm>
            <a:off x="3737768" y="3390000"/>
            <a:ext cx="1001616" cy="300000"/>
          </a:xfrm>
          <a:prstGeom prst="rect">
            <a:avLst/>
          </a:prstGeom>
          <a:noFill/>
        </p:spPr>
        <p:txBody>
          <a:bodyPr wrap="square" lIns="0" tIns="0" rIns="0" bIns="0" rtlCol="0" anchor="t"/>
          <a:lstStyle/>
          <a:p>
            <a:pPr marL="0" indent="0" algn="ctr">
              <a:lnSpc>
                <a:spcPct val="105"/>
              </a:lnSpc>
              <a:buNone/>
            </a:pPr>
            <a:r>
              <a:rPr lang="en-US" sz="780" b="1" dirty="0">
                <a:solidFill>
                  <a:srgbClr val="6E1423"/>
                </a:solidFill>
                <a:latin typeface="Calibri"/>
                <a:cs typeface="Calibri"/>
              </a:rPr>
              <a:t>Price Retrieval</a:t>
            </a:r>
          </a:p>
        </p:txBody>
      </p:sp>
      <p:sp>
        <p:nvSpPr>
          <p:cNvPr id="190" name="Text"/>
          <p:cNvSpPr/>
          <p:nvPr/>
        </p:nvSpPr>
        <p:spPr>
          <a:xfrm>
            <a:off x="4709384" y="3018800"/>
            <a:ext cx="60000" cy="202400"/>
          </a:xfrm>
          <a:prstGeom prst="rect">
            <a:avLst/>
          </a:prstGeom>
          <a:noFill/>
        </p:spPr>
        <p:txBody>
          <a:bodyPr wrap="square" lIns="0" tIns="0" rIns="0" bIns="0" rtlCol="0" anchor="ctr"/>
          <a:lstStyle/>
          <a:p>
            <a:pPr marL="0" indent="0" algn="ctr">
              <a:buNone/>
            </a:pPr>
            <a:r>
              <a:rPr lang="en-US" sz="1600" b="1" dirty="0">
                <a:solidFill>
                  <a:srgbClr val="A13D4C"/>
                </a:solidFill>
                <a:latin typeface="Calibri"/>
                <a:cs typeface="Calibri"/>
              </a:rPr>
              <a:t>›</a:t>
            </a:r>
          </a:p>
        </p:txBody>
      </p:sp>
      <p:sp>
        <p:nvSpPr>
          <p:cNvPr id="191" name="IconCircle"/>
          <p:cNvSpPr/>
          <p:nvPr/>
        </p:nvSpPr>
        <p:spPr>
          <a:xfrm>
            <a:off x="5010192" y="2890000"/>
            <a:ext cx="460000" cy="460000"/>
          </a:xfrm>
          <a:prstGeom prst="ellipse">
            <a:avLst/>
          </a:prstGeom>
          <a:solidFill>
            <a:srgbClr val="6E1423"/>
          </a:solidFill>
        </p:spPr>
      </p:sp>
      <p:pic>
        <p:nvPicPr>
          <p:cNvPr id="192" name="Icon" descr="/icons/excel.png"/>
          <p:cNvPicPr>
            <a:picLocks noChangeAspect="1"/>
          </p:cNvPicPr>
          <p:nvPr/>
        </p:nvPicPr>
        <p:blipFill>
          <a:blip r:embed="rId2"/>
          <a:stretch>
            <a:fillRect/>
          </a:stretch>
        </p:blipFill>
        <p:spPr>
          <a:xfrm>
            <a:off x="5097592" y="2977400"/>
            <a:ext cx="285200" cy="285200"/>
          </a:xfrm>
          <a:prstGeom prst="rect">
            <a:avLst/>
          </a:prstGeom>
        </p:spPr>
      </p:pic>
      <p:sp>
        <p:nvSpPr>
          <p:cNvPr id="193" name="Text"/>
          <p:cNvSpPr/>
          <p:nvPr/>
        </p:nvSpPr>
        <p:spPr>
          <a:xfrm>
            <a:off x="4739384" y="3390000"/>
            <a:ext cx="1001616" cy="300000"/>
          </a:xfrm>
          <a:prstGeom prst="rect">
            <a:avLst/>
          </a:prstGeom>
          <a:noFill/>
        </p:spPr>
        <p:txBody>
          <a:bodyPr wrap="square" lIns="0" tIns="0" rIns="0" bIns="0" rtlCol="0" anchor="t"/>
          <a:lstStyle/>
          <a:p>
            <a:pPr marL="0" indent="0" algn="ctr">
              <a:lnSpc>
                <a:spcPct val="105"/>
              </a:lnSpc>
              <a:buNone/>
            </a:pPr>
            <a:r>
              <a:rPr lang="en-US" sz="780" b="1" dirty="0">
                <a:solidFill>
                  <a:srgbClr val="6E1423"/>
                </a:solidFill>
                <a:latin typeface="Calibri"/>
                <a:cs typeface="Calibri"/>
              </a:rPr>
              <a:t>Excel Output</a:t>
            </a:r>
          </a:p>
        </p:txBody>
      </p:sp>
      <p:sp>
        <p:nvSpPr>
          <p:cNvPr id="194" name="Card"/>
          <p:cNvSpPr/>
          <p:nvPr/>
        </p:nvSpPr>
        <p:spPr>
          <a:xfrm>
            <a:off x="6221000" y="1560000"/>
            <a:ext cx="5468080" cy="2050000"/>
          </a:xfrm>
          <a:prstGeom prst="roundRect">
            <a:avLst>
              <a:gd name="adj" fmla="val 1319"/>
            </a:avLst>
          </a:prstGeom>
          <a:solidFill>
            <a:srgbClr val="F3E6E1"/>
          </a:solidFill>
          <a:effectLst>
            <a:outerShdw blurRad="90000" dist="30000" dir="5400000" algn="tl" rotWithShape="0">
              <a:srgbClr val="3A1520">
                <a:alpha val="18000"/>
              </a:srgbClr>
            </a:outerShdw>
          </a:effectLst>
        </p:spPr>
      </p:sp>
      <p:sp>
        <p:nvSpPr>
          <p:cNvPr id="195" name="Text"/>
          <p:cNvSpPr/>
          <p:nvPr/>
        </p:nvSpPr>
        <p:spPr>
          <a:xfrm>
            <a:off x="6451000" y="1710000"/>
            <a:ext cx="5008080" cy="220000"/>
          </a:xfrm>
          <a:prstGeom prst="rect">
            <a:avLst/>
          </a:prstGeom>
          <a:noFill/>
        </p:spPr>
        <p:txBody>
          <a:bodyPr wrap="square" lIns="0" tIns="0" rIns="0" bIns="0" rtlCol="0" anchor="ctr"/>
          <a:lstStyle/>
          <a:p>
            <a:pPr marL="0" indent="0" algn="l">
              <a:buNone/>
            </a:pPr>
            <a:r>
              <a:rPr lang="en-US" sz="1100" b="1" spc="180" dirty="0">
                <a:solidFill>
                  <a:srgbClr val="A13D4C"/>
                </a:solidFill>
                <a:latin typeface="Calibri"/>
                <a:cs typeface="Calibri"/>
              </a:rPr>
              <a:t>CHALLENGES FACED</a:t>
            </a:r>
          </a:p>
        </p:txBody>
      </p:sp>
      <p:sp>
        <p:nvSpPr>
          <p:cNvPr id="196" name="Bullets"/>
          <p:cNvSpPr/>
          <p:nvPr/>
        </p:nvSpPr>
        <p:spPr>
          <a:xfrm>
            <a:off x="6451000" y="1990000"/>
            <a:ext cx="5008080" cy="1550000"/>
          </a:xfrm>
          <a:prstGeom prst="rect">
            <a:avLst/>
          </a:prstGeom>
          <a:noFill/>
        </p:spPr>
        <p:txBody>
          <a:bodyPr wrap="square" lIns="0" tIns="0" rIns="0" bIns="0" rtlCol="0" anchor="t"/>
          <a:lstStyle/>
          <a:p>
            <a:pPr marL="182880" indent="-182880">
              <a:lnSpc>
                <a:spcPct val="112"/>
              </a:lnSpc>
              <a:spcAft>
                <a:spcPts val="600"/>
              </a:spcAft>
              <a:buFont typeface="Arial"/>
              <a:buChar char="•"/>
            </a:pPr>
            <a:r>
              <a:rPr lang="en-US" sz="920" dirty="0" smtClean="0">
                <a:solidFill>
                  <a:srgbClr val="3A1520"/>
                </a:solidFill>
                <a:latin typeface="Calibri"/>
                <a:cs typeface="Calibri"/>
              </a:rPr>
              <a:t>L</a:t>
            </a:r>
            <a:endParaRPr lang="en-US" sz="920" dirty="0">
              <a:solidFill>
                <a:srgbClr val="3A1520"/>
              </a:solidFill>
              <a:latin typeface="Calibri"/>
              <a:cs typeface="Calibri"/>
            </a:endParaRPr>
          </a:p>
        </p:txBody>
      </p:sp>
      <p:sp>
        <p:nvSpPr>
          <p:cNvPr id="197" name="Card"/>
          <p:cNvSpPr/>
          <p:nvPr/>
        </p:nvSpPr>
        <p:spPr>
          <a:xfrm>
            <a:off x="502920" y="3740000"/>
            <a:ext cx="11186160" cy="620000"/>
          </a:xfrm>
          <a:prstGeom prst="roundRect">
            <a:avLst>
              <a:gd name="adj" fmla="val 5217"/>
            </a:avLst>
          </a:prstGeom>
          <a:solidFill>
            <a:srgbClr val="6E1423"/>
          </a:solidFill>
        </p:spPr>
      </p:sp>
      <p:sp>
        <p:nvSpPr>
          <p:cNvPr id="198" name="Text"/>
          <p:cNvSpPr/>
          <p:nvPr/>
        </p:nvSpPr>
        <p:spPr>
          <a:xfrm>
            <a:off x="822960" y="3740000"/>
            <a:ext cx="10546080" cy="620000"/>
          </a:xfrm>
          <a:prstGeom prst="rect">
            <a:avLst/>
          </a:prstGeom>
          <a:noFill/>
        </p:spPr>
        <p:txBody>
          <a:bodyPr wrap="square" lIns="0" tIns="0" rIns="0" bIns="0" rtlCol="0" anchor="ctr"/>
          <a:lstStyle/>
          <a:p>
            <a:pPr marL="0" indent="0" algn="l">
              <a:buNone/>
            </a:pPr>
            <a:r>
              <a:rPr lang="en-US" sz="1150" b="1" dirty="0">
                <a:solidFill>
                  <a:srgbClr val="FFFFFF"/>
                </a:solidFill>
                <a:latin typeface="Calibri"/>
                <a:cs typeface="Calibri"/>
              </a:rPr>
              <a:t>Key Learning — The Python automation, Excel processing, and workflow were fully functional; the limitation was the Apify actor's licensing model, which required a paid rental after the free trial expired.</a:t>
            </a:r>
          </a:p>
        </p:txBody>
      </p:sp>
      <p:sp>
        <p:nvSpPr>
          <p:cNvPr id="200" name="Text"/>
          <p:cNvSpPr/>
          <p:nvPr/>
        </p:nvSpPr>
        <p:spPr>
          <a:xfrm>
            <a:off x="502920" y="0"/>
            <a:ext cx="2684040" cy="0"/>
          </a:xfrm>
          <a:prstGeom prst="rect">
            <a:avLst/>
          </a:prstGeom>
          <a:noFill/>
        </p:spPr>
        <p:txBody>
          <a:bodyPr wrap="square" lIns="0" tIns="0" rIns="0" bIns="0" rtlCol="0" anchor="ctr"/>
          <a:lstStyle/>
          <a:p>
            <a:pPr marL="0" indent="0" algn="ctr">
              <a:buNone/>
            </a:pPr>
            <a:endParaRPr lang="en-US" sz="1600" b="1" dirty="0">
              <a:solidFill>
                <a:srgbClr val="6E1423"/>
              </a:solidFill>
              <a:latin typeface="Cambria"/>
              <a:cs typeface="Cambria"/>
            </a:endParaRPr>
          </a:p>
        </p:txBody>
      </p:sp>
      <p:sp>
        <p:nvSpPr>
          <p:cNvPr id="201" name="Text"/>
          <p:cNvSpPr/>
          <p:nvPr/>
        </p:nvSpPr>
        <p:spPr>
          <a:xfrm>
            <a:off x="582920" y="0"/>
            <a:ext cx="2524040" cy="0"/>
          </a:xfrm>
          <a:prstGeom prst="rect">
            <a:avLst/>
          </a:prstGeom>
          <a:noFill/>
        </p:spPr>
        <p:txBody>
          <a:bodyPr wrap="square" lIns="0" tIns="0" rIns="0" bIns="0" rtlCol="0" anchor="t"/>
          <a:lstStyle/>
          <a:p>
            <a:pPr marL="0" indent="0" algn="ctr">
              <a:buNone/>
            </a:pPr>
            <a:endParaRPr lang="en-US" sz="850" dirty="0">
              <a:solidFill>
                <a:srgbClr val="7D5A5E"/>
              </a:solidFill>
              <a:latin typeface="Calibri"/>
              <a:cs typeface="Calibri"/>
            </a:endParaRPr>
          </a:p>
        </p:txBody>
      </p:sp>
      <p:sp>
        <p:nvSpPr>
          <p:cNvPr id="203" name="Text"/>
          <p:cNvSpPr/>
          <p:nvPr/>
        </p:nvSpPr>
        <p:spPr>
          <a:xfrm>
            <a:off x="3336960" y="0"/>
            <a:ext cx="2684040" cy="0"/>
          </a:xfrm>
          <a:prstGeom prst="rect">
            <a:avLst/>
          </a:prstGeom>
          <a:noFill/>
        </p:spPr>
        <p:txBody>
          <a:bodyPr wrap="square" lIns="0" tIns="0" rIns="0" bIns="0" rtlCol="0" anchor="ctr"/>
          <a:lstStyle/>
          <a:p>
            <a:pPr marL="0" indent="0" algn="ctr">
              <a:buNone/>
            </a:pPr>
            <a:endParaRPr lang="en-US" sz="1600" b="1" dirty="0">
              <a:solidFill>
                <a:srgbClr val="6E1423"/>
              </a:solidFill>
              <a:latin typeface="Cambria"/>
              <a:cs typeface="Cambria"/>
            </a:endParaRPr>
          </a:p>
        </p:txBody>
      </p:sp>
      <p:sp>
        <p:nvSpPr>
          <p:cNvPr id="204" name="Text"/>
          <p:cNvSpPr/>
          <p:nvPr/>
        </p:nvSpPr>
        <p:spPr>
          <a:xfrm>
            <a:off x="3416960" y="0"/>
            <a:ext cx="2524040" cy="0"/>
          </a:xfrm>
          <a:prstGeom prst="rect">
            <a:avLst/>
          </a:prstGeom>
          <a:noFill/>
        </p:spPr>
        <p:txBody>
          <a:bodyPr wrap="square" lIns="0" tIns="0" rIns="0" bIns="0" rtlCol="0" anchor="t"/>
          <a:lstStyle/>
          <a:p>
            <a:pPr marL="0" indent="0" algn="ctr">
              <a:buNone/>
            </a:pPr>
            <a:r>
              <a:rPr lang="en-US" sz="850" dirty="0">
                <a:solidFill>
                  <a:srgbClr val="7D5A5E"/>
                </a:solidFill>
                <a:latin typeface="Calibri"/>
                <a:cs typeface="Calibri"/>
              </a:rPr>
              <a:t>Excel Generation</a:t>
            </a:r>
          </a:p>
        </p:txBody>
      </p:sp>
      <p:sp>
        <p:nvSpPr>
          <p:cNvPr id="206" name="Text"/>
          <p:cNvSpPr/>
          <p:nvPr/>
        </p:nvSpPr>
        <p:spPr>
          <a:xfrm>
            <a:off x="6171000" y="0"/>
            <a:ext cx="2684040" cy="0"/>
          </a:xfrm>
          <a:prstGeom prst="rect">
            <a:avLst/>
          </a:prstGeom>
          <a:noFill/>
        </p:spPr>
        <p:txBody>
          <a:bodyPr wrap="square" lIns="0" tIns="0" rIns="0" bIns="0" rtlCol="0" anchor="ctr"/>
          <a:lstStyle/>
          <a:p>
            <a:pPr marL="0" indent="0" algn="ctr">
              <a:buNone/>
            </a:pPr>
            <a:endParaRPr lang="en-US" sz="1600" b="1" dirty="0">
              <a:solidFill>
                <a:srgbClr val="6E1423"/>
              </a:solidFill>
              <a:latin typeface="Cambria"/>
              <a:cs typeface="Cambria"/>
            </a:endParaRPr>
          </a:p>
        </p:txBody>
      </p:sp>
      <p:sp>
        <p:nvSpPr>
          <p:cNvPr id="207" name="Text"/>
          <p:cNvSpPr/>
          <p:nvPr/>
        </p:nvSpPr>
        <p:spPr>
          <a:xfrm>
            <a:off x="6251000" y="0"/>
            <a:ext cx="2524040" cy="0"/>
          </a:xfrm>
          <a:prstGeom prst="rect">
            <a:avLst/>
          </a:prstGeom>
          <a:noFill/>
        </p:spPr>
        <p:txBody>
          <a:bodyPr wrap="square" lIns="0" tIns="0" rIns="0" bIns="0" rtlCol="0" anchor="t"/>
          <a:lstStyle/>
          <a:p>
            <a:pPr marL="0" indent="0" algn="ctr">
              <a:buNone/>
            </a:pPr>
            <a:r>
              <a:rPr lang="en-US" sz="850" dirty="0" smtClean="0">
                <a:solidFill>
                  <a:srgbClr val="7D5A5E"/>
                </a:solidFill>
                <a:latin typeface="Calibri"/>
                <a:cs typeface="Calibri"/>
              </a:rPr>
              <a:t>3</a:t>
            </a:r>
            <a:r>
              <a:rPr lang="en-US" sz="850" dirty="0">
                <a:solidFill>
                  <a:srgbClr val="7D5A5E"/>
                </a:solidFill>
                <a:latin typeface="Calibri"/>
                <a:cs typeface="Calibri"/>
              </a:rPr>
              <a:t>)</a:t>
            </a:r>
          </a:p>
        </p:txBody>
      </p:sp>
      <p:sp>
        <p:nvSpPr>
          <p:cNvPr id="209" name="Text"/>
          <p:cNvSpPr/>
          <p:nvPr/>
        </p:nvSpPr>
        <p:spPr>
          <a:xfrm>
            <a:off x="9005040" y="0"/>
            <a:ext cx="2684040" cy="0"/>
          </a:xfrm>
          <a:prstGeom prst="rect">
            <a:avLst/>
          </a:prstGeom>
          <a:noFill/>
        </p:spPr>
        <p:txBody>
          <a:bodyPr wrap="square" lIns="0" tIns="0" rIns="0" bIns="0" rtlCol="0" anchor="ctr"/>
          <a:lstStyle/>
          <a:p>
            <a:pPr marL="0" indent="0" algn="ctr">
              <a:buNone/>
            </a:pPr>
            <a:endParaRPr lang="en-US" sz="1600" b="1" dirty="0">
              <a:solidFill>
                <a:srgbClr val="6E1423"/>
              </a:solidFill>
              <a:latin typeface="Cambria"/>
              <a:cs typeface="Cambria"/>
            </a:endParaRPr>
          </a:p>
        </p:txBody>
      </p:sp>
      <p:sp>
        <p:nvSpPr>
          <p:cNvPr id="210" name="Text"/>
          <p:cNvSpPr/>
          <p:nvPr/>
        </p:nvSpPr>
        <p:spPr>
          <a:xfrm>
            <a:off x="9085040" y="0"/>
            <a:ext cx="2524040" cy="0"/>
          </a:xfrm>
          <a:prstGeom prst="rect">
            <a:avLst/>
          </a:prstGeom>
          <a:noFill/>
        </p:spPr>
        <p:txBody>
          <a:bodyPr wrap="square" lIns="0" tIns="0" rIns="0" bIns="0" rtlCol="0" anchor="t"/>
          <a:lstStyle/>
          <a:p>
            <a:pPr marL="0" indent="0" algn="ctr">
              <a:buNone/>
            </a:pPr>
            <a:endParaRPr lang="en-US" sz="850" dirty="0">
              <a:solidFill>
                <a:srgbClr val="7D5A5E"/>
              </a:solidFill>
              <a:latin typeface="Calibri"/>
              <a:cs typeface="Calibri"/>
            </a:endParaRPr>
          </a:p>
        </p:txBody>
      </p:sp>
      <p:sp>
        <p:nvSpPr>
          <p:cNvPr id="211" name="Card"/>
          <p:cNvSpPr/>
          <p:nvPr/>
        </p:nvSpPr>
        <p:spPr>
          <a:xfrm>
            <a:off x="502920" y="4630000"/>
            <a:ext cx="2684040" cy="1180000"/>
          </a:xfrm>
          <a:prstGeom prst="roundRect">
            <a:avLst>
              <a:gd name="adj" fmla="val 6000"/>
            </a:avLst>
          </a:prstGeom>
          <a:solidFill>
            <a:srgbClr val="FFFFFF"/>
          </a:solidFill>
          <a:ln w="12700">
            <a:solidFill>
              <a:srgbClr val="E3C9CC"/>
            </a:solidFill>
            <a:prstDash val="solid"/>
          </a:ln>
        </p:spPr>
      </p:sp>
      <p:sp>
        <p:nvSpPr>
          <p:cNvPr id="214" name="Text"/>
          <p:cNvSpPr/>
          <p:nvPr/>
        </p:nvSpPr>
        <p:spPr>
          <a:xfrm>
            <a:off x="542920" y="6130000"/>
            <a:ext cx="2604040" cy="280000"/>
          </a:xfrm>
          <a:prstGeom prst="rect">
            <a:avLst/>
          </a:prstGeom>
          <a:noFill/>
        </p:spPr>
        <p:txBody>
          <a:bodyPr wrap="square" lIns="0" tIns="0" rIns="0" bIns="0" rtlCol="0" anchor="t"/>
          <a:lstStyle/>
          <a:p>
            <a:pPr marL="0" indent="0" algn="ctr">
              <a:lnSpc>
                <a:spcPct val="105"/>
              </a:lnSpc>
              <a:buNone/>
            </a:pPr>
            <a:r>
              <a:rPr lang="en-US" sz="820" b="1" dirty="0">
                <a:solidFill>
                  <a:srgbClr val="A13D4C"/>
                </a:solidFill>
                <a:latin typeface="Calibri"/>
                <a:cs typeface="Calibri"/>
              </a:rPr>
              <a:t>NAPA Logo</a:t>
            </a:r>
          </a:p>
        </p:txBody>
      </p:sp>
      <p:sp>
        <p:nvSpPr>
          <p:cNvPr id="215" name="Card"/>
          <p:cNvSpPr/>
          <p:nvPr/>
        </p:nvSpPr>
        <p:spPr>
          <a:xfrm>
            <a:off x="3316960" y="4593643"/>
            <a:ext cx="2684040" cy="1180000"/>
          </a:xfrm>
          <a:prstGeom prst="roundRect">
            <a:avLst>
              <a:gd name="adj" fmla="val 6000"/>
            </a:avLst>
          </a:prstGeom>
          <a:solidFill>
            <a:srgbClr val="FFFFFF"/>
          </a:solidFill>
          <a:ln w="12700">
            <a:solidFill>
              <a:srgbClr val="E3C9CC"/>
            </a:solidFill>
            <a:prstDash val="solid"/>
          </a:ln>
        </p:spPr>
      </p:sp>
      <p:sp>
        <p:nvSpPr>
          <p:cNvPr id="218" name="Text"/>
          <p:cNvSpPr/>
          <p:nvPr/>
        </p:nvSpPr>
        <p:spPr>
          <a:xfrm>
            <a:off x="3376960" y="6130000"/>
            <a:ext cx="2604040" cy="280000"/>
          </a:xfrm>
          <a:prstGeom prst="rect">
            <a:avLst/>
          </a:prstGeom>
          <a:noFill/>
        </p:spPr>
        <p:txBody>
          <a:bodyPr wrap="square" lIns="0" tIns="0" rIns="0" bIns="0" rtlCol="0" anchor="t"/>
          <a:lstStyle/>
          <a:p>
            <a:pPr marL="0" indent="0" algn="ctr">
              <a:lnSpc>
                <a:spcPct val="105"/>
              </a:lnSpc>
              <a:buNone/>
            </a:pPr>
            <a:r>
              <a:rPr lang="en-US" sz="820" b="1" dirty="0">
                <a:solidFill>
                  <a:srgbClr val="A13D4C"/>
                </a:solidFill>
                <a:latin typeface="Calibri"/>
                <a:cs typeface="Calibri"/>
              </a:rPr>
              <a:t>Homepage Screenshot</a:t>
            </a:r>
          </a:p>
        </p:txBody>
      </p:sp>
      <p:sp>
        <p:nvSpPr>
          <p:cNvPr id="219" name="Card"/>
          <p:cNvSpPr/>
          <p:nvPr/>
        </p:nvSpPr>
        <p:spPr>
          <a:xfrm>
            <a:off x="6171000" y="4579999"/>
            <a:ext cx="2684040" cy="1180000"/>
          </a:xfrm>
          <a:prstGeom prst="roundRect">
            <a:avLst>
              <a:gd name="adj" fmla="val 6000"/>
            </a:avLst>
          </a:prstGeom>
          <a:solidFill>
            <a:srgbClr val="FFFFFF"/>
          </a:solidFill>
          <a:ln w="12700">
            <a:solidFill>
              <a:srgbClr val="E3C9CC"/>
            </a:solidFill>
            <a:prstDash val="solid"/>
          </a:ln>
        </p:spPr>
      </p:sp>
      <p:sp>
        <p:nvSpPr>
          <p:cNvPr id="222" name="Text"/>
          <p:cNvSpPr/>
          <p:nvPr/>
        </p:nvSpPr>
        <p:spPr>
          <a:xfrm>
            <a:off x="6211000" y="6130000"/>
            <a:ext cx="2604040" cy="280000"/>
          </a:xfrm>
          <a:prstGeom prst="rect">
            <a:avLst/>
          </a:prstGeom>
          <a:noFill/>
        </p:spPr>
        <p:txBody>
          <a:bodyPr wrap="square" lIns="0" tIns="0" rIns="0" bIns="0" rtlCol="0" anchor="t"/>
          <a:lstStyle/>
          <a:p>
            <a:pPr marL="0" indent="0" algn="ctr">
              <a:lnSpc>
                <a:spcPct val="105"/>
              </a:lnSpc>
              <a:buNone/>
            </a:pPr>
            <a:r>
              <a:rPr lang="en-US" sz="820" b="1" dirty="0">
                <a:solidFill>
                  <a:srgbClr val="A13D4C"/>
                </a:solidFill>
                <a:latin typeface="Calibri"/>
                <a:cs typeface="Calibri"/>
              </a:rPr>
              <a:t>Product Search Screenshot</a:t>
            </a:r>
          </a:p>
        </p:txBody>
      </p:sp>
      <p:sp>
        <p:nvSpPr>
          <p:cNvPr id="223" name="Card"/>
          <p:cNvSpPr/>
          <p:nvPr/>
        </p:nvSpPr>
        <p:spPr>
          <a:xfrm>
            <a:off x="9005040" y="4574924"/>
            <a:ext cx="2684040" cy="1180000"/>
          </a:xfrm>
          <a:prstGeom prst="roundRect">
            <a:avLst>
              <a:gd name="adj" fmla="val 6000"/>
            </a:avLst>
          </a:prstGeom>
          <a:solidFill>
            <a:srgbClr val="FFFFFF"/>
          </a:solidFill>
          <a:ln w="12700">
            <a:solidFill>
              <a:srgbClr val="E3C9CC"/>
            </a:solidFill>
            <a:prstDash val="solid"/>
          </a:ln>
        </p:spPr>
      </p:sp>
      <p:sp>
        <p:nvSpPr>
          <p:cNvPr id="226" name="Text"/>
          <p:cNvSpPr/>
          <p:nvPr/>
        </p:nvSpPr>
        <p:spPr>
          <a:xfrm>
            <a:off x="9045040" y="6130000"/>
            <a:ext cx="2604040" cy="280000"/>
          </a:xfrm>
          <a:prstGeom prst="rect">
            <a:avLst/>
          </a:prstGeom>
          <a:noFill/>
        </p:spPr>
        <p:txBody>
          <a:bodyPr wrap="square" lIns="0" tIns="0" rIns="0" bIns="0" rtlCol="0" anchor="t"/>
          <a:lstStyle/>
          <a:p>
            <a:pPr marL="0" indent="0" algn="ctr">
              <a:lnSpc>
                <a:spcPct val="105"/>
              </a:lnSpc>
              <a:buNone/>
            </a:pPr>
            <a:r>
              <a:rPr lang="en-US" sz="820" b="1" dirty="0">
                <a:solidFill>
                  <a:srgbClr val="A13D4C"/>
                </a:solidFill>
                <a:latin typeface="Calibri"/>
                <a:cs typeface="Calibri"/>
              </a:rPr>
              <a:t>Product Page Screenshot</a:t>
            </a:r>
          </a:p>
        </p:txBody>
      </p:sp>
      <p:pic>
        <p:nvPicPr>
          <p:cNvPr id="2" name="Picture 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5544" y="4643673"/>
            <a:ext cx="2631415" cy="1178567"/>
          </a:xfrm>
          <a:prstGeom prst="rect">
            <a:avLst/>
          </a:prstGeom>
        </p:spPr>
      </p:pic>
      <p:pic>
        <p:nvPicPr>
          <p:cNvPr id="3" name="Picture 2"/>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005040" y="4560474"/>
            <a:ext cx="2644040" cy="1199525"/>
          </a:xfrm>
          <a:prstGeom prst="rect">
            <a:avLst/>
          </a:prstGeom>
        </p:spPr>
      </p:pic>
      <p:pic>
        <p:nvPicPr>
          <p:cNvPr id="4" name="Picture 3"/>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314877" y="4593642"/>
            <a:ext cx="2676640" cy="1264979"/>
          </a:xfrm>
          <a:prstGeom prst="rect">
            <a:avLst/>
          </a:prstGeom>
        </p:spPr>
      </p:pic>
      <p:pic>
        <p:nvPicPr>
          <p:cNvPr id="5" name="Picture 4"/>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211000" y="4560474"/>
            <a:ext cx="2680590" cy="1249526"/>
          </a:xfrm>
          <a:prstGeom prst="rect">
            <a:avLst/>
          </a:prstGeom>
        </p:spPr>
      </p:pic>
      <p:sp>
        <p:nvSpPr>
          <p:cNvPr id="6" name="Rectangle 1"/>
          <p:cNvSpPr>
            <a:spLocks noChangeArrowheads="1"/>
          </p:cNvSpPr>
          <p:nvPr/>
        </p:nvSpPr>
        <p:spPr bwMode="auto">
          <a:xfrm>
            <a:off x="6282616" y="2180518"/>
            <a:ext cx="3828292" cy="6924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smtClean="0">
                <a:ln>
                  <a:noFill/>
                </a:ln>
                <a:solidFill>
                  <a:schemeClr val="tx1"/>
                </a:solidFill>
                <a:effectLst/>
                <a:latin typeface="Arial" panose="020B0604020202020204" pitchFamily="34" charset="0"/>
              </a:rPr>
              <a:t>Every API request returned </a:t>
            </a:r>
            <a:r>
              <a:rPr kumimoji="0" lang="en-US" altLang="en-US" sz="1050" b="1" i="0" u="none" strike="noStrike" cap="none" normalizeH="0" baseline="0" dirty="0" smtClean="0">
                <a:ln>
                  <a:noFill/>
                </a:ln>
                <a:solidFill>
                  <a:schemeClr val="tx1"/>
                </a:solidFill>
                <a:effectLst/>
                <a:latin typeface="Arial" panose="020B0604020202020204" pitchFamily="34" charset="0"/>
              </a:rPr>
              <a:t>403 Forbidden</a:t>
            </a:r>
            <a:r>
              <a:rPr kumimoji="0" lang="en-US" altLang="en-US" sz="105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smtClean="0">
                <a:ln>
                  <a:noFill/>
                </a:ln>
                <a:solidFill>
                  <a:schemeClr val="tx1"/>
                </a:solidFill>
                <a:effectLst/>
                <a:latin typeface="Arial" panose="020B0604020202020204" pitchFamily="34" charset="0"/>
              </a:rPr>
              <a:t>Even after generating a new API token, the issue remained.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3E7"/>
        </a:solidFill>
        <a:effectLst/>
      </p:bgPr>
    </p:bg>
    <p:spTree>
      <p:nvGrpSpPr>
        <p:cNvPr id="1" name=""/>
        <p:cNvGrpSpPr/>
        <p:nvPr/>
      </p:nvGrpSpPr>
      <p:grpSpPr>
        <a:xfrm>
          <a:off x="0" y="0"/>
          <a:ext cx="0" cy="0"/>
          <a:chOff x="0" y="0"/>
          <a:chExt cx="0" cy="0"/>
        </a:xfrm>
      </p:grpSpPr>
      <p:sp>
        <p:nvSpPr>
          <p:cNvPr id="2" name="Text 0"/>
          <p:cNvSpPr/>
          <p:nvPr/>
        </p:nvSpPr>
        <p:spPr>
          <a:xfrm>
            <a:off x="502920" y="384048"/>
            <a:ext cx="9601200" cy="274320"/>
          </a:xfrm>
          <a:prstGeom prst="rect">
            <a:avLst/>
          </a:prstGeom>
          <a:noFill/>
        </p:spPr>
        <p:txBody>
          <a:bodyPr wrap="square" lIns="0" tIns="0" rIns="0" bIns="0" rtlCol="0" anchor="ctr"/>
          <a:lstStyle/>
          <a:p>
            <a:pPr marL="0" indent="0">
              <a:buNone/>
            </a:pPr>
            <a:r>
              <a:rPr lang="en-US" sz="1200" b="1" kern="0" spc="200" dirty="0">
                <a:solidFill>
                  <a:srgbClr val="A13D4C"/>
                </a:solidFill>
                <a:latin typeface="Calibri" panose="020F0502020204030204" pitchFamily="34" charset="0"/>
                <a:ea typeface="Calibri" panose="020F0502020204030204" pitchFamily="34" charset="-122"/>
                <a:cs typeface="Calibri" panose="020F0502020204030204" pitchFamily="34" charset="-120"/>
              </a:rPr>
              <a:t>TECHNIQUES &amp; TOOLING</a:t>
            </a:r>
            <a:endParaRPr lang="en-US" sz="1200" dirty="0"/>
          </a:p>
        </p:txBody>
      </p:sp>
      <p:sp>
        <p:nvSpPr>
          <p:cNvPr id="3" name="Text 1"/>
          <p:cNvSpPr/>
          <p:nvPr/>
        </p:nvSpPr>
        <p:spPr>
          <a:xfrm>
            <a:off x="502920" y="658368"/>
            <a:ext cx="10515600" cy="566928"/>
          </a:xfrm>
          <a:prstGeom prst="rect">
            <a:avLst/>
          </a:prstGeom>
          <a:noFill/>
        </p:spPr>
        <p:txBody>
          <a:bodyPr wrap="square" lIns="0" tIns="0" rIns="0" bIns="0" rtlCol="0" anchor="ctr"/>
          <a:lstStyle/>
          <a:p>
            <a:pPr marL="0" indent="0">
              <a:buNone/>
            </a:pPr>
            <a:r>
              <a:rPr lang="en-US" sz="2700" b="1" dirty="0">
                <a:solidFill>
                  <a:srgbClr val="6E1423"/>
                </a:solidFill>
                <a:latin typeface="Cambria" panose="02040503050406030204" pitchFamily="34" charset="0"/>
                <a:ea typeface="Cambria" panose="02040503050406030204" pitchFamily="34" charset="-122"/>
                <a:cs typeface="Cambria" panose="02040503050406030204" pitchFamily="34" charset="-120"/>
              </a:rPr>
              <a:t>Web Scraping &amp; Automation</a:t>
            </a:r>
            <a:endParaRPr lang="en-US" sz="2700" dirty="0"/>
          </a:p>
        </p:txBody>
      </p:sp>
      <p:sp>
        <p:nvSpPr>
          <p:cNvPr id="4" name="Text 2"/>
          <p:cNvSpPr/>
          <p:nvPr/>
        </p:nvSpPr>
        <p:spPr>
          <a:xfrm>
            <a:off x="502920" y="6492240"/>
            <a:ext cx="4572000" cy="256032"/>
          </a:xfrm>
          <a:prstGeom prst="rect">
            <a:avLst/>
          </a:prstGeom>
          <a:noFill/>
        </p:spPr>
        <p:txBody>
          <a:bodyPr wrap="square" lIns="0" tIns="0" rIns="0" bIns="0" rtlCol="0" anchor="ctr"/>
          <a:lstStyle/>
          <a:p>
            <a:pPr marL="0" indent="0">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Ford Internship Experience</a:t>
            </a:r>
            <a:endParaRPr lang="en-US" sz="1000" dirty="0"/>
          </a:p>
        </p:txBody>
      </p:sp>
      <p:sp>
        <p:nvSpPr>
          <p:cNvPr id="5" name="Text 3"/>
          <p:cNvSpPr/>
          <p:nvPr/>
        </p:nvSpPr>
        <p:spPr>
          <a:xfrm>
            <a:off x="10725912" y="6492240"/>
            <a:ext cx="457200" cy="256032"/>
          </a:xfrm>
          <a:prstGeom prst="rect">
            <a:avLst/>
          </a:prstGeom>
          <a:noFill/>
        </p:spPr>
        <p:txBody>
          <a:bodyPr wrap="square" lIns="0" tIns="0" rIns="0" bIns="0" rtlCol="0" anchor="ctr"/>
          <a:lstStyle/>
          <a:p>
            <a:pPr marL="0" indent="0" algn="r">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10</a:t>
            </a:r>
            <a:endParaRPr lang="en-US" sz="1000" dirty="0"/>
          </a:p>
        </p:txBody>
      </p:sp>
      <p:sp>
        <p:nvSpPr>
          <p:cNvPr id="6" name="Text 4"/>
          <p:cNvSpPr/>
          <p:nvPr/>
        </p:nvSpPr>
        <p:spPr>
          <a:xfrm>
            <a:off x="502920" y="1371600"/>
            <a:ext cx="5486400" cy="256032"/>
          </a:xfrm>
          <a:prstGeom prst="rect">
            <a:avLst/>
          </a:prstGeom>
          <a:noFill/>
        </p:spPr>
        <p:txBody>
          <a:bodyPr wrap="square" lIns="0" tIns="0" rIns="0" bIns="0" rtlCol="0" anchor="ctr"/>
          <a:lstStyle/>
          <a:p>
            <a:pPr marL="0" indent="0">
              <a:buNone/>
            </a:pPr>
            <a:r>
              <a:rPr lang="en-US" sz="1050" b="1" kern="0" spc="100" dirty="0">
                <a:solidFill>
                  <a:srgbClr val="A13D4C"/>
                </a:solidFill>
                <a:latin typeface="Calibri" panose="020F0502020204030204" pitchFamily="34" charset="0"/>
                <a:ea typeface="Calibri" panose="020F0502020204030204" pitchFamily="34" charset="-122"/>
                <a:cs typeface="Calibri" panose="020F0502020204030204" pitchFamily="34" charset="-120"/>
              </a:rPr>
              <a:t>CORE CONCEPTS</a:t>
            </a:r>
            <a:endParaRPr lang="en-US" sz="1050" dirty="0"/>
          </a:p>
        </p:txBody>
      </p:sp>
      <p:sp>
        <p:nvSpPr>
          <p:cNvPr id="7" name="Shape 5"/>
          <p:cNvSpPr/>
          <p:nvPr/>
        </p:nvSpPr>
        <p:spPr>
          <a:xfrm>
            <a:off x="502920" y="1691640"/>
            <a:ext cx="2624328" cy="1508760"/>
          </a:xfrm>
          <a:prstGeom prst="roundRect">
            <a:avLst>
              <a:gd name="adj" fmla="val 3636"/>
            </a:avLst>
          </a:prstGeom>
          <a:solidFill>
            <a:srgbClr val="F3E6E1"/>
          </a:solidFill>
        </p:spPr>
      </p:sp>
      <p:sp>
        <p:nvSpPr>
          <p:cNvPr id="8" name="Shape 6"/>
          <p:cNvSpPr/>
          <p:nvPr/>
        </p:nvSpPr>
        <p:spPr>
          <a:xfrm>
            <a:off x="704088" y="1847088"/>
            <a:ext cx="420624" cy="420624"/>
          </a:xfrm>
          <a:prstGeom prst="ellipse">
            <a:avLst/>
          </a:prstGeom>
          <a:solidFill>
            <a:srgbClr val="6E1423"/>
          </a:solidFill>
        </p:spPr>
      </p:sp>
      <p:pic>
        <p:nvPicPr>
          <p:cNvPr id="9" name="Image 0" descr="/home/claude/work/icons/spider.png"/>
          <p:cNvPicPr>
            <a:picLocks noChangeAspect="1"/>
          </p:cNvPicPr>
          <p:nvPr/>
        </p:nvPicPr>
        <p:blipFill>
          <a:blip r:embed="rId3"/>
          <a:stretch>
            <a:fillRect/>
          </a:stretch>
        </p:blipFill>
        <p:spPr>
          <a:xfrm>
            <a:off x="767182" y="1910182"/>
            <a:ext cx="294437" cy="294437"/>
          </a:xfrm>
          <a:prstGeom prst="rect">
            <a:avLst/>
          </a:prstGeom>
        </p:spPr>
      </p:pic>
      <p:sp>
        <p:nvSpPr>
          <p:cNvPr id="10" name="Text 7"/>
          <p:cNvSpPr/>
          <p:nvPr/>
        </p:nvSpPr>
        <p:spPr>
          <a:xfrm>
            <a:off x="685800" y="2377440"/>
            <a:ext cx="2258568" cy="320040"/>
          </a:xfrm>
          <a:prstGeom prst="rect">
            <a:avLst/>
          </a:prstGeom>
          <a:noFill/>
        </p:spPr>
        <p:txBody>
          <a:bodyPr wrap="square" lIns="0" tIns="0" rIns="0" bIns="0" rtlCol="0" anchor="ctr"/>
          <a:lstStyle/>
          <a:p>
            <a:pPr marL="0" indent="0">
              <a:buNone/>
            </a:pPr>
            <a:r>
              <a:rPr lang="en-US" sz="1250" b="1" dirty="0">
                <a:solidFill>
                  <a:srgbClr val="6E1423"/>
                </a:solidFill>
                <a:latin typeface="Cambria" panose="02040503050406030204" pitchFamily="34" charset="0"/>
                <a:ea typeface="Cambria" panose="02040503050406030204" pitchFamily="34" charset="-122"/>
                <a:cs typeface="Cambria" panose="02040503050406030204" pitchFamily="34" charset="-120"/>
              </a:rPr>
              <a:t>Web Scraping</a:t>
            </a:r>
            <a:endParaRPr lang="en-US" sz="1250" dirty="0"/>
          </a:p>
        </p:txBody>
      </p:sp>
      <p:sp>
        <p:nvSpPr>
          <p:cNvPr id="11" name="Text 8"/>
          <p:cNvSpPr/>
          <p:nvPr/>
        </p:nvSpPr>
        <p:spPr>
          <a:xfrm>
            <a:off x="685800" y="2697480"/>
            <a:ext cx="2258568" cy="457200"/>
          </a:xfrm>
          <a:prstGeom prst="rect">
            <a:avLst/>
          </a:prstGeom>
          <a:noFill/>
        </p:spPr>
        <p:txBody>
          <a:bodyPr wrap="square" lIns="0" tIns="0" rIns="0" bIns="0" rtlCol="0" anchor="ctr"/>
          <a:lstStyle/>
          <a:p>
            <a:pPr marL="0" indent="0">
              <a:buNone/>
            </a:pPr>
            <a:r>
              <a:rPr lang="en-US" sz="950" dirty="0">
                <a:solidFill>
                  <a:srgbClr val="7D5A5E"/>
                </a:solidFill>
                <a:latin typeface="Calibri" panose="020F0502020204030204" pitchFamily="34" charset="0"/>
                <a:ea typeface="Calibri" panose="020F0502020204030204" pitchFamily="34" charset="-122"/>
                <a:cs typeface="Calibri" panose="020F0502020204030204" pitchFamily="34" charset="-120"/>
              </a:rPr>
              <a:t>Extracting data directly from a page's HTML.</a:t>
            </a:r>
            <a:endParaRPr lang="en-US" sz="950" dirty="0"/>
          </a:p>
        </p:txBody>
      </p:sp>
      <p:sp>
        <p:nvSpPr>
          <p:cNvPr id="12" name="Shape 9"/>
          <p:cNvSpPr/>
          <p:nvPr/>
        </p:nvSpPr>
        <p:spPr>
          <a:xfrm>
            <a:off x="3264408" y="1691640"/>
            <a:ext cx="2624328" cy="1508760"/>
          </a:xfrm>
          <a:prstGeom prst="roundRect">
            <a:avLst>
              <a:gd name="adj" fmla="val 3636"/>
            </a:avLst>
          </a:prstGeom>
          <a:solidFill>
            <a:srgbClr val="F3E6E1"/>
          </a:solidFill>
        </p:spPr>
      </p:sp>
      <p:sp>
        <p:nvSpPr>
          <p:cNvPr id="13" name="Shape 10"/>
          <p:cNvSpPr/>
          <p:nvPr/>
        </p:nvSpPr>
        <p:spPr>
          <a:xfrm>
            <a:off x="3465576" y="1847088"/>
            <a:ext cx="420624" cy="420624"/>
          </a:xfrm>
          <a:prstGeom prst="ellipse">
            <a:avLst/>
          </a:prstGeom>
          <a:solidFill>
            <a:srgbClr val="6E1423"/>
          </a:solidFill>
        </p:spPr>
      </p:sp>
      <p:pic>
        <p:nvPicPr>
          <p:cNvPr id="14" name="Image 1" descr="/home/claude/work/icons/cogs.png"/>
          <p:cNvPicPr>
            <a:picLocks noChangeAspect="1"/>
          </p:cNvPicPr>
          <p:nvPr/>
        </p:nvPicPr>
        <p:blipFill>
          <a:blip r:embed="rId4"/>
          <a:stretch>
            <a:fillRect/>
          </a:stretch>
        </p:blipFill>
        <p:spPr>
          <a:xfrm>
            <a:off x="3528670" y="1910182"/>
            <a:ext cx="294437" cy="294437"/>
          </a:xfrm>
          <a:prstGeom prst="rect">
            <a:avLst/>
          </a:prstGeom>
        </p:spPr>
      </p:pic>
      <p:sp>
        <p:nvSpPr>
          <p:cNvPr id="15" name="Text 11"/>
          <p:cNvSpPr/>
          <p:nvPr/>
        </p:nvSpPr>
        <p:spPr>
          <a:xfrm>
            <a:off x="3447288" y="2377440"/>
            <a:ext cx="2258568" cy="320040"/>
          </a:xfrm>
          <a:prstGeom prst="rect">
            <a:avLst/>
          </a:prstGeom>
          <a:noFill/>
        </p:spPr>
        <p:txBody>
          <a:bodyPr wrap="square" lIns="0" tIns="0" rIns="0" bIns="0" rtlCol="0" anchor="ctr"/>
          <a:lstStyle/>
          <a:p>
            <a:pPr marL="0" indent="0">
              <a:buNone/>
            </a:pPr>
            <a:r>
              <a:rPr lang="en-US" sz="1250" b="1" dirty="0">
                <a:solidFill>
                  <a:srgbClr val="6E1423"/>
                </a:solidFill>
                <a:latin typeface="Cambria" panose="02040503050406030204" pitchFamily="34" charset="0"/>
                <a:ea typeface="Cambria" panose="02040503050406030204" pitchFamily="34" charset="-122"/>
                <a:cs typeface="Cambria" panose="02040503050406030204" pitchFamily="34" charset="-120"/>
              </a:rPr>
              <a:t>Automation</a:t>
            </a:r>
            <a:endParaRPr lang="en-US" sz="1250" dirty="0"/>
          </a:p>
        </p:txBody>
      </p:sp>
      <p:sp>
        <p:nvSpPr>
          <p:cNvPr id="16" name="Text 12"/>
          <p:cNvSpPr/>
          <p:nvPr/>
        </p:nvSpPr>
        <p:spPr>
          <a:xfrm>
            <a:off x="3447288" y="2697480"/>
            <a:ext cx="2258568" cy="457200"/>
          </a:xfrm>
          <a:prstGeom prst="rect">
            <a:avLst/>
          </a:prstGeom>
          <a:noFill/>
        </p:spPr>
        <p:txBody>
          <a:bodyPr wrap="square" lIns="0" tIns="0" rIns="0" bIns="0" rtlCol="0" anchor="ctr"/>
          <a:lstStyle/>
          <a:p>
            <a:pPr marL="0" indent="0">
              <a:buNone/>
            </a:pPr>
            <a:r>
              <a:rPr lang="en-US" sz="950" dirty="0">
                <a:solidFill>
                  <a:srgbClr val="7D5A5E"/>
                </a:solidFill>
                <a:latin typeface="Calibri" panose="020F0502020204030204" pitchFamily="34" charset="0"/>
                <a:ea typeface="Calibri" panose="020F0502020204030204" pitchFamily="34" charset="-122"/>
                <a:cs typeface="Calibri" panose="020F0502020204030204" pitchFamily="34" charset="-120"/>
              </a:rPr>
              <a:t>Running a scripted workflow end-to-end.</a:t>
            </a:r>
            <a:endParaRPr lang="en-US" sz="950" dirty="0"/>
          </a:p>
        </p:txBody>
      </p:sp>
      <p:sp>
        <p:nvSpPr>
          <p:cNvPr id="17" name="Shape 13"/>
          <p:cNvSpPr/>
          <p:nvPr/>
        </p:nvSpPr>
        <p:spPr>
          <a:xfrm>
            <a:off x="6025896" y="1691640"/>
            <a:ext cx="2624328" cy="1508760"/>
          </a:xfrm>
          <a:prstGeom prst="roundRect">
            <a:avLst>
              <a:gd name="adj" fmla="val 3636"/>
            </a:avLst>
          </a:prstGeom>
          <a:solidFill>
            <a:srgbClr val="F3E6E1"/>
          </a:solidFill>
        </p:spPr>
      </p:sp>
      <p:sp>
        <p:nvSpPr>
          <p:cNvPr id="18" name="Shape 14"/>
          <p:cNvSpPr/>
          <p:nvPr/>
        </p:nvSpPr>
        <p:spPr>
          <a:xfrm>
            <a:off x="6227064" y="1847088"/>
            <a:ext cx="420624" cy="420624"/>
          </a:xfrm>
          <a:prstGeom prst="ellipse">
            <a:avLst/>
          </a:prstGeom>
          <a:solidFill>
            <a:srgbClr val="6E1423"/>
          </a:solidFill>
        </p:spPr>
      </p:sp>
      <p:pic>
        <p:nvPicPr>
          <p:cNvPr id="19" name="Image 2" descr="/home/claude/work/icons/network.png"/>
          <p:cNvPicPr>
            <a:picLocks noChangeAspect="1"/>
          </p:cNvPicPr>
          <p:nvPr/>
        </p:nvPicPr>
        <p:blipFill>
          <a:blip r:embed="rId5"/>
          <a:stretch>
            <a:fillRect/>
          </a:stretch>
        </p:blipFill>
        <p:spPr>
          <a:xfrm>
            <a:off x="6290158" y="1910182"/>
            <a:ext cx="294437" cy="294437"/>
          </a:xfrm>
          <a:prstGeom prst="rect">
            <a:avLst/>
          </a:prstGeom>
        </p:spPr>
      </p:pic>
      <p:sp>
        <p:nvSpPr>
          <p:cNvPr id="20" name="Text 15"/>
          <p:cNvSpPr/>
          <p:nvPr/>
        </p:nvSpPr>
        <p:spPr>
          <a:xfrm>
            <a:off x="6208776" y="2377440"/>
            <a:ext cx="2258568" cy="320040"/>
          </a:xfrm>
          <a:prstGeom prst="rect">
            <a:avLst/>
          </a:prstGeom>
          <a:noFill/>
        </p:spPr>
        <p:txBody>
          <a:bodyPr wrap="square" lIns="0" tIns="0" rIns="0" bIns="0" rtlCol="0" anchor="ctr"/>
          <a:lstStyle/>
          <a:p>
            <a:pPr marL="0" indent="0">
              <a:buNone/>
            </a:pPr>
            <a:r>
              <a:rPr lang="en-US" sz="1250" b="1" dirty="0">
                <a:solidFill>
                  <a:srgbClr val="6E1423"/>
                </a:solidFill>
                <a:latin typeface="Cambria" panose="02040503050406030204" pitchFamily="34" charset="0"/>
                <a:ea typeface="Cambria" panose="02040503050406030204" pitchFamily="34" charset="-122"/>
                <a:cs typeface="Cambria" panose="02040503050406030204" pitchFamily="34" charset="-120"/>
              </a:rPr>
              <a:t>Browser Automation</a:t>
            </a:r>
            <a:endParaRPr lang="en-US" sz="1250" dirty="0"/>
          </a:p>
        </p:txBody>
      </p:sp>
      <p:sp>
        <p:nvSpPr>
          <p:cNvPr id="21" name="Text 16"/>
          <p:cNvSpPr/>
          <p:nvPr/>
        </p:nvSpPr>
        <p:spPr>
          <a:xfrm>
            <a:off x="6208776" y="2697480"/>
            <a:ext cx="2258568" cy="457200"/>
          </a:xfrm>
          <a:prstGeom prst="rect">
            <a:avLst/>
          </a:prstGeom>
          <a:noFill/>
        </p:spPr>
        <p:txBody>
          <a:bodyPr wrap="square" lIns="0" tIns="0" rIns="0" bIns="0" rtlCol="0" anchor="ctr"/>
          <a:lstStyle/>
          <a:p>
            <a:pPr marL="0" indent="0">
              <a:buNone/>
            </a:pPr>
            <a:r>
              <a:rPr lang="en-US" sz="950" dirty="0">
                <a:solidFill>
                  <a:srgbClr val="7D5A5E"/>
                </a:solidFill>
                <a:latin typeface="Calibri" panose="020F0502020204030204" pitchFamily="34" charset="0"/>
                <a:ea typeface="Calibri" panose="020F0502020204030204" pitchFamily="34" charset="-122"/>
                <a:cs typeface="Calibri" panose="020F0502020204030204" pitchFamily="34" charset="-120"/>
              </a:rPr>
              <a:t>Driving a real browser to load pages.</a:t>
            </a:r>
            <a:endParaRPr lang="en-US" sz="950" dirty="0"/>
          </a:p>
        </p:txBody>
      </p:sp>
      <p:sp>
        <p:nvSpPr>
          <p:cNvPr id="22" name="Shape 17"/>
          <p:cNvSpPr/>
          <p:nvPr/>
        </p:nvSpPr>
        <p:spPr>
          <a:xfrm>
            <a:off x="8787384" y="1691640"/>
            <a:ext cx="2624328" cy="1508760"/>
          </a:xfrm>
          <a:prstGeom prst="roundRect">
            <a:avLst>
              <a:gd name="adj" fmla="val 3636"/>
            </a:avLst>
          </a:prstGeom>
          <a:solidFill>
            <a:srgbClr val="F3E6E1"/>
          </a:solidFill>
        </p:spPr>
      </p:sp>
      <p:sp>
        <p:nvSpPr>
          <p:cNvPr id="23" name="Shape 18"/>
          <p:cNvSpPr/>
          <p:nvPr/>
        </p:nvSpPr>
        <p:spPr>
          <a:xfrm>
            <a:off x="8988552" y="1847088"/>
            <a:ext cx="420624" cy="420624"/>
          </a:xfrm>
          <a:prstGeom prst="ellipse">
            <a:avLst/>
          </a:prstGeom>
          <a:solidFill>
            <a:srgbClr val="6E1423"/>
          </a:solidFill>
        </p:spPr>
      </p:sp>
      <p:pic>
        <p:nvPicPr>
          <p:cNvPr id="24" name="Image 3" descr="/home/claude/work/icons/exchange.png"/>
          <p:cNvPicPr>
            <a:picLocks noChangeAspect="1"/>
          </p:cNvPicPr>
          <p:nvPr/>
        </p:nvPicPr>
        <p:blipFill>
          <a:blip r:embed="rId6"/>
          <a:stretch>
            <a:fillRect/>
          </a:stretch>
        </p:blipFill>
        <p:spPr>
          <a:xfrm>
            <a:off x="9051646" y="1910182"/>
            <a:ext cx="294437" cy="294437"/>
          </a:xfrm>
          <a:prstGeom prst="rect">
            <a:avLst/>
          </a:prstGeom>
        </p:spPr>
      </p:pic>
      <p:sp>
        <p:nvSpPr>
          <p:cNvPr id="25" name="Text 19"/>
          <p:cNvSpPr/>
          <p:nvPr/>
        </p:nvSpPr>
        <p:spPr>
          <a:xfrm>
            <a:off x="8970264" y="2377440"/>
            <a:ext cx="2258568" cy="320040"/>
          </a:xfrm>
          <a:prstGeom prst="rect">
            <a:avLst/>
          </a:prstGeom>
          <a:noFill/>
        </p:spPr>
        <p:txBody>
          <a:bodyPr wrap="square" lIns="0" tIns="0" rIns="0" bIns="0" rtlCol="0" anchor="ctr"/>
          <a:lstStyle/>
          <a:p>
            <a:pPr marL="0" indent="0">
              <a:buNone/>
            </a:pPr>
            <a:r>
              <a:rPr lang="en-US" sz="1250" b="1" dirty="0">
                <a:solidFill>
                  <a:srgbClr val="6E1423"/>
                </a:solidFill>
                <a:latin typeface="Cambria" panose="02040503050406030204" pitchFamily="34" charset="0"/>
                <a:ea typeface="Cambria" panose="02040503050406030204" pitchFamily="34" charset="-122"/>
                <a:cs typeface="Cambria" panose="02040503050406030204" pitchFamily="34" charset="-120"/>
              </a:rPr>
              <a:t>API</a:t>
            </a:r>
            <a:endParaRPr lang="en-US" sz="1250" dirty="0"/>
          </a:p>
        </p:txBody>
      </p:sp>
      <p:sp>
        <p:nvSpPr>
          <p:cNvPr id="26" name="Text 20"/>
          <p:cNvSpPr/>
          <p:nvPr/>
        </p:nvSpPr>
        <p:spPr>
          <a:xfrm>
            <a:off x="8970264" y="2697480"/>
            <a:ext cx="2258568" cy="457200"/>
          </a:xfrm>
          <a:prstGeom prst="rect">
            <a:avLst/>
          </a:prstGeom>
          <a:noFill/>
        </p:spPr>
        <p:txBody>
          <a:bodyPr wrap="square" lIns="0" tIns="0" rIns="0" bIns="0" rtlCol="0" anchor="ctr"/>
          <a:lstStyle/>
          <a:p>
            <a:pPr marL="0" indent="0">
              <a:buNone/>
            </a:pPr>
            <a:r>
              <a:rPr lang="en-US" sz="950" dirty="0">
                <a:solidFill>
                  <a:srgbClr val="7D5A5E"/>
                </a:solidFill>
                <a:latin typeface="Calibri" panose="020F0502020204030204" pitchFamily="34" charset="0"/>
                <a:ea typeface="Calibri" panose="020F0502020204030204" pitchFamily="34" charset="-122"/>
                <a:cs typeface="Calibri" panose="020F0502020204030204" pitchFamily="34" charset="-120"/>
              </a:rPr>
              <a:t>Requesting data through a structured interface.</a:t>
            </a:r>
            <a:endParaRPr lang="en-US" sz="950" dirty="0"/>
          </a:p>
        </p:txBody>
      </p:sp>
      <p:sp>
        <p:nvSpPr>
          <p:cNvPr id="27" name="Text 21"/>
          <p:cNvSpPr/>
          <p:nvPr/>
        </p:nvSpPr>
        <p:spPr>
          <a:xfrm>
            <a:off x="502920" y="3520440"/>
            <a:ext cx="5486400" cy="256032"/>
          </a:xfrm>
          <a:prstGeom prst="rect">
            <a:avLst/>
          </a:prstGeom>
          <a:noFill/>
        </p:spPr>
        <p:txBody>
          <a:bodyPr wrap="square" lIns="0" tIns="0" rIns="0" bIns="0" rtlCol="0" anchor="ctr"/>
          <a:lstStyle/>
          <a:p>
            <a:pPr marL="0" indent="0">
              <a:buNone/>
            </a:pPr>
            <a:r>
              <a:rPr lang="en-US" sz="1050" b="1" kern="0" spc="100" dirty="0">
                <a:solidFill>
                  <a:srgbClr val="A13D4C"/>
                </a:solidFill>
                <a:latin typeface="Calibri" panose="020F0502020204030204" pitchFamily="34" charset="0"/>
                <a:ea typeface="Calibri" panose="020F0502020204030204" pitchFamily="34" charset="-122"/>
                <a:cs typeface="Calibri" panose="020F0502020204030204" pitchFamily="34" charset="-120"/>
              </a:rPr>
              <a:t>TOOLING &amp; REQUEST PATH USED</a:t>
            </a:r>
            <a:endParaRPr lang="en-US" sz="1050" dirty="0"/>
          </a:p>
        </p:txBody>
      </p:sp>
      <p:sp>
        <p:nvSpPr>
          <p:cNvPr id="28" name="Shape 22"/>
          <p:cNvSpPr/>
          <p:nvPr/>
        </p:nvSpPr>
        <p:spPr>
          <a:xfrm>
            <a:off x="502920" y="3840480"/>
            <a:ext cx="2011680" cy="868680"/>
          </a:xfrm>
          <a:prstGeom prst="roundRect">
            <a:avLst>
              <a:gd name="adj" fmla="val 5263"/>
            </a:avLst>
          </a:prstGeom>
          <a:solidFill>
            <a:srgbClr val="F3E6E1"/>
          </a:solidFill>
          <a:ln w="12700">
            <a:solidFill>
              <a:srgbClr val="E3C9CC"/>
            </a:solidFill>
            <a:prstDash val="solid"/>
          </a:ln>
        </p:spPr>
      </p:sp>
      <p:sp>
        <p:nvSpPr>
          <p:cNvPr id="29" name="Text 23"/>
          <p:cNvSpPr/>
          <p:nvPr/>
        </p:nvSpPr>
        <p:spPr>
          <a:xfrm>
            <a:off x="502920" y="3840480"/>
            <a:ext cx="2011680" cy="868680"/>
          </a:xfrm>
          <a:prstGeom prst="rect">
            <a:avLst/>
          </a:prstGeom>
          <a:noFill/>
        </p:spPr>
        <p:txBody>
          <a:bodyPr wrap="square" lIns="25400" tIns="25400" rIns="25400" bIns="25400" rtlCol="0" anchor="ctr"/>
          <a:lstStyle/>
          <a:p>
            <a:pPr marL="0" indent="0" algn="ctr">
              <a:buNone/>
            </a:pPr>
            <a:r>
              <a:rPr lang="en-US" sz="950" b="1" dirty="0">
                <a:solidFill>
                  <a:srgbClr val="6E1423"/>
                </a:solidFill>
                <a:latin typeface="Calibri" panose="020F0502020204030204" pitchFamily="34" charset="0"/>
                <a:ea typeface="Calibri" panose="020F0502020204030204" pitchFamily="34" charset="-122"/>
                <a:cs typeface="Calibri" panose="020F0502020204030204" pitchFamily="34" charset="-120"/>
              </a:rPr>
              <a:t>Automation</a:t>
            </a:r>
            <a:endParaRPr lang="en-US" sz="950" dirty="0"/>
          </a:p>
          <a:p>
            <a:pPr marL="0" indent="0" algn="ctr">
              <a:buNone/>
            </a:pPr>
            <a:r>
              <a:rPr lang="en-US" sz="950" b="1" dirty="0">
                <a:solidFill>
                  <a:srgbClr val="6E1423"/>
                </a:solidFill>
                <a:latin typeface="Calibri" panose="020F0502020204030204" pitchFamily="34" charset="0"/>
                <a:ea typeface="Calibri" panose="020F0502020204030204" pitchFamily="34" charset="-122"/>
                <a:cs typeface="Calibri" panose="020F0502020204030204" pitchFamily="34" charset="-120"/>
              </a:rPr>
              <a:t>Script</a:t>
            </a:r>
            <a:endParaRPr lang="en-US" sz="950" dirty="0"/>
          </a:p>
        </p:txBody>
      </p:sp>
      <p:sp>
        <p:nvSpPr>
          <p:cNvPr id="30" name="Text 24"/>
          <p:cNvSpPr/>
          <p:nvPr/>
        </p:nvSpPr>
        <p:spPr>
          <a:xfrm>
            <a:off x="2514600" y="3840480"/>
            <a:ext cx="219456" cy="868680"/>
          </a:xfrm>
          <a:prstGeom prst="rect">
            <a:avLst/>
          </a:prstGeom>
          <a:noFill/>
        </p:spPr>
        <p:txBody>
          <a:bodyPr wrap="square" lIns="0" tIns="0" rIns="0" bIns="0" rtlCol="0" anchor="ctr"/>
          <a:lstStyle/>
          <a:p>
            <a:pPr marL="0" indent="0" algn="ctr">
              <a:buNone/>
            </a:pPr>
            <a:r>
              <a:rPr lang="en-US" sz="1500" b="1" dirty="0">
                <a:solidFill>
                  <a:srgbClr val="A13D4C"/>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31" name="Shape 25"/>
          <p:cNvSpPr/>
          <p:nvPr/>
        </p:nvSpPr>
        <p:spPr>
          <a:xfrm>
            <a:off x="2734056" y="3840480"/>
            <a:ext cx="2011680" cy="868680"/>
          </a:xfrm>
          <a:prstGeom prst="roundRect">
            <a:avLst>
              <a:gd name="adj" fmla="val 5263"/>
            </a:avLst>
          </a:prstGeom>
          <a:solidFill>
            <a:srgbClr val="F3E6E1"/>
          </a:solidFill>
          <a:ln w="12700">
            <a:solidFill>
              <a:srgbClr val="E3C9CC"/>
            </a:solidFill>
            <a:prstDash val="solid"/>
          </a:ln>
        </p:spPr>
      </p:sp>
      <p:sp>
        <p:nvSpPr>
          <p:cNvPr id="32" name="Text 26"/>
          <p:cNvSpPr/>
          <p:nvPr/>
        </p:nvSpPr>
        <p:spPr>
          <a:xfrm>
            <a:off x="2734056" y="3840480"/>
            <a:ext cx="2011680" cy="868680"/>
          </a:xfrm>
          <a:prstGeom prst="rect">
            <a:avLst/>
          </a:prstGeom>
          <a:noFill/>
        </p:spPr>
        <p:txBody>
          <a:bodyPr wrap="square" lIns="25400" tIns="25400" rIns="25400" bIns="25400" rtlCol="0" anchor="ctr"/>
          <a:lstStyle/>
          <a:p>
            <a:pPr marL="0" indent="0" algn="ctr">
              <a:buNone/>
            </a:pPr>
            <a:r>
              <a:rPr lang="en-US" sz="950" b="1" dirty="0">
                <a:solidFill>
                  <a:srgbClr val="6E1423"/>
                </a:solidFill>
                <a:latin typeface="Calibri" panose="020F0502020204030204" pitchFamily="34" charset="0"/>
                <a:ea typeface="Calibri" panose="020F0502020204030204" pitchFamily="34" charset="-122"/>
                <a:cs typeface="Calibri" panose="020F0502020204030204" pitchFamily="34" charset="-120"/>
              </a:rPr>
              <a:t>Apify Actor</a:t>
            </a:r>
            <a:endParaRPr lang="en-US" sz="950" dirty="0"/>
          </a:p>
        </p:txBody>
      </p:sp>
      <p:sp>
        <p:nvSpPr>
          <p:cNvPr id="33" name="Text 27"/>
          <p:cNvSpPr/>
          <p:nvPr/>
        </p:nvSpPr>
        <p:spPr>
          <a:xfrm>
            <a:off x="4745736" y="3840480"/>
            <a:ext cx="219456" cy="868680"/>
          </a:xfrm>
          <a:prstGeom prst="rect">
            <a:avLst/>
          </a:prstGeom>
          <a:noFill/>
        </p:spPr>
        <p:txBody>
          <a:bodyPr wrap="square" lIns="0" tIns="0" rIns="0" bIns="0" rtlCol="0" anchor="ctr"/>
          <a:lstStyle/>
          <a:p>
            <a:pPr marL="0" indent="0" algn="ctr">
              <a:buNone/>
            </a:pPr>
            <a:r>
              <a:rPr lang="en-US" sz="1500" b="1" dirty="0">
                <a:solidFill>
                  <a:srgbClr val="A13D4C"/>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34" name="Shape 28"/>
          <p:cNvSpPr/>
          <p:nvPr/>
        </p:nvSpPr>
        <p:spPr>
          <a:xfrm>
            <a:off x="4965192" y="3840480"/>
            <a:ext cx="2011680" cy="868680"/>
          </a:xfrm>
          <a:prstGeom prst="roundRect">
            <a:avLst>
              <a:gd name="adj" fmla="val 5263"/>
            </a:avLst>
          </a:prstGeom>
          <a:solidFill>
            <a:srgbClr val="F3E6E1"/>
          </a:solidFill>
          <a:ln w="12700">
            <a:solidFill>
              <a:srgbClr val="E3C9CC"/>
            </a:solidFill>
            <a:prstDash val="solid"/>
          </a:ln>
        </p:spPr>
      </p:sp>
      <p:sp>
        <p:nvSpPr>
          <p:cNvPr id="35" name="Text 29"/>
          <p:cNvSpPr/>
          <p:nvPr/>
        </p:nvSpPr>
        <p:spPr>
          <a:xfrm>
            <a:off x="4965192" y="3840480"/>
            <a:ext cx="2011680" cy="868680"/>
          </a:xfrm>
          <a:prstGeom prst="rect">
            <a:avLst/>
          </a:prstGeom>
          <a:noFill/>
        </p:spPr>
        <p:txBody>
          <a:bodyPr wrap="square" lIns="25400" tIns="25400" rIns="25400" bIns="25400" rtlCol="0" anchor="ctr"/>
          <a:lstStyle/>
          <a:p>
            <a:pPr marL="0" indent="0" algn="ctr">
              <a:buNone/>
            </a:pPr>
            <a:r>
              <a:rPr lang="en-US" sz="950" b="1" dirty="0">
                <a:solidFill>
                  <a:srgbClr val="6E1423"/>
                </a:solidFill>
                <a:latin typeface="Calibri" panose="020F0502020204030204" pitchFamily="34" charset="0"/>
                <a:ea typeface="Calibri" panose="020F0502020204030204" pitchFamily="34" charset="-122"/>
                <a:cs typeface="Calibri" panose="020F0502020204030204" pitchFamily="34" charset="-120"/>
              </a:rPr>
              <a:t>Residential</a:t>
            </a:r>
            <a:endParaRPr lang="en-US" sz="950" dirty="0"/>
          </a:p>
          <a:p>
            <a:pPr marL="0" indent="0" algn="ctr">
              <a:buNone/>
            </a:pPr>
            <a:r>
              <a:rPr lang="en-US" sz="950" b="1" dirty="0">
                <a:solidFill>
                  <a:srgbClr val="6E1423"/>
                </a:solidFill>
                <a:latin typeface="Calibri" panose="020F0502020204030204" pitchFamily="34" charset="0"/>
                <a:ea typeface="Calibri" panose="020F0502020204030204" pitchFamily="34" charset="-122"/>
                <a:cs typeface="Calibri" panose="020F0502020204030204" pitchFamily="34" charset="-120"/>
              </a:rPr>
              <a:t>Proxy</a:t>
            </a:r>
            <a:endParaRPr lang="en-US" sz="950" dirty="0"/>
          </a:p>
        </p:txBody>
      </p:sp>
      <p:sp>
        <p:nvSpPr>
          <p:cNvPr id="36" name="Text 30"/>
          <p:cNvSpPr/>
          <p:nvPr/>
        </p:nvSpPr>
        <p:spPr>
          <a:xfrm>
            <a:off x="6976872" y="3840480"/>
            <a:ext cx="219456" cy="868680"/>
          </a:xfrm>
          <a:prstGeom prst="rect">
            <a:avLst/>
          </a:prstGeom>
          <a:noFill/>
        </p:spPr>
        <p:txBody>
          <a:bodyPr wrap="square" lIns="0" tIns="0" rIns="0" bIns="0" rtlCol="0" anchor="ctr"/>
          <a:lstStyle/>
          <a:p>
            <a:pPr marL="0" indent="0" algn="ctr">
              <a:buNone/>
            </a:pPr>
            <a:r>
              <a:rPr lang="en-US" sz="1500" b="1" dirty="0">
                <a:solidFill>
                  <a:srgbClr val="A13D4C"/>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37" name="Shape 31"/>
          <p:cNvSpPr/>
          <p:nvPr/>
        </p:nvSpPr>
        <p:spPr>
          <a:xfrm>
            <a:off x="7196328" y="3840480"/>
            <a:ext cx="2011680" cy="868680"/>
          </a:xfrm>
          <a:prstGeom prst="roundRect">
            <a:avLst>
              <a:gd name="adj" fmla="val 5263"/>
            </a:avLst>
          </a:prstGeom>
          <a:solidFill>
            <a:srgbClr val="F3E6E1"/>
          </a:solidFill>
          <a:ln w="12700">
            <a:solidFill>
              <a:srgbClr val="E3C9CC"/>
            </a:solidFill>
            <a:prstDash val="solid"/>
          </a:ln>
        </p:spPr>
      </p:sp>
      <p:sp>
        <p:nvSpPr>
          <p:cNvPr id="38" name="Text 32"/>
          <p:cNvSpPr/>
          <p:nvPr/>
        </p:nvSpPr>
        <p:spPr>
          <a:xfrm>
            <a:off x="7196328" y="3840480"/>
            <a:ext cx="2011680" cy="868680"/>
          </a:xfrm>
          <a:prstGeom prst="rect">
            <a:avLst/>
          </a:prstGeom>
          <a:noFill/>
        </p:spPr>
        <p:txBody>
          <a:bodyPr wrap="square" lIns="25400" tIns="25400" rIns="25400" bIns="25400" rtlCol="0" anchor="ctr"/>
          <a:lstStyle/>
          <a:p>
            <a:pPr marL="0" indent="0" algn="ctr">
              <a:buNone/>
            </a:pPr>
            <a:r>
              <a:rPr lang="en-US" sz="950" b="1" dirty="0">
                <a:solidFill>
                  <a:srgbClr val="6E1423"/>
                </a:solidFill>
                <a:latin typeface="Calibri" panose="020F0502020204030204" pitchFamily="34" charset="0"/>
                <a:ea typeface="Calibri" panose="020F0502020204030204" pitchFamily="34" charset="-122"/>
                <a:cs typeface="Calibri" panose="020F0502020204030204" pitchFamily="34" charset="-120"/>
              </a:rPr>
              <a:t>Stealth Browser</a:t>
            </a:r>
            <a:endParaRPr lang="en-US" sz="950" dirty="0"/>
          </a:p>
          <a:p>
            <a:pPr marL="0" indent="0" algn="ctr">
              <a:buNone/>
            </a:pPr>
            <a:r>
              <a:rPr lang="en-US" sz="950" b="1" dirty="0">
                <a:solidFill>
                  <a:srgbClr val="6E1423"/>
                </a:solidFill>
                <a:latin typeface="Calibri" panose="020F0502020204030204" pitchFamily="34" charset="0"/>
                <a:ea typeface="Calibri" panose="020F0502020204030204" pitchFamily="34" charset="-122"/>
                <a:cs typeface="Calibri" panose="020F0502020204030204" pitchFamily="34" charset="-120"/>
              </a:rPr>
              <a:t>(Fingerprinting)</a:t>
            </a:r>
            <a:endParaRPr lang="en-US" sz="950" dirty="0"/>
          </a:p>
        </p:txBody>
      </p:sp>
      <p:sp>
        <p:nvSpPr>
          <p:cNvPr id="39" name="Text 33"/>
          <p:cNvSpPr/>
          <p:nvPr/>
        </p:nvSpPr>
        <p:spPr>
          <a:xfrm>
            <a:off x="9208008" y="3840480"/>
            <a:ext cx="219456" cy="868680"/>
          </a:xfrm>
          <a:prstGeom prst="rect">
            <a:avLst/>
          </a:prstGeom>
          <a:noFill/>
        </p:spPr>
        <p:txBody>
          <a:bodyPr wrap="square" lIns="0" tIns="0" rIns="0" bIns="0" rtlCol="0" anchor="ctr"/>
          <a:lstStyle/>
          <a:p>
            <a:pPr marL="0" indent="0" algn="ctr">
              <a:buNone/>
            </a:pPr>
            <a:r>
              <a:rPr lang="en-US" sz="1500" b="1" dirty="0">
                <a:solidFill>
                  <a:srgbClr val="A13D4C"/>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40" name="Shape 34"/>
          <p:cNvSpPr/>
          <p:nvPr/>
        </p:nvSpPr>
        <p:spPr>
          <a:xfrm>
            <a:off x="9427464" y="3840480"/>
            <a:ext cx="2011680" cy="868680"/>
          </a:xfrm>
          <a:prstGeom prst="roundRect">
            <a:avLst>
              <a:gd name="adj" fmla="val 5263"/>
            </a:avLst>
          </a:prstGeom>
          <a:solidFill>
            <a:srgbClr val="F3E6E1"/>
          </a:solidFill>
          <a:ln w="12700">
            <a:solidFill>
              <a:srgbClr val="E3C9CC"/>
            </a:solidFill>
            <a:prstDash val="solid"/>
          </a:ln>
        </p:spPr>
      </p:sp>
      <p:sp>
        <p:nvSpPr>
          <p:cNvPr id="41" name="Text 35"/>
          <p:cNvSpPr/>
          <p:nvPr/>
        </p:nvSpPr>
        <p:spPr>
          <a:xfrm>
            <a:off x="9427464" y="3840480"/>
            <a:ext cx="2011680" cy="868680"/>
          </a:xfrm>
          <a:prstGeom prst="rect">
            <a:avLst/>
          </a:prstGeom>
          <a:noFill/>
        </p:spPr>
        <p:txBody>
          <a:bodyPr wrap="square" lIns="25400" tIns="25400" rIns="25400" bIns="25400" rtlCol="0" anchor="ctr"/>
          <a:lstStyle/>
          <a:p>
            <a:pPr marL="0" indent="0" algn="ctr">
              <a:buNone/>
            </a:pPr>
            <a:r>
              <a:rPr lang="en-US" sz="950" b="1" dirty="0">
                <a:solidFill>
                  <a:srgbClr val="6E1423"/>
                </a:solidFill>
                <a:latin typeface="Calibri" panose="020F0502020204030204" pitchFamily="34" charset="0"/>
                <a:ea typeface="Calibri" panose="020F0502020204030204" pitchFamily="34" charset="-122"/>
                <a:cs typeface="Calibri" panose="020F0502020204030204" pitchFamily="34" charset="-120"/>
              </a:rPr>
              <a:t>Target</a:t>
            </a:r>
            <a:endParaRPr lang="en-US" sz="950" dirty="0"/>
          </a:p>
          <a:p>
            <a:pPr marL="0" indent="0" algn="ctr">
              <a:buNone/>
            </a:pPr>
            <a:r>
              <a:rPr lang="en-US" sz="950" b="1" dirty="0">
                <a:solidFill>
                  <a:srgbClr val="6E1423"/>
                </a:solidFill>
                <a:latin typeface="Calibri" panose="020F0502020204030204" pitchFamily="34" charset="0"/>
                <a:ea typeface="Calibri" panose="020F0502020204030204" pitchFamily="34" charset="-122"/>
                <a:cs typeface="Calibri" panose="020F0502020204030204" pitchFamily="34" charset="-120"/>
              </a:rPr>
              <a:t>Website</a:t>
            </a:r>
            <a:endParaRPr lang="en-US" sz="950" dirty="0"/>
          </a:p>
        </p:txBody>
      </p:sp>
      <p:sp>
        <p:nvSpPr>
          <p:cNvPr id="42" name="Text 36"/>
          <p:cNvSpPr/>
          <p:nvPr/>
        </p:nvSpPr>
        <p:spPr>
          <a:xfrm>
            <a:off x="502920" y="4983480"/>
            <a:ext cx="10789920" cy="640080"/>
          </a:xfrm>
          <a:prstGeom prst="rect">
            <a:avLst/>
          </a:prstGeom>
          <a:noFill/>
        </p:spPr>
        <p:txBody>
          <a:bodyPr wrap="square" lIns="0" tIns="0" rIns="0" bIns="0" rtlCol="0" anchor="t"/>
          <a:lstStyle/>
          <a:p>
            <a:pPr marL="0" indent="0">
              <a:lnSpc>
                <a:spcPct val="115000"/>
              </a:lnSpc>
              <a:buNone/>
            </a:pPr>
            <a:r>
              <a:rPr lang="en-US" sz="1100" dirty="0">
                <a:solidFill>
                  <a:srgbClr val="7D5A5E"/>
                </a:solidFill>
                <a:latin typeface="Calibri" panose="020F0502020204030204" pitchFamily="34" charset="0"/>
                <a:ea typeface="Calibri" panose="020F0502020204030204" pitchFamily="34" charset="-122"/>
                <a:cs typeface="Calibri" panose="020F0502020204030204" pitchFamily="34" charset="-120"/>
              </a:rPr>
              <a:t>Apify hosted and ran the scraping actor; residential proxies routed requests through real consumer IPs instead of flagged datacenter IPs; and the stealth browser masked automation signals such as headless-browser fingerprints to appear as a normal user session.</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3E7"/>
        </a:solidFill>
        <a:effectLst/>
      </p:bgPr>
    </p:bg>
    <p:spTree>
      <p:nvGrpSpPr>
        <p:cNvPr id="1" name=""/>
        <p:cNvGrpSpPr/>
        <p:nvPr/>
      </p:nvGrpSpPr>
      <p:grpSpPr>
        <a:xfrm>
          <a:off x="0" y="0"/>
          <a:ext cx="0" cy="0"/>
          <a:chOff x="0" y="0"/>
          <a:chExt cx="0" cy="0"/>
        </a:xfrm>
      </p:grpSpPr>
      <p:sp>
        <p:nvSpPr>
          <p:cNvPr id="2" name="Text 0"/>
          <p:cNvSpPr/>
          <p:nvPr/>
        </p:nvSpPr>
        <p:spPr>
          <a:xfrm>
            <a:off x="502920" y="384048"/>
            <a:ext cx="9601200" cy="274320"/>
          </a:xfrm>
          <a:prstGeom prst="rect">
            <a:avLst/>
          </a:prstGeom>
          <a:noFill/>
        </p:spPr>
        <p:txBody>
          <a:bodyPr wrap="square" lIns="0" tIns="0" rIns="0" bIns="0" rtlCol="0" anchor="ctr"/>
          <a:lstStyle/>
          <a:p>
            <a:pPr marL="0" indent="0">
              <a:buNone/>
            </a:pPr>
            <a:r>
              <a:rPr lang="en-US" sz="1200" b="1" kern="0" spc="200" dirty="0">
                <a:solidFill>
                  <a:srgbClr val="A13D4C"/>
                </a:solidFill>
                <a:latin typeface="Calibri" panose="020F0502020204030204" pitchFamily="34" charset="0"/>
                <a:ea typeface="Calibri" panose="020F0502020204030204" pitchFamily="34" charset="-122"/>
                <a:cs typeface="Calibri" panose="020F0502020204030204" pitchFamily="34" charset="-120"/>
              </a:rPr>
              <a:t>SCRAPING EXPERIMENTS</a:t>
            </a:r>
            <a:endParaRPr lang="en-US" sz="1200" dirty="0"/>
          </a:p>
        </p:txBody>
      </p:sp>
      <p:sp>
        <p:nvSpPr>
          <p:cNvPr id="3" name="Text 1"/>
          <p:cNvSpPr/>
          <p:nvPr/>
        </p:nvSpPr>
        <p:spPr>
          <a:xfrm>
            <a:off x="502920" y="658368"/>
            <a:ext cx="10515600" cy="566928"/>
          </a:xfrm>
          <a:prstGeom prst="rect">
            <a:avLst/>
          </a:prstGeom>
          <a:noFill/>
        </p:spPr>
        <p:txBody>
          <a:bodyPr wrap="square" lIns="0" tIns="0" rIns="0" bIns="0" rtlCol="0" anchor="ctr"/>
          <a:lstStyle/>
          <a:p>
            <a:pPr marL="0" indent="0">
              <a:buNone/>
            </a:pPr>
            <a:r>
              <a:rPr lang="en-US" sz="2800" b="1" dirty="0">
                <a:solidFill>
                  <a:srgbClr val="6E1423"/>
                </a:solidFill>
                <a:latin typeface="Cambria" panose="02040503050406030204" pitchFamily="34" charset="0"/>
                <a:ea typeface="Cambria" panose="02040503050406030204" pitchFamily="34" charset="-122"/>
                <a:cs typeface="Cambria" panose="02040503050406030204" pitchFamily="34" charset="-120"/>
              </a:rPr>
              <a:t>Challenges Faced</a:t>
            </a:r>
            <a:endParaRPr lang="en-US" sz="2800" dirty="0"/>
          </a:p>
        </p:txBody>
      </p:sp>
      <p:sp>
        <p:nvSpPr>
          <p:cNvPr id="4" name="Text 2"/>
          <p:cNvSpPr/>
          <p:nvPr/>
        </p:nvSpPr>
        <p:spPr>
          <a:xfrm>
            <a:off x="502920" y="6492240"/>
            <a:ext cx="4572000" cy="256032"/>
          </a:xfrm>
          <a:prstGeom prst="rect">
            <a:avLst/>
          </a:prstGeom>
          <a:noFill/>
        </p:spPr>
        <p:txBody>
          <a:bodyPr wrap="square" lIns="0" tIns="0" rIns="0" bIns="0" rtlCol="0" anchor="ctr"/>
          <a:lstStyle/>
          <a:p>
            <a:pPr marL="0" indent="0">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Ford Internship Experience</a:t>
            </a:r>
            <a:endParaRPr lang="en-US" sz="1000" dirty="0"/>
          </a:p>
        </p:txBody>
      </p:sp>
      <p:sp>
        <p:nvSpPr>
          <p:cNvPr id="5" name="Text 3"/>
          <p:cNvSpPr/>
          <p:nvPr/>
        </p:nvSpPr>
        <p:spPr>
          <a:xfrm>
            <a:off x="10725912" y="6492240"/>
            <a:ext cx="457200" cy="256032"/>
          </a:xfrm>
          <a:prstGeom prst="rect">
            <a:avLst/>
          </a:prstGeom>
          <a:noFill/>
        </p:spPr>
        <p:txBody>
          <a:bodyPr wrap="square" lIns="0" tIns="0" rIns="0" bIns="0" rtlCol="0" anchor="ctr"/>
          <a:lstStyle/>
          <a:p>
            <a:pPr marL="0" indent="0" algn="r">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11</a:t>
            </a:r>
            <a:endParaRPr lang="en-US" sz="1000" dirty="0"/>
          </a:p>
        </p:txBody>
      </p:sp>
      <p:sp>
        <p:nvSpPr>
          <p:cNvPr id="6" name="Shape 4"/>
          <p:cNvSpPr/>
          <p:nvPr/>
        </p:nvSpPr>
        <p:spPr>
          <a:xfrm>
            <a:off x="502920" y="1417320"/>
            <a:ext cx="5349240" cy="4160520"/>
          </a:xfrm>
          <a:prstGeom prst="roundRect">
            <a:avLst>
              <a:gd name="adj" fmla="val 1319"/>
            </a:avLst>
          </a:prstGeom>
          <a:solidFill>
            <a:srgbClr val="F3E6E1"/>
          </a:solidFill>
          <a:effectLst>
            <a:outerShdw dir="4" algn="bl" rotWithShape="0">
              <a:srgbClr val="3A1520">
                <a:alpha val="1"/>
              </a:srgbClr>
            </a:outerShdw>
          </a:effectLst>
        </p:spPr>
      </p:sp>
      <p:sp>
        <p:nvSpPr>
          <p:cNvPr id="7" name="Shape 5"/>
          <p:cNvSpPr/>
          <p:nvPr/>
        </p:nvSpPr>
        <p:spPr>
          <a:xfrm>
            <a:off x="731520" y="1618488"/>
            <a:ext cx="438912" cy="438912"/>
          </a:xfrm>
          <a:prstGeom prst="ellipse">
            <a:avLst/>
          </a:prstGeom>
          <a:solidFill>
            <a:srgbClr val="6E1423"/>
          </a:solidFill>
        </p:spPr>
      </p:sp>
      <p:pic>
        <p:nvPicPr>
          <p:cNvPr id="8" name="Image 0" descr="/home/claude/work/icons/cogs.png"/>
          <p:cNvPicPr>
            <a:picLocks noChangeAspect="1"/>
          </p:cNvPicPr>
          <p:nvPr/>
        </p:nvPicPr>
        <p:blipFill>
          <a:blip r:embed="rId3"/>
          <a:stretch>
            <a:fillRect/>
          </a:stretch>
        </p:blipFill>
        <p:spPr>
          <a:xfrm>
            <a:off x="797357" y="1684325"/>
            <a:ext cx="307238" cy="307238"/>
          </a:xfrm>
          <a:prstGeom prst="rect">
            <a:avLst/>
          </a:prstGeom>
        </p:spPr>
      </p:pic>
      <p:sp>
        <p:nvSpPr>
          <p:cNvPr id="9" name="Text 6"/>
          <p:cNvSpPr/>
          <p:nvPr/>
        </p:nvSpPr>
        <p:spPr>
          <a:xfrm>
            <a:off x="1325880" y="1618488"/>
            <a:ext cx="4343400" cy="438912"/>
          </a:xfrm>
          <a:prstGeom prst="rect">
            <a:avLst/>
          </a:prstGeom>
          <a:noFill/>
        </p:spPr>
        <p:txBody>
          <a:bodyPr wrap="square" lIns="0" tIns="0" rIns="0" bIns="0" rtlCol="0" anchor="ctr"/>
          <a:lstStyle/>
          <a:p>
            <a:pPr marL="0" indent="0">
              <a:buNone/>
            </a:pPr>
            <a:r>
              <a:rPr lang="en-US" sz="1500" b="1" dirty="0">
                <a:solidFill>
                  <a:srgbClr val="6E1423"/>
                </a:solidFill>
                <a:latin typeface="Cambria" panose="02040503050406030204" pitchFamily="34" charset="0"/>
                <a:ea typeface="Cambria" panose="02040503050406030204" pitchFamily="34" charset="-122"/>
                <a:cs typeface="Cambria" panose="02040503050406030204" pitchFamily="34" charset="-120"/>
              </a:rPr>
              <a:t>Project 1 — Apify Actor</a:t>
            </a:r>
            <a:endParaRPr lang="en-US" sz="1500" dirty="0"/>
          </a:p>
        </p:txBody>
      </p:sp>
      <p:sp>
        <p:nvSpPr>
          <p:cNvPr id="10" name="Text 7"/>
          <p:cNvSpPr/>
          <p:nvPr/>
        </p:nvSpPr>
        <p:spPr>
          <a:xfrm>
            <a:off x="731520" y="2240280"/>
            <a:ext cx="3657600" cy="256032"/>
          </a:xfrm>
          <a:prstGeom prst="rect">
            <a:avLst/>
          </a:prstGeom>
          <a:noFill/>
        </p:spPr>
        <p:txBody>
          <a:bodyPr wrap="square" lIns="0" tIns="0" rIns="0" bIns="0" rtlCol="0" anchor="ctr"/>
          <a:lstStyle/>
          <a:p>
            <a:pPr marL="0" indent="0">
              <a:buNone/>
            </a:pPr>
            <a:r>
              <a:rPr lang="en-US" sz="1050" b="1" kern="0" spc="100" dirty="0">
                <a:solidFill>
                  <a:srgbClr val="A13D4C"/>
                </a:solidFill>
                <a:latin typeface="Calibri" panose="020F0502020204030204" pitchFamily="34" charset="0"/>
                <a:ea typeface="Calibri" panose="020F0502020204030204" pitchFamily="34" charset="-122"/>
                <a:cs typeface="Calibri" panose="020F0502020204030204" pitchFamily="34" charset="-120"/>
              </a:rPr>
              <a:t>TARGETS</a:t>
            </a:r>
            <a:endParaRPr lang="en-US" sz="1050" dirty="0"/>
          </a:p>
        </p:txBody>
      </p:sp>
      <p:sp>
        <p:nvSpPr>
          <p:cNvPr id="11" name="Shape 8"/>
          <p:cNvSpPr/>
          <p:nvPr/>
        </p:nvSpPr>
        <p:spPr>
          <a:xfrm>
            <a:off x="731520" y="2532888"/>
            <a:ext cx="1463040" cy="384048"/>
          </a:xfrm>
          <a:prstGeom prst="roundRect">
            <a:avLst>
              <a:gd name="adj" fmla="val 19048"/>
            </a:avLst>
          </a:prstGeom>
          <a:solidFill>
            <a:srgbClr val="FFFFFF"/>
          </a:solidFill>
          <a:ln w="12700">
            <a:solidFill>
              <a:srgbClr val="E3C9CC"/>
            </a:solidFill>
            <a:prstDash val="solid"/>
          </a:ln>
        </p:spPr>
      </p:sp>
      <p:sp>
        <p:nvSpPr>
          <p:cNvPr id="12" name="Text 9"/>
          <p:cNvSpPr/>
          <p:nvPr/>
        </p:nvSpPr>
        <p:spPr>
          <a:xfrm>
            <a:off x="731520" y="2532888"/>
            <a:ext cx="1463040" cy="384048"/>
          </a:xfrm>
          <a:prstGeom prst="rect">
            <a:avLst/>
          </a:prstGeom>
          <a:noFill/>
        </p:spPr>
        <p:txBody>
          <a:bodyPr wrap="square" lIns="0" tIns="0" rIns="0" bIns="0" rtlCol="0" anchor="ctr"/>
          <a:lstStyle/>
          <a:p>
            <a:pPr marL="0" indent="0" algn="ctr">
              <a:buNone/>
            </a:pPr>
            <a:r>
              <a:rPr lang="en-US" sz="950" dirty="0">
                <a:solidFill>
                  <a:srgbClr val="6E1423"/>
                </a:solidFill>
                <a:latin typeface="Calibri" panose="020F0502020204030204" pitchFamily="34" charset="0"/>
                <a:ea typeface="Calibri" panose="020F0502020204030204" pitchFamily="34" charset="-122"/>
                <a:cs typeface="Calibri" panose="020F0502020204030204" pitchFamily="34" charset="-120"/>
              </a:rPr>
              <a:t>NAPA</a:t>
            </a:r>
            <a:endParaRPr lang="en-US" sz="950" dirty="0"/>
          </a:p>
        </p:txBody>
      </p:sp>
      <p:sp>
        <p:nvSpPr>
          <p:cNvPr id="13" name="Shape 10"/>
          <p:cNvSpPr/>
          <p:nvPr/>
        </p:nvSpPr>
        <p:spPr>
          <a:xfrm>
            <a:off x="2331720" y="2532888"/>
            <a:ext cx="1463040" cy="384048"/>
          </a:xfrm>
          <a:prstGeom prst="roundRect">
            <a:avLst>
              <a:gd name="adj" fmla="val 19048"/>
            </a:avLst>
          </a:prstGeom>
          <a:solidFill>
            <a:srgbClr val="FFFFFF"/>
          </a:solidFill>
          <a:ln w="12700">
            <a:solidFill>
              <a:srgbClr val="E3C9CC"/>
            </a:solidFill>
            <a:prstDash val="solid"/>
          </a:ln>
        </p:spPr>
      </p:sp>
      <p:sp>
        <p:nvSpPr>
          <p:cNvPr id="14" name="Text 11"/>
          <p:cNvSpPr/>
          <p:nvPr/>
        </p:nvSpPr>
        <p:spPr>
          <a:xfrm>
            <a:off x="2331720" y="2532888"/>
            <a:ext cx="1463040" cy="384048"/>
          </a:xfrm>
          <a:prstGeom prst="rect">
            <a:avLst/>
          </a:prstGeom>
          <a:noFill/>
        </p:spPr>
        <p:txBody>
          <a:bodyPr wrap="square" lIns="0" tIns="0" rIns="0" bIns="0" rtlCol="0" anchor="ctr"/>
          <a:lstStyle/>
          <a:p>
            <a:pPr marL="0" indent="0" algn="ctr">
              <a:buNone/>
            </a:pPr>
            <a:r>
              <a:rPr lang="en-US" sz="950" dirty="0">
                <a:solidFill>
                  <a:srgbClr val="6E1423"/>
                </a:solidFill>
                <a:latin typeface="Calibri" panose="020F0502020204030204" pitchFamily="34" charset="0"/>
                <a:ea typeface="Calibri" panose="020F0502020204030204" pitchFamily="34" charset="-122"/>
                <a:cs typeface="Calibri" panose="020F0502020204030204" pitchFamily="34" charset="-120"/>
              </a:rPr>
              <a:t>AutoZone</a:t>
            </a:r>
            <a:endParaRPr lang="en-US" sz="950" dirty="0"/>
          </a:p>
        </p:txBody>
      </p:sp>
      <p:sp>
        <p:nvSpPr>
          <p:cNvPr id="15" name="Text 12"/>
          <p:cNvSpPr/>
          <p:nvPr/>
        </p:nvSpPr>
        <p:spPr>
          <a:xfrm>
            <a:off x="731520" y="3108960"/>
            <a:ext cx="3657600" cy="256032"/>
          </a:xfrm>
          <a:prstGeom prst="rect">
            <a:avLst/>
          </a:prstGeom>
          <a:noFill/>
        </p:spPr>
        <p:txBody>
          <a:bodyPr wrap="square" lIns="0" tIns="0" rIns="0" bIns="0" rtlCol="0" anchor="ctr"/>
          <a:lstStyle/>
          <a:p>
            <a:pPr marL="0" indent="0">
              <a:buNone/>
            </a:pPr>
            <a:r>
              <a:rPr lang="en-US" sz="1050" b="1" kern="0" spc="100" dirty="0">
                <a:solidFill>
                  <a:srgbClr val="A13D4C"/>
                </a:solidFill>
                <a:latin typeface="Calibri" panose="020F0502020204030204" pitchFamily="34" charset="0"/>
                <a:ea typeface="Calibri" panose="020F0502020204030204" pitchFamily="34" charset="-122"/>
                <a:cs typeface="Calibri" panose="020F0502020204030204" pitchFamily="34" charset="-120"/>
              </a:rPr>
              <a:t>OUTCOME</a:t>
            </a:r>
            <a:endParaRPr lang="en-US" sz="1050" dirty="0"/>
          </a:p>
        </p:txBody>
      </p:sp>
      <p:sp>
        <p:nvSpPr>
          <p:cNvPr id="16" name="Text 13"/>
          <p:cNvSpPr/>
          <p:nvPr/>
        </p:nvSpPr>
        <p:spPr>
          <a:xfrm>
            <a:off x="731520" y="3410712"/>
            <a:ext cx="4709160" cy="457200"/>
          </a:xfrm>
          <a:prstGeom prst="rect">
            <a:avLst/>
          </a:prstGeom>
          <a:noFill/>
        </p:spPr>
        <p:txBody>
          <a:bodyPr wrap="square" lIns="0" tIns="0" rIns="0" bIns="0" rtlCol="0" anchor="t"/>
          <a:lstStyle/>
          <a:p>
            <a:pPr marL="0" indent="0">
              <a:lnSpc>
                <a:spcPct val="115000"/>
              </a:lnSpc>
              <a:buNone/>
            </a:pPr>
            <a:r>
              <a:rPr lang="en-US" sz="1150" dirty="0">
                <a:solidFill>
                  <a:srgbClr val="7D5A5E"/>
                </a:solidFill>
                <a:latin typeface="Calibri" panose="020F0502020204030204" pitchFamily="34" charset="0"/>
                <a:ea typeface="Calibri" panose="020F0502020204030204" pitchFamily="34" charset="-122"/>
                <a:cs typeface="Calibri" panose="020F0502020204030204" pitchFamily="34" charset="-120"/>
              </a:rPr>
              <a:t>NAPA required a paid actor rental to run at scale.</a:t>
            </a:r>
            <a:endParaRPr lang="en-US" sz="1150" dirty="0"/>
          </a:p>
        </p:txBody>
      </p:sp>
      <p:sp>
        <p:nvSpPr>
          <p:cNvPr id="17" name="Text 14"/>
          <p:cNvSpPr/>
          <p:nvPr/>
        </p:nvSpPr>
        <p:spPr>
          <a:xfrm>
            <a:off x="731520" y="3904488"/>
            <a:ext cx="4709160" cy="548640"/>
          </a:xfrm>
          <a:prstGeom prst="rect">
            <a:avLst/>
          </a:prstGeom>
          <a:noFill/>
        </p:spPr>
        <p:txBody>
          <a:bodyPr wrap="square" lIns="0" tIns="0" rIns="0" bIns="0" rtlCol="0" anchor="t"/>
          <a:lstStyle/>
          <a:p>
            <a:pPr marL="0" indent="0">
              <a:lnSpc>
                <a:spcPct val="115000"/>
              </a:lnSpc>
              <a:buNone/>
            </a:pPr>
            <a:r>
              <a:rPr lang="en-US" sz="1150" dirty="0">
                <a:solidFill>
                  <a:srgbClr val="7D5A5E"/>
                </a:solidFill>
                <a:latin typeface="Calibri" panose="020F0502020204030204" pitchFamily="34" charset="0"/>
                <a:ea typeface="Calibri" panose="020F0502020204030204" pitchFamily="34" charset="-122"/>
                <a:cs typeface="Calibri" panose="020F0502020204030204" pitchFamily="34" charset="-120"/>
              </a:rPr>
              <a:t>AutoZone returned incorrect products and no usable price information.</a:t>
            </a:r>
            <a:endParaRPr lang="en-US" sz="1150" dirty="0"/>
          </a:p>
        </p:txBody>
      </p:sp>
      <p:sp>
        <p:nvSpPr>
          <p:cNvPr id="18" name="Shape 15"/>
          <p:cNvSpPr/>
          <p:nvPr/>
        </p:nvSpPr>
        <p:spPr>
          <a:xfrm>
            <a:off x="6108192" y="1417320"/>
            <a:ext cx="5349240" cy="4160520"/>
          </a:xfrm>
          <a:prstGeom prst="roundRect">
            <a:avLst>
              <a:gd name="adj" fmla="val 1319"/>
            </a:avLst>
          </a:prstGeom>
          <a:solidFill>
            <a:srgbClr val="F3E6E1"/>
          </a:solidFill>
          <a:effectLst>
            <a:outerShdw dir="2" algn="bl" rotWithShape="0">
              <a:srgbClr val="3A1520">
                <a:alpha val="1"/>
              </a:srgbClr>
            </a:outerShdw>
          </a:effectLst>
        </p:spPr>
      </p:sp>
      <p:sp>
        <p:nvSpPr>
          <p:cNvPr id="19" name="Shape 16"/>
          <p:cNvSpPr/>
          <p:nvPr/>
        </p:nvSpPr>
        <p:spPr>
          <a:xfrm>
            <a:off x="6336792" y="1618488"/>
            <a:ext cx="438912" cy="438912"/>
          </a:xfrm>
          <a:prstGeom prst="ellipse">
            <a:avLst/>
          </a:prstGeom>
          <a:solidFill>
            <a:srgbClr val="6E1423"/>
          </a:solidFill>
        </p:spPr>
      </p:sp>
      <p:pic>
        <p:nvPicPr>
          <p:cNvPr id="20" name="Image 1" descr="/home/claude/work/icons/spider.png"/>
          <p:cNvPicPr>
            <a:picLocks noChangeAspect="1"/>
          </p:cNvPicPr>
          <p:nvPr/>
        </p:nvPicPr>
        <p:blipFill>
          <a:blip r:embed="rId4"/>
          <a:stretch>
            <a:fillRect/>
          </a:stretch>
        </p:blipFill>
        <p:spPr>
          <a:xfrm>
            <a:off x="6402629" y="1684325"/>
            <a:ext cx="307238" cy="307238"/>
          </a:xfrm>
          <a:prstGeom prst="rect">
            <a:avLst/>
          </a:prstGeom>
        </p:spPr>
      </p:pic>
      <p:sp>
        <p:nvSpPr>
          <p:cNvPr id="21" name="Text 17"/>
          <p:cNvSpPr/>
          <p:nvPr/>
        </p:nvSpPr>
        <p:spPr>
          <a:xfrm>
            <a:off x="6931152" y="1618488"/>
            <a:ext cx="4343400" cy="438912"/>
          </a:xfrm>
          <a:prstGeom prst="rect">
            <a:avLst/>
          </a:prstGeom>
          <a:noFill/>
        </p:spPr>
        <p:txBody>
          <a:bodyPr wrap="square" lIns="0" tIns="0" rIns="0" bIns="0" rtlCol="0" anchor="ctr"/>
          <a:lstStyle/>
          <a:p>
            <a:pPr marL="0" indent="0">
              <a:buNone/>
            </a:pPr>
            <a:r>
              <a:rPr lang="en-US" sz="1500" b="1" dirty="0">
                <a:solidFill>
                  <a:srgbClr val="6E1423"/>
                </a:solidFill>
                <a:latin typeface="Cambria" panose="02040503050406030204" pitchFamily="34" charset="0"/>
                <a:ea typeface="Cambria" panose="02040503050406030204" pitchFamily="34" charset="-122"/>
                <a:cs typeface="Cambria" panose="02040503050406030204" pitchFamily="34" charset="-120"/>
              </a:rPr>
              <a:t>Project 2 — Direct Scraping</a:t>
            </a:r>
            <a:endParaRPr lang="en-US" sz="1500" dirty="0"/>
          </a:p>
        </p:txBody>
      </p:sp>
      <p:sp>
        <p:nvSpPr>
          <p:cNvPr id="22" name="Shape 18"/>
          <p:cNvSpPr/>
          <p:nvPr/>
        </p:nvSpPr>
        <p:spPr>
          <a:xfrm>
            <a:off x="6336792" y="2240280"/>
            <a:ext cx="4892040" cy="868680"/>
          </a:xfrm>
          <a:prstGeom prst="roundRect">
            <a:avLst>
              <a:gd name="adj" fmla="val 5263"/>
            </a:avLst>
          </a:prstGeom>
          <a:solidFill>
            <a:srgbClr val="FFFFFF"/>
          </a:solidFill>
          <a:ln w="12700">
            <a:solidFill>
              <a:srgbClr val="E3C9CC"/>
            </a:solidFill>
            <a:prstDash val="solid"/>
          </a:ln>
        </p:spPr>
      </p:sp>
      <p:sp>
        <p:nvSpPr>
          <p:cNvPr id="23" name="Text 19"/>
          <p:cNvSpPr/>
          <p:nvPr/>
        </p:nvSpPr>
        <p:spPr>
          <a:xfrm>
            <a:off x="6519672" y="2240280"/>
            <a:ext cx="3154680" cy="868680"/>
          </a:xfrm>
          <a:prstGeom prst="rect">
            <a:avLst/>
          </a:prstGeom>
          <a:noFill/>
        </p:spPr>
        <p:txBody>
          <a:bodyPr wrap="square" lIns="0" tIns="0" rIns="0" bIns="0" rtlCol="0" anchor="ctr"/>
          <a:lstStyle/>
          <a:p>
            <a:pPr marL="0" indent="0">
              <a:buNone/>
            </a:pPr>
            <a:r>
              <a:rPr lang="en-US" sz="1200" b="1" dirty="0">
                <a:solidFill>
                  <a:srgbClr val="6E1423"/>
                </a:solidFill>
                <a:latin typeface="Calibri" panose="020F0502020204030204" pitchFamily="34" charset="0"/>
                <a:ea typeface="Calibri" panose="020F0502020204030204" pitchFamily="34" charset="-122"/>
                <a:cs typeface="Calibri" panose="020F0502020204030204" pitchFamily="34" charset="-120"/>
              </a:rPr>
              <a:t>Standard Browser</a:t>
            </a:r>
            <a:endParaRPr lang="en-US" sz="1200" dirty="0"/>
          </a:p>
        </p:txBody>
      </p:sp>
      <p:sp>
        <p:nvSpPr>
          <p:cNvPr id="24" name="Text 20"/>
          <p:cNvSpPr/>
          <p:nvPr/>
        </p:nvSpPr>
        <p:spPr>
          <a:xfrm>
            <a:off x="9674352" y="2240280"/>
            <a:ext cx="1554480" cy="868680"/>
          </a:xfrm>
          <a:prstGeom prst="rect">
            <a:avLst/>
          </a:prstGeom>
          <a:noFill/>
        </p:spPr>
        <p:txBody>
          <a:bodyPr wrap="square" lIns="0" tIns="0" rIns="0" bIns="0" rtlCol="0" anchor="ctr"/>
          <a:lstStyle/>
          <a:p>
            <a:pPr marL="0" indent="0" algn="ctr">
              <a:buNone/>
            </a:pPr>
            <a:r>
              <a:rPr lang="en-US" sz="1100" b="1" dirty="0">
                <a:solidFill>
                  <a:srgbClr val="B3261E"/>
                </a:solidFill>
                <a:latin typeface="Calibri" panose="020F0502020204030204" pitchFamily="34" charset="0"/>
                <a:ea typeface="Calibri" panose="020F0502020204030204" pitchFamily="34" charset="-122"/>
                <a:cs typeface="Calibri" panose="020F0502020204030204" pitchFamily="34" charset="-120"/>
              </a:rPr>
              <a:t>403 Forbidden</a:t>
            </a:r>
            <a:endParaRPr lang="en-US" sz="1100" dirty="0"/>
          </a:p>
        </p:txBody>
      </p:sp>
      <p:sp>
        <p:nvSpPr>
          <p:cNvPr id="25" name="Shape 21"/>
          <p:cNvSpPr/>
          <p:nvPr/>
        </p:nvSpPr>
        <p:spPr>
          <a:xfrm>
            <a:off x="6336792" y="3291840"/>
            <a:ext cx="4892040" cy="868680"/>
          </a:xfrm>
          <a:prstGeom prst="roundRect">
            <a:avLst>
              <a:gd name="adj" fmla="val 5263"/>
            </a:avLst>
          </a:prstGeom>
          <a:solidFill>
            <a:srgbClr val="FFFFFF"/>
          </a:solidFill>
          <a:ln w="12700">
            <a:solidFill>
              <a:srgbClr val="E3C9CC"/>
            </a:solidFill>
            <a:prstDash val="solid"/>
          </a:ln>
        </p:spPr>
      </p:sp>
      <p:sp>
        <p:nvSpPr>
          <p:cNvPr id="26" name="Text 22"/>
          <p:cNvSpPr/>
          <p:nvPr/>
        </p:nvSpPr>
        <p:spPr>
          <a:xfrm>
            <a:off x="6519672" y="3291840"/>
            <a:ext cx="3154680" cy="868680"/>
          </a:xfrm>
          <a:prstGeom prst="rect">
            <a:avLst/>
          </a:prstGeom>
          <a:noFill/>
        </p:spPr>
        <p:txBody>
          <a:bodyPr wrap="square" lIns="0" tIns="0" rIns="0" bIns="0" rtlCol="0" anchor="ctr"/>
          <a:lstStyle/>
          <a:p>
            <a:pPr marL="0" indent="0">
              <a:buNone/>
            </a:pPr>
            <a:r>
              <a:rPr lang="en-US" sz="1200" b="1" dirty="0">
                <a:solidFill>
                  <a:srgbClr val="6E1423"/>
                </a:solidFill>
                <a:latin typeface="Calibri" panose="020F0502020204030204" pitchFamily="34" charset="0"/>
                <a:ea typeface="Calibri" panose="020F0502020204030204" pitchFamily="34" charset="-122"/>
                <a:cs typeface="Calibri" panose="020F0502020204030204" pitchFamily="34" charset="-120"/>
              </a:rPr>
              <a:t>Residential Proxy</a:t>
            </a:r>
            <a:endParaRPr lang="en-US" sz="1200" dirty="0"/>
          </a:p>
        </p:txBody>
      </p:sp>
      <p:sp>
        <p:nvSpPr>
          <p:cNvPr id="27" name="Text 23"/>
          <p:cNvSpPr/>
          <p:nvPr/>
        </p:nvSpPr>
        <p:spPr>
          <a:xfrm>
            <a:off x="9674352" y="3291840"/>
            <a:ext cx="1554480" cy="868680"/>
          </a:xfrm>
          <a:prstGeom prst="rect">
            <a:avLst/>
          </a:prstGeom>
          <a:noFill/>
        </p:spPr>
        <p:txBody>
          <a:bodyPr wrap="square" lIns="0" tIns="0" rIns="0" bIns="0" rtlCol="0" anchor="ctr"/>
          <a:lstStyle/>
          <a:p>
            <a:pPr marL="0" indent="0" algn="ctr">
              <a:buNone/>
            </a:pPr>
            <a:r>
              <a:rPr lang="en-US" sz="1100" b="1" dirty="0">
                <a:solidFill>
                  <a:srgbClr val="B3261E"/>
                </a:solidFill>
                <a:latin typeface="Calibri" panose="020F0502020204030204" pitchFamily="34" charset="0"/>
                <a:ea typeface="Calibri" panose="020F0502020204030204" pitchFamily="34" charset="-122"/>
                <a:cs typeface="Calibri" panose="020F0502020204030204" pitchFamily="34" charset="-120"/>
              </a:rPr>
              <a:t>403 Forbidden</a:t>
            </a:r>
            <a:endParaRPr lang="en-US" sz="1100" dirty="0"/>
          </a:p>
        </p:txBody>
      </p:sp>
      <p:sp>
        <p:nvSpPr>
          <p:cNvPr id="28" name="Shape 24"/>
          <p:cNvSpPr/>
          <p:nvPr/>
        </p:nvSpPr>
        <p:spPr>
          <a:xfrm>
            <a:off x="6336792" y="4343400"/>
            <a:ext cx="4892040" cy="868680"/>
          </a:xfrm>
          <a:prstGeom prst="roundRect">
            <a:avLst>
              <a:gd name="adj" fmla="val 5263"/>
            </a:avLst>
          </a:prstGeom>
          <a:solidFill>
            <a:srgbClr val="FFFFFF"/>
          </a:solidFill>
          <a:ln w="12700">
            <a:solidFill>
              <a:srgbClr val="E3C9CC"/>
            </a:solidFill>
            <a:prstDash val="solid"/>
          </a:ln>
        </p:spPr>
      </p:sp>
      <p:sp>
        <p:nvSpPr>
          <p:cNvPr id="29" name="Text 25"/>
          <p:cNvSpPr/>
          <p:nvPr/>
        </p:nvSpPr>
        <p:spPr>
          <a:xfrm>
            <a:off x="6519672" y="4343400"/>
            <a:ext cx="3154680" cy="868680"/>
          </a:xfrm>
          <a:prstGeom prst="rect">
            <a:avLst/>
          </a:prstGeom>
          <a:noFill/>
        </p:spPr>
        <p:txBody>
          <a:bodyPr wrap="square" lIns="0" tIns="0" rIns="0" bIns="0" rtlCol="0" anchor="ctr"/>
          <a:lstStyle/>
          <a:p>
            <a:pPr marL="0" indent="0">
              <a:buNone/>
            </a:pPr>
            <a:r>
              <a:rPr lang="en-US" sz="1200" b="1" dirty="0">
                <a:solidFill>
                  <a:srgbClr val="6E1423"/>
                </a:solidFill>
                <a:latin typeface="Calibri" panose="020F0502020204030204" pitchFamily="34" charset="0"/>
                <a:ea typeface="Calibri" panose="020F0502020204030204" pitchFamily="34" charset="-122"/>
                <a:cs typeface="Calibri" panose="020F0502020204030204" pitchFamily="34" charset="-120"/>
              </a:rPr>
              <a:t>Stealth Browser</a:t>
            </a:r>
            <a:endParaRPr lang="en-US" sz="1200" dirty="0"/>
          </a:p>
        </p:txBody>
      </p:sp>
      <p:sp>
        <p:nvSpPr>
          <p:cNvPr id="30" name="Text 26"/>
          <p:cNvSpPr/>
          <p:nvPr/>
        </p:nvSpPr>
        <p:spPr>
          <a:xfrm>
            <a:off x="9674352" y="4343400"/>
            <a:ext cx="1554480" cy="868680"/>
          </a:xfrm>
          <a:prstGeom prst="rect">
            <a:avLst/>
          </a:prstGeom>
          <a:noFill/>
        </p:spPr>
        <p:txBody>
          <a:bodyPr wrap="square" lIns="0" tIns="0" rIns="0" bIns="0" rtlCol="0" anchor="ctr"/>
          <a:lstStyle/>
          <a:p>
            <a:pPr marL="0" indent="0" algn="ctr">
              <a:buNone/>
            </a:pPr>
            <a:r>
              <a:rPr lang="en-US" sz="1100" b="1" dirty="0">
                <a:solidFill>
                  <a:srgbClr val="B3261E"/>
                </a:solidFill>
                <a:latin typeface="Calibri" panose="020F0502020204030204" pitchFamily="34" charset="0"/>
                <a:ea typeface="Calibri" panose="020F0502020204030204" pitchFamily="34" charset="-122"/>
                <a:cs typeface="Calibri" panose="020F0502020204030204" pitchFamily="34" charset="-120"/>
              </a:rPr>
              <a:t>403 Forbidden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3E7"/>
        </a:solidFill>
        <a:effectLst/>
      </p:bgPr>
    </p:bg>
    <p:spTree>
      <p:nvGrpSpPr>
        <p:cNvPr id="1" name=""/>
        <p:cNvGrpSpPr/>
        <p:nvPr/>
      </p:nvGrpSpPr>
      <p:grpSpPr>
        <a:xfrm>
          <a:off x="0" y="0"/>
          <a:ext cx="0" cy="0"/>
          <a:chOff x="0" y="0"/>
          <a:chExt cx="0" cy="0"/>
        </a:xfrm>
      </p:grpSpPr>
      <p:sp>
        <p:nvSpPr>
          <p:cNvPr id="2" name="Text 0"/>
          <p:cNvSpPr/>
          <p:nvPr/>
        </p:nvSpPr>
        <p:spPr>
          <a:xfrm>
            <a:off x="502920" y="384048"/>
            <a:ext cx="9601200" cy="274320"/>
          </a:xfrm>
          <a:prstGeom prst="rect">
            <a:avLst/>
          </a:prstGeom>
          <a:noFill/>
        </p:spPr>
        <p:txBody>
          <a:bodyPr wrap="square" lIns="0" tIns="0" rIns="0" bIns="0" rtlCol="0" anchor="ctr"/>
          <a:lstStyle/>
          <a:p>
            <a:pPr marL="0" indent="0">
              <a:buNone/>
            </a:pPr>
            <a:r>
              <a:rPr lang="en-US" sz="1200" b="1" kern="0" spc="200" dirty="0">
                <a:solidFill>
                  <a:srgbClr val="A13D4C"/>
                </a:solidFill>
                <a:latin typeface="Calibri" panose="020F0502020204030204" pitchFamily="34" charset="0"/>
                <a:ea typeface="Calibri" panose="020F0502020204030204" pitchFamily="34" charset="-122"/>
                <a:cs typeface="Calibri" panose="020F0502020204030204" pitchFamily="34" charset="-120"/>
              </a:rPr>
              <a:t>BEYOND THE CORE PROJECT</a:t>
            </a:r>
            <a:endParaRPr lang="en-US" sz="1200" dirty="0"/>
          </a:p>
        </p:txBody>
      </p:sp>
      <p:sp>
        <p:nvSpPr>
          <p:cNvPr id="3" name="Text 1"/>
          <p:cNvSpPr/>
          <p:nvPr/>
        </p:nvSpPr>
        <p:spPr>
          <a:xfrm>
            <a:off x="502920" y="658368"/>
            <a:ext cx="10515600" cy="566928"/>
          </a:xfrm>
          <a:prstGeom prst="rect">
            <a:avLst/>
          </a:prstGeom>
          <a:noFill/>
        </p:spPr>
        <p:txBody>
          <a:bodyPr wrap="square" lIns="0" tIns="0" rIns="0" bIns="0" rtlCol="0" anchor="ctr"/>
          <a:lstStyle/>
          <a:p>
            <a:pPr marL="0" indent="0">
              <a:buNone/>
            </a:pPr>
            <a:r>
              <a:rPr lang="en-US" sz="2500" b="1" dirty="0">
                <a:solidFill>
                  <a:srgbClr val="6E1423"/>
                </a:solidFill>
                <a:latin typeface="Cambria" panose="02040503050406030204" pitchFamily="34" charset="0"/>
                <a:ea typeface="Cambria" panose="02040503050406030204" pitchFamily="34" charset="-122"/>
                <a:cs typeface="Cambria" panose="02040503050406030204" pitchFamily="34" charset="-120"/>
              </a:rPr>
              <a:t>Enterprise Software Development</a:t>
            </a:r>
            <a:endParaRPr lang="en-US" sz="2500" dirty="0"/>
          </a:p>
        </p:txBody>
      </p:sp>
      <p:sp>
        <p:nvSpPr>
          <p:cNvPr id="4" name="Text 2"/>
          <p:cNvSpPr/>
          <p:nvPr/>
        </p:nvSpPr>
        <p:spPr>
          <a:xfrm>
            <a:off x="502920" y="6492240"/>
            <a:ext cx="4572000" cy="256032"/>
          </a:xfrm>
          <a:prstGeom prst="rect">
            <a:avLst/>
          </a:prstGeom>
          <a:noFill/>
        </p:spPr>
        <p:txBody>
          <a:bodyPr wrap="square" lIns="0" tIns="0" rIns="0" bIns="0" rtlCol="0" anchor="ctr"/>
          <a:lstStyle/>
          <a:p>
            <a:pPr marL="0" indent="0">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Ford Internship Experience</a:t>
            </a:r>
            <a:endParaRPr lang="en-US" sz="1000" dirty="0"/>
          </a:p>
        </p:txBody>
      </p:sp>
      <p:sp>
        <p:nvSpPr>
          <p:cNvPr id="5" name="Text 3"/>
          <p:cNvSpPr/>
          <p:nvPr/>
        </p:nvSpPr>
        <p:spPr>
          <a:xfrm>
            <a:off x="10725912" y="6492240"/>
            <a:ext cx="457200" cy="256032"/>
          </a:xfrm>
          <a:prstGeom prst="rect">
            <a:avLst/>
          </a:prstGeom>
          <a:noFill/>
        </p:spPr>
        <p:txBody>
          <a:bodyPr wrap="square" lIns="0" tIns="0" rIns="0" bIns="0" rtlCol="0" anchor="ctr"/>
          <a:lstStyle/>
          <a:p>
            <a:pPr marL="0" indent="0" algn="r">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13</a:t>
            </a:r>
            <a:endParaRPr lang="en-US" sz="1000" dirty="0"/>
          </a:p>
        </p:txBody>
      </p:sp>
      <p:sp>
        <p:nvSpPr>
          <p:cNvPr id="6" name="Shape 4"/>
          <p:cNvSpPr/>
          <p:nvPr/>
        </p:nvSpPr>
        <p:spPr>
          <a:xfrm>
            <a:off x="502920" y="1371600"/>
            <a:ext cx="3502152" cy="1691640"/>
          </a:xfrm>
          <a:prstGeom prst="roundRect">
            <a:avLst>
              <a:gd name="adj" fmla="val 3243"/>
            </a:avLst>
          </a:prstGeom>
          <a:solidFill>
            <a:srgbClr val="F3E6E1"/>
          </a:solidFill>
        </p:spPr>
      </p:sp>
      <p:sp>
        <p:nvSpPr>
          <p:cNvPr id="7" name="Shape 5"/>
          <p:cNvSpPr/>
          <p:nvPr/>
        </p:nvSpPr>
        <p:spPr>
          <a:xfrm>
            <a:off x="685800" y="1536192"/>
            <a:ext cx="420624" cy="420624"/>
          </a:xfrm>
          <a:prstGeom prst="ellipse">
            <a:avLst/>
          </a:prstGeom>
          <a:solidFill>
            <a:srgbClr val="6E1423"/>
          </a:solidFill>
        </p:spPr>
      </p:sp>
      <p:pic>
        <p:nvPicPr>
          <p:cNvPr id="8" name="Image 0" descr="/home/claude/work/icons/project.png"/>
          <p:cNvPicPr>
            <a:picLocks noChangeAspect="1"/>
          </p:cNvPicPr>
          <p:nvPr/>
        </p:nvPicPr>
        <p:blipFill>
          <a:blip r:embed="rId3"/>
          <a:stretch>
            <a:fillRect/>
          </a:stretch>
        </p:blipFill>
        <p:spPr>
          <a:xfrm>
            <a:off x="748894" y="1599286"/>
            <a:ext cx="294437" cy="294437"/>
          </a:xfrm>
          <a:prstGeom prst="rect">
            <a:avLst/>
          </a:prstGeom>
        </p:spPr>
      </p:pic>
      <p:sp>
        <p:nvSpPr>
          <p:cNvPr id="9" name="Text 6"/>
          <p:cNvSpPr/>
          <p:nvPr/>
        </p:nvSpPr>
        <p:spPr>
          <a:xfrm>
            <a:off x="1216152" y="1536192"/>
            <a:ext cx="2587752" cy="420624"/>
          </a:xfrm>
          <a:prstGeom prst="rect">
            <a:avLst/>
          </a:prstGeom>
          <a:noFill/>
        </p:spPr>
        <p:txBody>
          <a:bodyPr wrap="square" lIns="0" tIns="0" rIns="0" bIns="0" rtlCol="0" anchor="ctr"/>
          <a:lstStyle/>
          <a:p>
            <a:pPr marL="0" indent="0">
              <a:buNone/>
            </a:pPr>
            <a:r>
              <a:rPr lang="en-US" sz="1400" b="1" dirty="0">
                <a:solidFill>
                  <a:srgbClr val="6E1423"/>
                </a:solidFill>
                <a:latin typeface="Cambria" panose="02040503050406030204" pitchFamily="34" charset="0"/>
                <a:ea typeface="Cambria" panose="02040503050406030204" pitchFamily="34" charset="-122"/>
                <a:cs typeface="Cambria" panose="02040503050406030204" pitchFamily="34" charset="-120"/>
              </a:rPr>
              <a:t>Terraform</a:t>
            </a:r>
            <a:endParaRPr lang="en-US" sz="1400" dirty="0"/>
          </a:p>
        </p:txBody>
      </p:sp>
      <p:sp>
        <p:nvSpPr>
          <p:cNvPr id="10" name="Text 7"/>
          <p:cNvSpPr/>
          <p:nvPr/>
        </p:nvSpPr>
        <p:spPr>
          <a:xfrm>
            <a:off x="704088" y="2084832"/>
            <a:ext cx="3099816" cy="868680"/>
          </a:xfrm>
          <a:prstGeom prst="rect">
            <a:avLst/>
          </a:prstGeom>
          <a:noFill/>
        </p:spPr>
        <p:txBody>
          <a:bodyPr wrap="square" lIns="0" tIns="0" rIns="0" bIns="0" rtlCol="0" anchor="ctr"/>
          <a:lstStyle/>
          <a:p>
            <a:pPr marL="0" indent="0">
              <a:lnSpc>
                <a:spcPct val="125000"/>
              </a:lnSpc>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 Infrastructure as Code</a:t>
            </a:r>
            <a:endParaRPr lang="en-US" sz="1000" dirty="0"/>
          </a:p>
        </p:txBody>
      </p:sp>
      <p:sp>
        <p:nvSpPr>
          <p:cNvPr id="11" name="Shape 8"/>
          <p:cNvSpPr/>
          <p:nvPr/>
        </p:nvSpPr>
        <p:spPr>
          <a:xfrm>
            <a:off x="4142232" y="1371600"/>
            <a:ext cx="3502152" cy="1691640"/>
          </a:xfrm>
          <a:prstGeom prst="roundRect">
            <a:avLst>
              <a:gd name="adj" fmla="val 3243"/>
            </a:avLst>
          </a:prstGeom>
          <a:solidFill>
            <a:srgbClr val="F3E6E1"/>
          </a:solidFill>
        </p:spPr>
      </p:sp>
      <p:sp>
        <p:nvSpPr>
          <p:cNvPr id="12" name="Shape 9"/>
          <p:cNvSpPr/>
          <p:nvPr/>
        </p:nvSpPr>
        <p:spPr>
          <a:xfrm>
            <a:off x="4325112" y="1536192"/>
            <a:ext cx="420624" cy="420624"/>
          </a:xfrm>
          <a:prstGeom prst="ellipse">
            <a:avLst/>
          </a:prstGeom>
          <a:solidFill>
            <a:srgbClr val="6E1423"/>
          </a:solidFill>
        </p:spPr>
      </p:sp>
      <p:pic>
        <p:nvPicPr>
          <p:cNvPr id="13" name="Image 1" descr="/home/claude/work/icons/stream.png"/>
          <p:cNvPicPr>
            <a:picLocks noChangeAspect="1"/>
          </p:cNvPicPr>
          <p:nvPr/>
        </p:nvPicPr>
        <p:blipFill>
          <a:blip r:embed="rId4"/>
          <a:stretch>
            <a:fillRect/>
          </a:stretch>
        </p:blipFill>
        <p:spPr>
          <a:xfrm>
            <a:off x="4388206" y="1599286"/>
            <a:ext cx="294437" cy="294437"/>
          </a:xfrm>
          <a:prstGeom prst="rect">
            <a:avLst/>
          </a:prstGeom>
        </p:spPr>
      </p:pic>
      <p:sp>
        <p:nvSpPr>
          <p:cNvPr id="14" name="Text 10"/>
          <p:cNvSpPr/>
          <p:nvPr/>
        </p:nvSpPr>
        <p:spPr>
          <a:xfrm>
            <a:off x="4855464" y="1536192"/>
            <a:ext cx="2587752" cy="420624"/>
          </a:xfrm>
          <a:prstGeom prst="rect">
            <a:avLst/>
          </a:prstGeom>
          <a:noFill/>
        </p:spPr>
        <p:txBody>
          <a:bodyPr wrap="square" lIns="0" tIns="0" rIns="0" bIns="0" rtlCol="0" anchor="ctr"/>
          <a:lstStyle/>
          <a:p>
            <a:pPr marL="0" indent="0">
              <a:buNone/>
            </a:pPr>
            <a:r>
              <a:rPr lang="en-US" sz="1400" b="1" dirty="0">
                <a:solidFill>
                  <a:srgbClr val="6E1423"/>
                </a:solidFill>
                <a:latin typeface="Cambria" panose="02040503050406030204" pitchFamily="34" charset="0"/>
                <a:ea typeface="Cambria" panose="02040503050406030204" pitchFamily="34" charset="-122"/>
                <a:cs typeface="Cambria" panose="02040503050406030204" pitchFamily="34" charset="-120"/>
              </a:rPr>
              <a:t>Apache Airflow</a:t>
            </a:r>
            <a:endParaRPr lang="en-US" sz="1400" dirty="0"/>
          </a:p>
        </p:txBody>
      </p:sp>
      <p:sp>
        <p:nvSpPr>
          <p:cNvPr id="15" name="Text 11"/>
          <p:cNvSpPr/>
          <p:nvPr/>
        </p:nvSpPr>
        <p:spPr>
          <a:xfrm>
            <a:off x="4343400" y="2084832"/>
            <a:ext cx="3099816" cy="868680"/>
          </a:xfrm>
          <a:prstGeom prst="rect">
            <a:avLst/>
          </a:prstGeom>
          <a:noFill/>
        </p:spPr>
        <p:txBody>
          <a:bodyPr wrap="square" lIns="0" tIns="0" rIns="0" bIns="0" rtlCol="0" anchor="ctr"/>
          <a:lstStyle/>
          <a:p>
            <a:pPr marL="0" indent="0">
              <a:lnSpc>
                <a:spcPct val="125000"/>
              </a:lnSpc>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 DAGs</a:t>
            </a:r>
            <a:endParaRPr lang="en-US" sz="1000" dirty="0"/>
          </a:p>
          <a:p>
            <a:pPr marL="0" indent="0">
              <a:lnSpc>
                <a:spcPct val="125000"/>
              </a:lnSpc>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 Scheduling</a:t>
            </a:r>
            <a:endParaRPr lang="en-US" sz="1000" dirty="0"/>
          </a:p>
          <a:p>
            <a:pPr marL="0" indent="0">
              <a:lnSpc>
                <a:spcPct val="125000"/>
              </a:lnSpc>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 Task Dependencies</a:t>
            </a:r>
            <a:endParaRPr lang="en-US" sz="1000" dirty="0"/>
          </a:p>
          <a:p>
            <a:pPr marL="0" indent="0">
              <a:lnSpc>
                <a:spcPct val="125000"/>
              </a:lnSpc>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 Monitoring &amp; Retries</a:t>
            </a:r>
            <a:endParaRPr lang="en-US" sz="1000" dirty="0"/>
          </a:p>
        </p:txBody>
      </p:sp>
      <p:sp>
        <p:nvSpPr>
          <p:cNvPr id="16" name="Shape 12"/>
          <p:cNvSpPr/>
          <p:nvPr/>
        </p:nvSpPr>
        <p:spPr>
          <a:xfrm>
            <a:off x="7781544" y="1371600"/>
            <a:ext cx="3502152" cy="1691640"/>
          </a:xfrm>
          <a:prstGeom prst="roundRect">
            <a:avLst>
              <a:gd name="adj" fmla="val 3243"/>
            </a:avLst>
          </a:prstGeom>
          <a:solidFill>
            <a:srgbClr val="F3E6E1"/>
          </a:solidFill>
        </p:spPr>
      </p:sp>
      <p:sp>
        <p:nvSpPr>
          <p:cNvPr id="17" name="Shape 13"/>
          <p:cNvSpPr/>
          <p:nvPr/>
        </p:nvSpPr>
        <p:spPr>
          <a:xfrm>
            <a:off x="7964424" y="1536192"/>
            <a:ext cx="420624" cy="420624"/>
          </a:xfrm>
          <a:prstGeom prst="ellipse">
            <a:avLst/>
          </a:prstGeom>
          <a:solidFill>
            <a:srgbClr val="6E1423"/>
          </a:solidFill>
        </p:spPr>
      </p:sp>
      <p:pic>
        <p:nvPicPr>
          <p:cNvPr id="18" name="Image 2" descr="/home/claude/work/icons/ticket.png"/>
          <p:cNvPicPr>
            <a:picLocks noChangeAspect="1"/>
          </p:cNvPicPr>
          <p:nvPr/>
        </p:nvPicPr>
        <p:blipFill>
          <a:blip r:embed="rId5"/>
          <a:stretch>
            <a:fillRect/>
          </a:stretch>
        </p:blipFill>
        <p:spPr>
          <a:xfrm>
            <a:off x="8027518" y="1599286"/>
            <a:ext cx="294437" cy="294437"/>
          </a:xfrm>
          <a:prstGeom prst="rect">
            <a:avLst/>
          </a:prstGeom>
        </p:spPr>
      </p:pic>
      <p:sp>
        <p:nvSpPr>
          <p:cNvPr id="19" name="Text 14"/>
          <p:cNvSpPr/>
          <p:nvPr/>
        </p:nvSpPr>
        <p:spPr>
          <a:xfrm>
            <a:off x="8494776" y="1536192"/>
            <a:ext cx="2587752" cy="420624"/>
          </a:xfrm>
          <a:prstGeom prst="rect">
            <a:avLst/>
          </a:prstGeom>
          <a:noFill/>
        </p:spPr>
        <p:txBody>
          <a:bodyPr wrap="square" lIns="0" tIns="0" rIns="0" bIns="0" rtlCol="0" anchor="ctr"/>
          <a:lstStyle/>
          <a:p>
            <a:pPr marL="0" indent="0">
              <a:buNone/>
            </a:pPr>
            <a:r>
              <a:rPr lang="en-US" sz="1400" b="1" dirty="0">
                <a:solidFill>
                  <a:srgbClr val="6E1423"/>
                </a:solidFill>
                <a:latin typeface="Cambria" panose="02040503050406030204" pitchFamily="34" charset="0"/>
                <a:ea typeface="Cambria" panose="02040503050406030204" pitchFamily="34" charset="-122"/>
                <a:cs typeface="Cambria" panose="02040503050406030204" pitchFamily="34" charset="-120"/>
              </a:rPr>
              <a:t>Jira</a:t>
            </a:r>
            <a:endParaRPr lang="en-US" sz="1400" dirty="0"/>
          </a:p>
        </p:txBody>
      </p:sp>
      <p:sp>
        <p:nvSpPr>
          <p:cNvPr id="20" name="Text 15"/>
          <p:cNvSpPr/>
          <p:nvPr/>
        </p:nvSpPr>
        <p:spPr>
          <a:xfrm>
            <a:off x="7982712" y="2084832"/>
            <a:ext cx="3099816" cy="868680"/>
          </a:xfrm>
          <a:prstGeom prst="rect">
            <a:avLst/>
          </a:prstGeom>
          <a:noFill/>
        </p:spPr>
        <p:txBody>
          <a:bodyPr wrap="square" lIns="0" tIns="0" rIns="0" bIns="0" rtlCol="0" anchor="ctr"/>
          <a:lstStyle/>
          <a:p>
            <a:pPr marL="0" indent="0">
              <a:lnSpc>
                <a:spcPct val="125000"/>
              </a:lnSpc>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 Ticket Creation</a:t>
            </a:r>
            <a:endParaRPr lang="en-US" sz="1000" dirty="0"/>
          </a:p>
          <a:p>
            <a:pPr marL="0" indent="0">
              <a:lnSpc>
                <a:spcPct val="125000"/>
              </a:lnSpc>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 Issue Tracking</a:t>
            </a:r>
            <a:endParaRPr lang="en-US" sz="1000" dirty="0"/>
          </a:p>
          <a:p>
            <a:pPr marL="0" indent="0">
              <a:lnSpc>
                <a:spcPct val="125000"/>
              </a:lnSpc>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 Agile Workflow</a:t>
            </a:r>
            <a:endParaRPr lang="en-US" sz="1000" dirty="0"/>
          </a:p>
        </p:txBody>
      </p:sp>
      <p:sp>
        <p:nvSpPr>
          <p:cNvPr id="21" name="Text 16"/>
          <p:cNvSpPr/>
          <p:nvPr/>
        </p:nvSpPr>
        <p:spPr>
          <a:xfrm>
            <a:off x="502920" y="3319272"/>
            <a:ext cx="3657600" cy="256032"/>
          </a:xfrm>
          <a:prstGeom prst="rect">
            <a:avLst/>
          </a:prstGeom>
          <a:noFill/>
        </p:spPr>
        <p:txBody>
          <a:bodyPr wrap="square" lIns="0" tIns="0" rIns="0" bIns="0" rtlCol="0" anchor="ctr"/>
          <a:lstStyle/>
          <a:p>
            <a:pPr marL="0" indent="0">
              <a:buNone/>
            </a:pPr>
            <a:r>
              <a:rPr lang="en-US" sz="1050" b="1" kern="0" spc="100" dirty="0">
                <a:solidFill>
                  <a:srgbClr val="A13D4C"/>
                </a:solidFill>
                <a:latin typeface="Calibri" panose="020F0502020204030204" pitchFamily="34" charset="0"/>
                <a:ea typeface="Calibri" panose="020F0502020204030204" pitchFamily="34" charset="-122"/>
                <a:cs typeface="Calibri" panose="020F0502020204030204" pitchFamily="34" charset="-120"/>
              </a:rPr>
              <a:t>CI/CD PIPELINE</a:t>
            </a:r>
            <a:endParaRPr lang="en-US" sz="1050" dirty="0"/>
          </a:p>
        </p:txBody>
      </p:sp>
      <p:sp>
        <p:nvSpPr>
          <p:cNvPr id="22" name="Shape 17"/>
          <p:cNvSpPr/>
          <p:nvPr/>
        </p:nvSpPr>
        <p:spPr>
          <a:xfrm>
            <a:off x="502920" y="3630168"/>
            <a:ext cx="2011680" cy="777240"/>
          </a:xfrm>
          <a:prstGeom prst="roundRect">
            <a:avLst>
              <a:gd name="adj" fmla="val 5882"/>
            </a:avLst>
          </a:prstGeom>
          <a:solidFill>
            <a:srgbClr val="F3E6E1"/>
          </a:solidFill>
          <a:ln w="12700">
            <a:solidFill>
              <a:srgbClr val="E3C9CC"/>
            </a:solidFill>
            <a:prstDash val="solid"/>
          </a:ln>
        </p:spPr>
      </p:sp>
      <p:sp>
        <p:nvSpPr>
          <p:cNvPr id="23" name="Text 18"/>
          <p:cNvSpPr/>
          <p:nvPr/>
        </p:nvSpPr>
        <p:spPr>
          <a:xfrm>
            <a:off x="502920" y="3630168"/>
            <a:ext cx="2011680" cy="777240"/>
          </a:xfrm>
          <a:prstGeom prst="rect">
            <a:avLst/>
          </a:prstGeom>
          <a:noFill/>
        </p:spPr>
        <p:txBody>
          <a:bodyPr wrap="square" lIns="25400" tIns="25400" rIns="25400" bIns="25400" rtlCol="0" anchor="ctr"/>
          <a:lstStyle/>
          <a:p>
            <a:pPr marL="0" indent="0" algn="ctr">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Developer</a:t>
            </a:r>
            <a:endParaRPr lang="en-US" sz="1050" dirty="0"/>
          </a:p>
        </p:txBody>
      </p:sp>
      <p:sp>
        <p:nvSpPr>
          <p:cNvPr id="24" name="Text 19"/>
          <p:cNvSpPr/>
          <p:nvPr/>
        </p:nvSpPr>
        <p:spPr>
          <a:xfrm>
            <a:off x="2514600" y="3630168"/>
            <a:ext cx="201168" cy="777240"/>
          </a:xfrm>
          <a:prstGeom prst="rect">
            <a:avLst/>
          </a:prstGeom>
          <a:noFill/>
        </p:spPr>
        <p:txBody>
          <a:bodyPr wrap="square" lIns="0" tIns="0" rIns="0" bIns="0" rtlCol="0" anchor="ctr"/>
          <a:lstStyle/>
          <a:p>
            <a:pPr marL="0" indent="0" algn="ctr">
              <a:buNone/>
            </a:pPr>
            <a:r>
              <a:rPr lang="en-US" sz="1500" b="1" dirty="0">
                <a:solidFill>
                  <a:srgbClr val="A13D4C"/>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25" name="Shape 20"/>
          <p:cNvSpPr/>
          <p:nvPr/>
        </p:nvSpPr>
        <p:spPr>
          <a:xfrm>
            <a:off x="2715768" y="3630168"/>
            <a:ext cx="2011680" cy="777240"/>
          </a:xfrm>
          <a:prstGeom prst="roundRect">
            <a:avLst>
              <a:gd name="adj" fmla="val 5882"/>
            </a:avLst>
          </a:prstGeom>
          <a:solidFill>
            <a:srgbClr val="F3E6E1"/>
          </a:solidFill>
          <a:ln w="12700">
            <a:solidFill>
              <a:srgbClr val="E3C9CC"/>
            </a:solidFill>
            <a:prstDash val="solid"/>
          </a:ln>
        </p:spPr>
      </p:sp>
      <p:sp>
        <p:nvSpPr>
          <p:cNvPr id="26" name="Text 21"/>
          <p:cNvSpPr/>
          <p:nvPr/>
        </p:nvSpPr>
        <p:spPr>
          <a:xfrm>
            <a:off x="2715768" y="3630168"/>
            <a:ext cx="2011680" cy="777240"/>
          </a:xfrm>
          <a:prstGeom prst="rect">
            <a:avLst/>
          </a:prstGeom>
          <a:noFill/>
        </p:spPr>
        <p:txBody>
          <a:bodyPr wrap="square" lIns="25400" tIns="25400" rIns="25400" bIns="25400" rtlCol="0" anchor="ctr"/>
          <a:lstStyle/>
          <a:p>
            <a:pPr marL="0" indent="0" algn="ctr">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Cloud Build</a:t>
            </a:r>
            <a:endParaRPr lang="en-US" sz="1050" dirty="0"/>
          </a:p>
        </p:txBody>
      </p:sp>
      <p:sp>
        <p:nvSpPr>
          <p:cNvPr id="27" name="Text 22"/>
          <p:cNvSpPr/>
          <p:nvPr/>
        </p:nvSpPr>
        <p:spPr>
          <a:xfrm>
            <a:off x="4727448" y="3630168"/>
            <a:ext cx="201168" cy="777240"/>
          </a:xfrm>
          <a:prstGeom prst="rect">
            <a:avLst/>
          </a:prstGeom>
          <a:noFill/>
        </p:spPr>
        <p:txBody>
          <a:bodyPr wrap="square" lIns="0" tIns="0" rIns="0" bIns="0" rtlCol="0" anchor="ctr"/>
          <a:lstStyle/>
          <a:p>
            <a:pPr marL="0" indent="0" algn="ctr">
              <a:buNone/>
            </a:pPr>
            <a:r>
              <a:rPr lang="en-US" sz="1500" b="1" dirty="0">
                <a:solidFill>
                  <a:srgbClr val="A13D4C"/>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28" name="Shape 23"/>
          <p:cNvSpPr/>
          <p:nvPr/>
        </p:nvSpPr>
        <p:spPr>
          <a:xfrm>
            <a:off x="4928616" y="3630168"/>
            <a:ext cx="2011680" cy="777240"/>
          </a:xfrm>
          <a:prstGeom prst="roundRect">
            <a:avLst>
              <a:gd name="adj" fmla="val 5882"/>
            </a:avLst>
          </a:prstGeom>
          <a:solidFill>
            <a:srgbClr val="F3E6E1"/>
          </a:solidFill>
          <a:ln w="12700">
            <a:solidFill>
              <a:srgbClr val="E3C9CC"/>
            </a:solidFill>
            <a:prstDash val="solid"/>
          </a:ln>
        </p:spPr>
      </p:sp>
      <p:sp>
        <p:nvSpPr>
          <p:cNvPr id="29" name="Text 24"/>
          <p:cNvSpPr/>
          <p:nvPr/>
        </p:nvSpPr>
        <p:spPr>
          <a:xfrm>
            <a:off x="4928616" y="3630168"/>
            <a:ext cx="2011680" cy="777240"/>
          </a:xfrm>
          <a:prstGeom prst="rect">
            <a:avLst/>
          </a:prstGeom>
          <a:noFill/>
        </p:spPr>
        <p:txBody>
          <a:bodyPr wrap="square" lIns="25400" tIns="25400" rIns="25400" bIns="25400" rtlCol="0" anchor="ctr"/>
          <a:lstStyle/>
          <a:p>
            <a:pPr marL="0" indent="0" algn="ctr">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Artifact</a:t>
            </a:r>
            <a:endParaRPr lang="en-US" sz="1050" dirty="0"/>
          </a:p>
          <a:p>
            <a:pPr marL="0" indent="0" algn="ctr">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Registry</a:t>
            </a:r>
            <a:endParaRPr lang="en-US" sz="1050" dirty="0"/>
          </a:p>
        </p:txBody>
      </p:sp>
      <p:sp>
        <p:nvSpPr>
          <p:cNvPr id="30" name="Text 25"/>
          <p:cNvSpPr/>
          <p:nvPr/>
        </p:nvSpPr>
        <p:spPr>
          <a:xfrm>
            <a:off x="6940296" y="3630168"/>
            <a:ext cx="201168" cy="777240"/>
          </a:xfrm>
          <a:prstGeom prst="rect">
            <a:avLst/>
          </a:prstGeom>
          <a:noFill/>
        </p:spPr>
        <p:txBody>
          <a:bodyPr wrap="square" lIns="0" tIns="0" rIns="0" bIns="0" rtlCol="0" anchor="ctr"/>
          <a:lstStyle/>
          <a:p>
            <a:pPr marL="0" indent="0" algn="ctr">
              <a:buNone/>
            </a:pPr>
            <a:r>
              <a:rPr lang="en-US" sz="1500" b="1" dirty="0">
                <a:solidFill>
                  <a:srgbClr val="A13D4C"/>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31" name="Shape 26"/>
          <p:cNvSpPr/>
          <p:nvPr/>
        </p:nvSpPr>
        <p:spPr>
          <a:xfrm>
            <a:off x="7141464" y="3630168"/>
            <a:ext cx="2011680" cy="777240"/>
          </a:xfrm>
          <a:prstGeom prst="roundRect">
            <a:avLst>
              <a:gd name="adj" fmla="val 5882"/>
            </a:avLst>
          </a:prstGeom>
          <a:solidFill>
            <a:srgbClr val="F3E6E1"/>
          </a:solidFill>
          <a:ln w="12700">
            <a:solidFill>
              <a:srgbClr val="E3C9CC"/>
            </a:solidFill>
            <a:prstDash val="solid"/>
          </a:ln>
        </p:spPr>
      </p:sp>
      <p:sp>
        <p:nvSpPr>
          <p:cNvPr id="32" name="Text 27"/>
          <p:cNvSpPr/>
          <p:nvPr/>
        </p:nvSpPr>
        <p:spPr>
          <a:xfrm>
            <a:off x="7141464" y="3630168"/>
            <a:ext cx="2011680" cy="777240"/>
          </a:xfrm>
          <a:prstGeom prst="rect">
            <a:avLst/>
          </a:prstGeom>
          <a:noFill/>
        </p:spPr>
        <p:txBody>
          <a:bodyPr wrap="square" lIns="25400" tIns="25400" rIns="25400" bIns="25400" rtlCol="0" anchor="ctr"/>
          <a:lstStyle/>
          <a:p>
            <a:pPr marL="0" indent="0" algn="ctr">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Cloud Run</a:t>
            </a:r>
            <a:endParaRPr lang="en-US" sz="1050" dirty="0"/>
          </a:p>
        </p:txBody>
      </p:sp>
      <p:sp>
        <p:nvSpPr>
          <p:cNvPr id="33" name="Text 28"/>
          <p:cNvSpPr/>
          <p:nvPr/>
        </p:nvSpPr>
        <p:spPr>
          <a:xfrm>
            <a:off x="9153144" y="3630168"/>
            <a:ext cx="201168" cy="777240"/>
          </a:xfrm>
          <a:prstGeom prst="rect">
            <a:avLst/>
          </a:prstGeom>
          <a:noFill/>
        </p:spPr>
        <p:txBody>
          <a:bodyPr wrap="square" lIns="0" tIns="0" rIns="0" bIns="0" rtlCol="0" anchor="ctr"/>
          <a:lstStyle/>
          <a:p>
            <a:pPr marL="0" indent="0" algn="ctr">
              <a:buNone/>
            </a:pPr>
            <a:r>
              <a:rPr lang="en-US" sz="1500" b="1" dirty="0">
                <a:solidFill>
                  <a:srgbClr val="A13D4C"/>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34" name="Shape 29"/>
          <p:cNvSpPr/>
          <p:nvPr/>
        </p:nvSpPr>
        <p:spPr>
          <a:xfrm>
            <a:off x="9354312" y="3630168"/>
            <a:ext cx="2011680" cy="777240"/>
          </a:xfrm>
          <a:prstGeom prst="roundRect">
            <a:avLst>
              <a:gd name="adj" fmla="val 5882"/>
            </a:avLst>
          </a:prstGeom>
          <a:solidFill>
            <a:srgbClr val="F3E6E1"/>
          </a:solidFill>
          <a:ln w="12700">
            <a:solidFill>
              <a:srgbClr val="E3C9CC"/>
            </a:solidFill>
            <a:prstDash val="solid"/>
          </a:ln>
        </p:spPr>
      </p:sp>
      <p:sp>
        <p:nvSpPr>
          <p:cNvPr id="35" name="Text 30"/>
          <p:cNvSpPr/>
          <p:nvPr/>
        </p:nvSpPr>
        <p:spPr>
          <a:xfrm>
            <a:off x="9354312" y="3630168"/>
            <a:ext cx="2011680" cy="777240"/>
          </a:xfrm>
          <a:prstGeom prst="rect">
            <a:avLst/>
          </a:prstGeom>
          <a:noFill/>
        </p:spPr>
        <p:txBody>
          <a:bodyPr wrap="square" lIns="25400" tIns="25400" rIns="25400" bIns="25400" rtlCol="0" anchor="ctr"/>
          <a:lstStyle/>
          <a:p>
            <a:pPr marL="0" indent="0" algn="ctr">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Deployment</a:t>
            </a:r>
            <a:endParaRPr lang="en-US" sz="1050" dirty="0"/>
          </a:p>
        </p:txBody>
      </p:sp>
      <p:sp>
        <p:nvSpPr>
          <p:cNvPr id="36" name="Shape 31"/>
          <p:cNvSpPr/>
          <p:nvPr/>
        </p:nvSpPr>
        <p:spPr>
          <a:xfrm>
            <a:off x="502920" y="4663440"/>
            <a:ext cx="3502152" cy="960120"/>
          </a:xfrm>
          <a:prstGeom prst="roundRect">
            <a:avLst>
              <a:gd name="adj" fmla="val 4762"/>
            </a:avLst>
          </a:prstGeom>
          <a:solidFill>
            <a:srgbClr val="FFFFFF"/>
          </a:solidFill>
          <a:ln w="12700">
            <a:solidFill>
              <a:srgbClr val="C9A3A8"/>
            </a:solidFill>
            <a:prstDash val="dash"/>
          </a:ln>
        </p:spPr>
      </p:sp>
      <p:sp>
        <p:nvSpPr>
          <p:cNvPr id="37" name="Text 32"/>
          <p:cNvSpPr/>
          <p:nvPr/>
        </p:nvSpPr>
        <p:spPr>
          <a:xfrm>
            <a:off x="502920" y="4663440"/>
            <a:ext cx="3502152" cy="960120"/>
          </a:xfrm>
          <a:prstGeom prst="rect">
            <a:avLst/>
          </a:prstGeom>
          <a:noFill/>
        </p:spPr>
        <p:txBody>
          <a:bodyPr wrap="square" lIns="0" tIns="0" rIns="0" bIns="0" rtlCol="0" anchor="ctr"/>
          <a:lstStyle/>
          <a:p>
            <a:pPr marL="0" indent="0" algn="ctr">
              <a:buNone/>
            </a:pPr>
            <a:r>
              <a:rPr lang="en-US" sz="1050" i="1" dirty="0">
                <a:solidFill>
                  <a:srgbClr val="7D5A5E"/>
                </a:solidFill>
                <a:latin typeface="Calibri" panose="020F0502020204030204" pitchFamily="34" charset="0"/>
                <a:ea typeface="Calibri" panose="020F0502020204030204" pitchFamily="34" charset="-122"/>
                <a:cs typeface="Calibri" panose="020F0502020204030204" pitchFamily="34" charset="-120"/>
              </a:rPr>
              <a:t>&lt;&lt; Airflow Screenshot &gt;&gt;</a:t>
            </a:r>
            <a:endParaRPr lang="en-US" sz="1050" dirty="0"/>
          </a:p>
        </p:txBody>
      </p:sp>
      <p:sp>
        <p:nvSpPr>
          <p:cNvPr id="38" name="Shape 33"/>
          <p:cNvSpPr/>
          <p:nvPr/>
        </p:nvSpPr>
        <p:spPr>
          <a:xfrm>
            <a:off x="4142232" y="4663440"/>
            <a:ext cx="3502152" cy="960120"/>
          </a:xfrm>
          <a:prstGeom prst="roundRect">
            <a:avLst>
              <a:gd name="adj" fmla="val 4762"/>
            </a:avLst>
          </a:prstGeom>
          <a:solidFill>
            <a:srgbClr val="FFFFFF"/>
          </a:solidFill>
          <a:ln w="12700">
            <a:solidFill>
              <a:srgbClr val="C9A3A8"/>
            </a:solidFill>
            <a:prstDash val="dash"/>
          </a:ln>
        </p:spPr>
      </p:sp>
      <p:sp>
        <p:nvSpPr>
          <p:cNvPr id="39" name="Text 34"/>
          <p:cNvSpPr/>
          <p:nvPr/>
        </p:nvSpPr>
        <p:spPr>
          <a:xfrm>
            <a:off x="4142232" y="4663440"/>
            <a:ext cx="3502152" cy="960120"/>
          </a:xfrm>
          <a:prstGeom prst="rect">
            <a:avLst/>
          </a:prstGeom>
          <a:noFill/>
        </p:spPr>
        <p:txBody>
          <a:bodyPr wrap="square" lIns="0" tIns="0" rIns="0" bIns="0" rtlCol="0" anchor="ctr"/>
          <a:lstStyle/>
          <a:p>
            <a:pPr marL="0" indent="0" algn="ctr">
              <a:buNone/>
            </a:pPr>
            <a:r>
              <a:rPr lang="en-US" sz="1050" i="1" dirty="0">
                <a:solidFill>
                  <a:srgbClr val="7D5A5E"/>
                </a:solidFill>
                <a:latin typeface="Calibri" panose="020F0502020204030204" pitchFamily="34" charset="0"/>
                <a:ea typeface="Calibri" panose="020F0502020204030204" pitchFamily="34" charset="-122"/>
                <a:cs typeface="Calibri" panose="020F0502020204030204" pitchFamily="34" charset="-120"/>
              </a:rPr>
              <a:t>&lt;&lt; Pipeline Screenshot &gt;&gt;</a:t>
            </a:r>
            <a:endParaRPr lang="en-US" sz="1050" dirty="0"/>
          </a:p>
        </p:txBody>
      </p:sp>
      <p:sp>
        <p:nvSpPr>
          <p:cNvPr id="40" name="Shape 35"/>
          <p:cNvSpPr/>
          <p:nvPr/>
        </p:nvSpPr>
        <p:spPr>
          <a:xfrm>
            <a:off x="7781544" y="4663440"/>
            <a:ext cx="3502152" cy="960120"/>
          </a:xfrm>
          <a:prstGeom prst="roundRect">
            <a:avLst>
              <a:gd name="adj" fmla="val 4762"/>
            </a:avLst>
          </a:prstGeom>
          <a:solidFill>
            <a:srgbClr val="FFFFFF"/>
          </a:solidFill>
          <a:ln w="12700">
            <a:solidFill>
              <a:srgbClr val="C9A3A8"/>
            </a:solidFill>
            <a:prstDash val="dash"/>
          </a:ln>
        </p:spPr>
      </p:sp>
      <p:sp>
        <p:nvSpPr>
          <p:cNvPr id="41" name="Text 36"/>
          <p:cNvSpPr/>
          <p:nvPr/>
        </p:nvSpPr>
        <p:spPr>
          <a:xfrm>
            <a:off x="7781544" y="4663440"/>
            <a:ext cx="3502152" cy="960120"/>
          </a:xfrm>
          <a:prstGeom prst="rect">
            <a:avLst/>
          </a:prstGeom>
          <a:noFill/>
        </p:spPr>
        <p:txBody>
          <a:bodyPr wrap="square" lIns="0" tIns="0" rIns="0" bIns="0" rtlCol="0" anchor="ctr"/>
          <a:lstStyle/>
          <a:p>
            <a:pPr marL="0" indent="0" algn="ctr">
              <a:buNone/>
            </a:pPr>
            <a:r>
              <a:rPr lang="en-US" sz="1050" i="1" dirty="0">
                <a:solidFill>
                  <a:srgbClr val="7D5A5E"/>
                </a:solidFill>
                <a:latin typeface="Calibri" panose="020F0502020204030204" pitchFamily="34" charset="0"/>
                <a:ea typeface="Calibri" panose="020F0502020204030204" pitchFamily="34" charset="-122"/>
                <a:cs typeface="Calibri" panose="020F0502020204030204" pitchFamily="34" charset="-120"/>
              </a:rPr>
              <a:t>&lt;&lt; Jira Screenshot &gt;&gt;</a:t>
            </a:r>
            <a:endParaRPr lang="en-US" sz="1050" dirty="0"/>
          </a:p>
        </p:txBody>
      </p:sp>
      <p:pic>
        <p:nvPicPr>
          <p:cNvPr id="42" name="Picture 41"/>
          <p:cNvPicPr>
            <a:picLocks noChangeAspect="1"/>
          </p:cNvPicPr>
          <p:nvPr/>
        </p:nvPicPr>
        <p:blipFill>
          <a:blip r:embed="rId6"/>
          <a:stretch>
            <a:fillRect/>
          </a:stretch>
        </p:blipFill>
        <p:spPr>
          <a:xfrm>
            <a:off x="440690" y="4663440"/>
            <a:ext cx="3563620" cy="1782445"/>
          </a:xfrm>
          <a:prstGeom prst="rect">
            <a:avLst/>
          </a:prstGeom>
        </p:spPr>
      </p:pic>
      <p:pic>
        <p:nvPicPr>
          <p:cNvPr id="43" name="Picture 42"/>
          <p:cNvPicPr>
            <a:picLocks noChangeAspect="1"/>
          </p:cNvPicPr>
          <p:nvPr/>
        </p:nvPicPr>
        <p:blipFill>
          <a:blip r:embed="rId7"/>
          <a:stretch>
            <a:fillRect/>
          </a:stretch>
        </p:blipFill>
        <p:spPr>
          <a:xfrm>
            <a:off x="4161155" y="4639310"/>
            <a:ext cx="3482340" cy="2089150"/>
          </a:xfrm>
          <a:prstGeom prst="rect">
            <a:avLst/>
          </a:prstGeom>
        </p:spPr>
      </p:pic>
      <p:pic>
        <p:nvPicPr>
          <p:cNvPr id="44" name="Picture 43"/>
          <p:cNvPicPr>
            <a:picLocks noChangeAspect="1"/>
          </p:cNvPicPr>
          <p:nvPr/>
        </p:nvPicPr>
        <p:blipFill>
          <a:blip r:embed="rId8"/>
          <a:stretch>
            <a:fillRect/>
          </a:stretch>
        </p:blipFill>
        <p:spPr>
          <a:xfrm>
            <a:off x="7781925" y="4639310"/>
            <a:ext cx="3573145" cy="175323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3E7"/>
        </a:solidFill>
        <a:effectLst/>
      </p:bgPr>
    </p:bg>
    <p:spTree>
      <p:nvGrpSpPr>
        <p:cNvPr id="1" name=""/>
        <p:cNvGrpSpPr/>
        <p:nvPr/>
      </p:nvGrpSpPr>
      <p:grpSpPr>
        <a:xfrm>
          <a:off x="0" y="0"/>
          <a:ext cx="0" cy="0"/>
          <a:chOff x="0" y="0"/>
          <a:chExt cx="0" cy="0"/>
        </a:xfrm>
      </p:grpSpPr>
      <p:sp>
        <p:nvSpPr>
          <p:cNvPr id="2" name="Text 0"/>
          <p:cNvSpPr/>
          <p:nvPr/>
        </p:nvSpPr>
        <p:spPr>
          <a:xfrm>
            <a:off x="502920" y="384048"/>
            <a:ext cx="9601200" cy="274320"/>
          </a:xfrm>
          <a:prstGeom prst="rect">
            <a:avLst/>
          </a:prstGeom>
          <a:noFill/>
        </p:spPr>
        <p:txBody>
          <a:bodyPr wrap="square" lIns="0" tIns="0" rIns="0" bIns="0" rtlCol="0" anchor="ctr"/>
          <a:lstStyle/>
          <a:p>
            <a:pPr marL="0" indent="0">
              <a:buNone/>
            </a:pPr>
            <a:r>
              <a:rPr lang="en-US" sz="1200" b="1" kern="0" spc="200" dirty="0">
                <a:solidFill>
                  <a:srgbClr val="A13D4C"/>
                </a:solidFill>
                <a:latin typeface="Calibri" panose="020F0502020204030204" pitchFamily="34" charset="0"/>
                <a:ea typeface="Calibri" panose="020F0502020204030204" pitchFamily="34" charset="-122"/>
                <a:cs typeface="Calibri" panose="020F0502020204030204" pitchFamily="34" charset="-120"/>
              </a:rPr>
              <a:t>QUALITY ASSURANCE</a:t>
            </a:r>
            <a:endParaRPr lang="en-US" sz="1200" dirty="0"/>
          </a:p>
        </p:txBody>
      </p:sp>
      <p:sp>
        <p:nvSpPr>
          <p:cNvPr id="3" name="Text 1"/>
          <p:cNvSpPr/>
          <p:nvPr/>
        </p:nvSpPr>
        <p:spPr>
          <a:xfrm>
            <a:off x="502920" y="658368"/>
            <a:ext cx="10515600" cy="566928"/>
          </a:xfrm>
          <a:prstGeom prst="rect">
            <a:avLst/>
          </a:prstGeom>
          <a:noFill/>
        </p:spPr>
        <p:txBody>
          <a:bodyPr wrap="square" lIns="0" tIns="0" rIns="0" bIns="0" rtlCol="0" anchor="ctr"/>
          <a:lstStyle/>
          <a:p>
            <a:pPr marL="0" indent="0">
              <a:buNone/>
            </a:pPr>
            <a:r>
              <a:rPr lang="en-US" sz="2800" b="1" dirty="0">
                <a:solidFill>
                  <a:srgbClr val="6E1423"/>
                </a:solidFill>
                <a:latin typeface="Cambria" panose="02040503050406030204" pitchFamily="34" charset="0"/>
                <a:ea typeface="Cambria" panose="02040503050406030204" pitchFamily="34" charset="-122"/>
                <a:cs typeface="Cambria" panose="02040503050406030204" pitchFamily="34" charset="-120"/>
              </a:rPr>
              <a:t>Manual Validation</a:t>
            </a:r>
            <a:endParaRPr lang="en-US" sz="2800" dirty="0"/>
          </a:p>
        </p:txBody>
      </p:sp>
      <p:sp>
        <p:nvSpPr>
          <p:cNvPr id="4" name="Text 2"/>
          <p:cNvSpPr/>
          <p:nvPr/>
        </p:nvSpPr>
        <p:spPr>
          <a:xfrm>
            <a:off x="502920" y="6492240"/>
            <a:ext cx="4572000" cy="256032"/>
          </a:xfrm>
          <a:prstGeom prst="rect">
            <a:avLst/>
          </a:prstGeom>
          <a:noFill/>
        </p:spPr>
        <p:txBody>
          <a:bodyPr wrap="square" lIns="0" tIns="0" rIns="0" bIns="0" rtlCol="0" anchor="ctr"/>
          <a:lstStyle/>
          <a:p>
            <a:pPr marL="0" indent="0">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Ford Internship Experience</a:t>
            </a:r>
            <a:endParaRPr lang="en-US" sz="1000" dirty="0"/>
          </a:p>
        </p:txBody>
      </p:sp>
      <p:sp>
        <p:nvSpPr>
          <p:cNvPr id="5" name="Text 3"/>
          <p:cNvSpPr/>
          <p:nvPr/>
        </p:nvSpPr>
        <p:spPr>
          <a:xfrm>
            <a:off x="10725912" y="6492240"/>
            <a:ext cx="457200" cy="256032"/>
          </a:xfrm>
          <a:prstGeom prst="rect">
            <a:avLst/>
          </a:prstGeom>
          <a:noFill/>
        </p:spPr>
        <p:txBody>
          <a:bodyPr wrap="square" lIns="0" tIns="0" rIns="0" bIns="0" rtlCol="0" anchor="ctr"/>
          <a:lstStyle/>
          <a:p>
            <a:pPr marL="0" indent="0" algn="r">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14</a:t>
            </a:r>
            <a:endParaRPr lang="en-US" sz="1000" dirty="0"/>
          </a:p>
        </p:txBody>
      </p:sp>
      <p:sp>
        <p:nvSpPr>
          <p:cNvPr id="6" name="Text 4"/>
          <p:cNvSpPr/>
          <p:nvPr/>
        </p:nvSpPr>
        <p:spPr>
          <a:xfrm>
            <a:off x="502920" y="1298448"/>
            <a:ext cx="10789920" cy="502920"/>
          </a:xfrm>
          <a:prstGeom prst="rect">
            <a:avLst/>
          </a:prstGeom>
          <a:noFill/>
        </p:spPr>
        <p:txBody>
          <a:bodyPr wrap="square" lIns="0" tIns="0" rIns="0" bIns="0" rtlCol="0" anchor="t"/>
          <a:lstStyle/>
          <a:p>
            <a:pPr marL="0" indent="0">
              <a:lnSpc>
                <a:spcPct val="115000"/>
              </a:lnSpc>
              <a:buNone/>
            </a:pPr>
            <a:r>
              <a:rPr lang="en-US" sz="1250" dirty="0">
                <a:solidFill>
                  <a:srgbClr val="7D5A5E"/>
                </a:solidFill>
                <a:latin typeface="Calibri" panose="020F0502020204030204" pitchFamily="34" charset="0"/>
                <a:ea typeface="Calibri" panose="020F0502020204030204" pitchFamily="34" charset="-122"/>
                <a:cs typeface="Calibri" panose="020F0502020204030204" pitchFamily="34" charset="-120"/>
              </a:rPr>
              <a:t>Automation results were not taken at face value. Pricing output was manually validated across multiple regions before being treated as reliable for business use.</a:t>
            </a:r>
            <a:endParaRPr lang="en-US" sz="1250" dirty="0"/>
          </a:p>
        </p:txBody>
      </p:sp>
      <p:sp>
        <p:nvSpPr>
          <p:cNvPr id="7" name="Text 5"/>
          <p:cNvSpPr/>
          <p:nvPr/>
        </p:nvSpPr>
        <p:spPr>
          <a:xfrm>
            <a:off x="502920" y="1965960"/>
            <a:ext cx="4572000" cy="256032"/>
          </a:xfrm>
          <a:prstGeom prst="rect">
            <a:avLst/>
          </a:prstGeom>
          <a:noFill/>
        </p:spPr>
        <p:txBody>
          <a:bodyPr wrap="square" lIns="0" tIns="0" rIns="0" bIns="0" rtlCol="0" anchor="ctr"/>
          <a:lstStyle/>
          <a:p>
            <a:pPr marL="0" indent="0">
              <a:buNone/>
            </a:pPr>
            <a:r>
              <a:rPr lang="en-US" sz="1050" b="1" kern="0" spc="100" dirty="0">
                <a:solidFill>
                  <a:srgbClr val="A13D4C"/>
                </a:solidFill>
                <a:latin typeface="Calibri" panose="020F0502020204030204" pitchFamily="34" charset="0"/>
                <a:ea typeface="Calibri" panose="020F0502020204030204" pitchFamily="34" charset="-122"/>
                <a:cs typeface="Calibri" panose="020F0502020204030204" pitchFamily="34" charset="-120"/>
              </a:rPr>
              <a:t>REGIONS VALIDATED</a:t>
            </a:r>
            <a:endParaRPr lang="en-US" sz="1050" dirty="0"/>
          </a:p>
        </p:txBody>
      </p:sp>
      <p:sp>
        <p:nvSpPr>
          <p:cNvPr id="8" name="Shape 6"/>
          <p:cNvSpPr/>
          <p:nvPr/>
        </p:nvSpPr>
        <p:spPr>
          <a:xfrm>
            <a:off x="502920" y="2286000"/>
            <a:ext cx="2606040" cy="502920"/>
          </a:xfrm>
          <a:prstGeom prst="roundRect">
            <a:avLst>
              <a:gd name="adj" fmla="val 9091"/>
            </a:avLst>
          </a:prstGeom>
          <a:solidFill>
            <a:srgbClr val="F3E6E1"/>
          </a:solidFill>
        </p:spPr>
      </p:sp>
      <p:sp>
        <p:nvSpPr>
          <p:cNvPr id="9" name="Shape 7"/>
          <p:cNvSpPr/>
          <p:nvPr/>
        </p:nvSpPr>
        <p:spPr>
          <a:xfrm>
            <a:off x="640080" y="2382012"/>
            <a:ext cx="310896" cy="310896"/>
          </a:xfrm>
          <a:prstGeom prst="ellipse">
            <a:avLst/>
          </a:prstGeom>
          <a:solidFill>
            <a:srgbClr val="A13D4C"/>
          </a:solidFill>
        </p:spPr>
      </p:sp>
      <p:pic>
        <p:nvPicPr>
          <p:cNvPr id="10" name="Image 0" descr="/home/claude/work/icons/flag.png"/>
          <p:cNvPicPr>
            <a:picLocks noChangeAspect="1"/>
          </p:cNvPicPr>
          <p:nvPr/>
        </p:nvPicPr>
        <p:blipFill>
          <a:blip r:embed="rId3"/>
          <a:stretch>
            <a:fillRect/>
          </a:stretch>
        </p:blipFill>
        <p:spPr>
          <a:xfrm>
            <a:off x="686714" y="2428646"/>
            <a:ext cx="217627" cy="217627"/>
          </a:xfrm>
          <a:prstGeom prst="rect">
            <a:avLst/>
          </a:prstGeom>
        </p:spPr>
      </p:pic>
      <p:sp>
        <p:nvSpPr>
          <p:cNvPr id="11" name="Text 8"/>
          <p:cNvSpPr/>
          <p:nvPr/>
        </p:nvSpPr>
        <p:spPr>
          <a:xfrm>
            <a:off x="1060704" y="2286000"/>
            <a:ext cx="1929384" cy="502920"/>
          </a:xfrm>
          <a:prstGeom prst="rect">
            <a:avLst/>
          </a:prstGeom>
          <a:noFill/>
        </p:spPr>
        <p:txBody>
          <a:bodyPr wrap="square" lIns="0" tIns="0" rIns="0" bIns="0" rtlCol="0" anchor="ctr"/>
          <a:lstStyle/>
          <a:p>
            <a:pPr marL="0" indent="0">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United Kingdom</a:t>
            </a:r>
            <a:endParaRPr lang="en-US" sz="1050" dirty="0"/>
          </a:p>
        </p:txBody>
      </p:sp>
      <p:sp>
        <p:nvSpPr>
          <p:cNvPr id="12" name="Shape 9"/>
          <p:cNvSpPr/>
          <p:nvPr/>
        </p:nvSpPr>
        <p:spPr>
          <a:xfrm>
            <a:off x="3246120" y="2286000"/>
            <a:ext cx="2606040" cy="502920"/>
          </a:xfrm>
          <a:prstGeom prst="roundRect">
            <a:avLst>
              <a:gd name="adj" fmla="val 9091"/>
            </a:avLst>
          </a:prstGeom>
          <a:solidFill>
            <a:srgbClr val="F3E6E1"/>
          </a:solidFill>
        </p:spPr>
      </p:sp>
      <p:sp>
        <p:nvSpPr>
          <p:cNvPr id="13" name="Shape 10"/>
          <p:cNvSpPr/>
          <p:nvPr/>
        </p:nvSpPr>
        <p:spPr>
          <a:xfrm>
            <a:off x="3383280" y="2382012"/>
            <a:ext cx="310896" cy="310896"/>
          </a:xfrm>
          <a:prstGeom prst="ellipse">
            <a:avLst/>
          </a:prstGeom>
          <a:solidFill>
            <a:srgbClr val="A13D4C"/>
          </a:solidFill>
        </p:spPr>
      </p:sp>
      <p:pic>
        <p:nvPicPr>
          <p:cNvPr id="14" name="Image 1" descr="/home/claude/work/icons/flag.png"/>
          <p:cNvPicPr>
            <a:picLocks noChangeAspect="1"/>
          </p:cNvPicPr>
          <p:nvPr/>
        </p:nvPicPr>
        <p:blipFill>
          <a:blip r:embed="rId3"/>
          <a:stretch>
            <a:fillRect/>
          </a:stretch>
        </p:blipFill>
        <p:spPr>
          <a:xfrm>
            <a:off x="3429914" y="2428646"/>
            <a:ext cx="217627" cy="217627"/>
          </a:xfrm>
          <a:prstGeom prst="rect">
            <a:avLst/>
          </a:prstGeom>
        </p:spPr>
      </p:pic>
      <p:sp>
        <p:nvSpPr>
          <p:cNvPr id="15" name="Text 11"/>
          <p:cNvSpPr/>
          <p:nvPr/>
        </p:nvSpPr>
        <p:spPr>
          <a:xfrm>
            <a:off x="3803904" y="2286000"/>
            <a:ext cx="1929384" cy="502920"/>
          </a:xfrm>
          <a:prstGeom prst="rect">
            <a:avLst/>
          </a:prstGeom>
          <a:noFill/>
        </p:spPr>
        <p:txBody>
          <a:bodyPr wrap="square" lIns="0" tIns="0" rIns="0" bIns="0" rtlCol="0" anchor="ctr"/>
          <a:lstStyle/>
          <a:p>
            <a:pPr marL="0" indent="0">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Germany</a:t>
            </a:r>
            <a:endParaRPr lang="en-US" sz="1050" dirty="0"/>
          </a:p>
        </p:txBody>
      </p:sp>
      <p:sp>
        <p:nvSpPr>
          <p:cNvPr id="16" name="Shape 12"/>
          <p:cNvSpPr/>
          <p:nvPr/>
        </p:nvSpPr>
        <p:spPr>
          <a:xfrm>
            <a:off x="5989320" y="2286000"/>
            <a:ext cx="2606040" cy="502920"/>
          </a:xfrm>
          <a:prstGeom prst="roundRect">
            <a:avLst>
              <a:gd name="adj" fmla="val 9091"/>
            </a:avLst>
          </a:prstGeom>
          <a:solidFill>
            <a:srgbClr val="F3E6E1"/>
          </a:solidFill>
        </p:spPr>
      </p:sp>
      <p:sp>
        <p:nvSpPr>
          <p:cNvPr id="17" name="Shape 13"/>
          <p:cNvSpPr/>
          <p:nvPr/>
        </p:nvSpPr>
        <p:spPr>
          <a:xfrm>
            <a:off x="6126480" y="2382012"/>
            <a:ext cx="310896" cy="310896"/>
          </a:xfrm>
          <a:prstGeom prst="ellipse">
            <a:avLst/>
          </a:prstGeom>
          <a:solidFill>
            <a:srgbClr val="A13D4C"/>
          </a:solidFill>
        </p:spPr>
      </p:sp>
      <p:pic>
        <p:nvPicPr>
          <p:cNvPr id="18" name="Image 2" descr="/home/claude/work/icons/flag.png"/>
          <p:cNvPicPr>
            <a:picLocks noChangeAspect="1"/>
          </p:cNvPicPr>
          <p:nvPr/>
        </p:nvPicPr>
        <p:blipFill>
          <a:blip r:embed="rId3"/>
          <a:stretch>
            <a:fillRect/>
          </a:stretch>
        </p:blipFill>
        <p:spPr>
          <a:xfrm>
            <a:off x="6173114" y="2428646"/>
            <a:ext cx="217627" cy="217627"/>
          </a:xfrm>
          <a:prstGeom prst="rect">
            <a:avLst/>
          </a:prstGeom>
        </p:spPr>
      </p:pic>
      <p:sp>
        <p:nvSpPr>
          <p:cNvPr id="19" name="Text 14"/>
          <p:cNvSpPr/>
          <p:nvPr/>
        </p:nvSpPr>
        <p:spPr>
          <a:xfrm>
            <a:off x="6547104" y="2286000"/>
            <a:ext cx="1929384" cy="502920"/>
          </a:xfrm>
          <a:prstGeom prst="rect">
            <a:avLst/>
          </a:prstGeom>
          <a:noFill/>
        </p:spPr>
        <p:txBody>
          <a:bodyPr wrap="square" lIns="0" tIns="0" rIns="0" bIns="0" rtlCol="0" anchor="ctr"/>
          <a:lstStyle/>
          <a:p>
            <a:pPr marL="0" indent="0">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Spain</a:t>
            </a:r>
            <a:endParaRPr lang="en-US" sz="1050" dirty="0"/>
          </a:p>
        </p:txBody>
      </p:sp>
      <p:sp>
        <p:nvSpPr>
          <p:cNvPr id="20" name="Shape 15"/>
          <p:cNvSpPr/>
          <p:nvPr/>
        </p:nvSpPr>
        <p:spPr>
          <a:xfrm>
            <a:off x="8732520" y="2286000"/>
            <a:ext cx="2606040" cy="502920"/>
          </a:xfrm>
          <a:prstGeom prst="roundRect">
            <a:avLst>
              <a:gd name="adj" fmla="val 9091"/>
            </a:avLst>
          </a:prstGeom>
          <a:solidFill>
            <a:srgbClr val="F3E6E1"/>
          </a:solidFill>
        </p:spPr>
      </p:sp>
      <p:sp>
        <p:nvSpPr>
          <p:cNvPr id="21" name="Shape 16"/>
          <p:cNvSpPr/>
          <p:nvPr/>
        </p:nvSpPr>
        <p:spPr>
          <a:xfrm>
            <a:off x="8869680" y="2382012"/>
            <a:ext cx="310896" cy="310896"/>
          </a:xfrm>
          <a:prstGeom prst="ellipse">
            <a:avLst/>
          </a:prstGeom>
          <a:solidFill>
            <a:srgbClr val="A13D4C"/>
          </a:solidFill>
        </p:spPr>
      </p:sp>
      <p:pic>
        <p:nvPicPr>
          <p:cNvPr id="22" name="Image 3" descr="/home/claude/work/icons/flag.png"/>
          <p:cNvPicPr>
            <a:picLocks noChangeAspect="1"/>
          </p:cNvPicPr>
          <p:nvPr/>
        </p:nvPicPr>
        <p:blipFill>
          <a:blip r:embed="rId3"/>
          <a:stretch>
            <a:fillRect/>
          </a:stretch>
        </p:blipFill>
        <p:spPr>
          <a:xfrm>
            <a:off x="8916314" y="2428646"/>
            <a:ext cx="217627" cy="217627"/>
          </a:xfrm>
          <a:prstGeom prst="rect">
            <a:avLst/>
          </a:prstGeom>
        </p:spPr>
      </p:pic>
      <p:sp>
        <p:nvSpPr>
          <p:cNvPr id="23" name="Text 17"/>
          <p:cNvSpPr/>
          <p:nvPr/>
        </p:nvSpPr>
        <p:spPr>
          <a:xfrm>
            <a:off x="9290304" y="2286000"/>
            <a:ext cx="1929384" cy="502920"/>
          </a:xfrm>
          <a:prstGeom prst="rect">
            <a:avLst/>
          </a:prstGeom>
          <a:noFill/>
        </p:spPr>
        <p:txBody>
          <a:bodyPr wrap="square" lIns="0" tIns="0" rIns="0" bIns="0" rtlCol="0" anchor="ctr"/>
          <a:lstStyle/>
          <a:p>
            <a:pPr marL="0" indent="0">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France</a:t>
            </a:r>
            <a:endParaRPr lang="en-US" sz="1050" dirty="0"/>
          </a:p>
        </p:txBody>
      </p:sp>
      <p:sp>
        <p:nvSpPr>
          <p:cNvPr id="24" name="Text 18"/>
          <p:cNvSpPr/>
          <p:nvPr/>
        </p:nvSpPr>
        <p:spPr>
          <a:xfrm>
            <a:off x="502920" y="3154680"/>
            <a:ext cx="4572000" cy="256032"/>
          </a:xfrm>
          <a:prstGeom prst="rect">
            <a:avLst/>
          </a:prstGeom>
          <a:noFill/>
        </p:spPr>
        <p:txBody>
          <a:bodyPr wrap="square" lIns="0" tIns="0" rIns="0" bIns="0" rtlCol="0" anchor="ctr"/>
          <a:lstStyle/>
          <a:p>
            <a:pPr marL="0" indent="0">
              <a:buNone/>
            </a:pPr>
            <a:r>
              <a:rPr lang="en-US" sz="1050" b="1" kern="0" spc="100" dirty="0">
                <a:solidFill>
                  <a:srgbClr val="A13D4C"/>
                </a:solidFill>
                <a:latin typeface="Calibri" panose="020F0502020204030204" pitchFamily="34" charset="0"/>
                <a:ea typeface="Calibri" panose="020F0502020204030204" pitchFamily="34" charset="-122"/>
                <a:cs typeface="Calibri" panose="020F0502020204030204" pitchFamily="34" charset="-120"/>
              </a:rPr>
              <a:t>VALIDATION FLOW</a:t>
            </a:r>
            <a:endParaRPr lang="en-US" sz="1050" dirty="0"/>
          </a:p>
        </p:txBody>
      </p:sp>
      <p:sp>
        <p:nvSpPr>
          <p:cNvPr id="25" name="Shape 19"/>
          <p:cNvSpPr/>
          <p:nvPr/>
        </p:nvSpPr>
        <p:spPr>
          <a:xfrm>
            <a:off x="502920" y="3474720"/>
            <a:ext cx="2468880" cy="777240"/>
          </a:xfrm>
          <a:prstGeom prst="roundRect">
            <a:avLst>
              <a:gd name="adj" fmla="val 5882"/>
            </a:avLst>
          </a:prstGeom>
          <a:solidFill>
            <a:srgbClr val="F3E6E1"/>
          </a:solidFill>
          <a:ln w="12700">
            <a:solidFill>
              <a:srgbClr val="E3C9CC"/>
            </a:solidFill>
            <a:prstDash val="solid"/>
          </a:ln>
        </p:spPr>
      </p:sp>
      <p:sp>
        <p:nvSpPr>
          <p:cNvPr id="26" name="Text 20"/>
          <p:cNvSpPr/>
          <p:nvPr/>
        </p:nvSpPr>
        <p:spPr>
          <a:xfrm>
            <a:off x="502920" y="3474720"/>
            <a:ext cx="2468880" cy="777240"/>
          </a:xfrm>
          <a:prstGeom prst="rect">
            <a:avLst/>
          </a:prstGeom>
          <a:noFill/>
        </p:spPr>
        <p:txBody>
          <a:bodyPr wrap="square" lIns="25400" tIns="25400" rIns="25400" bIns="25400" rtlCol="0" anchor="ctr"/>
          <a:lstStyle/>
          <a:p>
            <a:pPr marL="0" indent="0" algn="ctr">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Cloud Storage</a:t>
            </a:r>
            <a:endParaRPr lang="en-US" sz="1050" dirty="0"/>
          </a:p>
          <a:p>
            <a:pPr marL="0" indent="0" algn="ctr">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Images</a:t>
            </a:r>
            <a:endParaRPr lang="en-US" sz="1050" dirty="0"/>
          </a:p>
        </p:txBody>
      </p:sp>
      <p:sp>
        <p:nvSpPr>
          <p:cNvPr id="27" name="Text 21"/>
          <p:cNvSpPr/>
          <p:nvPr/>
        </p:nvSpPr>
        <p:spPr>
          <a:xfrm>
            <a:off x="2971800" y="3474720"/>
            <a:ext cx="274320" cy="777240"/>
          </a:xfrm>
          <a:prstGeom prst="rect">
            <a:avLst/>
          </a:prstGeom>
          <a:noFill/>
        </p:spPr>
        <p:txBody>
          <a:bodyPr wrap="square" lIns="0" tIns="0" rIns="0" bIns="0" rtlCol="0" anchor="ctr"/>
          <a:lstStyle/>
          <a:p>
            <a:pPr marL="0" indent="0" algn="ctr">
              <a:buNone/>
            </a:pPr>
            <a:r>
              <a:rPr lang="en-US" sz="1500" b="1" dirty="0">
                <a:solidFill>
                  <a:srgbClr val="A13D4C"/>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28" name="Shape 22"/>
          <p:cNvSpPr/>
          <p:nvPr/>
        </p:nvSpPr>
        <p:spPr>
          <a:xfrm>
            <a:off x="3246120" y="3474720"/>
            <a:ext cx="2468880" cy="777240"/>
          </a:xfrm>
          <a:prstGeom prst="roundRect">
            <a:avLst>
              <a:gd name="adj" fmla="val 5882"/>
            </a:avLst>
          </a:prstGeom>
          <a:solidFill>
            <a:srgbClr val="F3E6E1"/>
          </a:solidFill>
          <a:ln w="12700">
            <a:solidFill>
              <a:srgbClr val="E3C9CC"/>
            </a:solidFill>
            <a:prstDash val="solid"/>
          </a:ln>
        </p:spPr>
      </p:sp>
      <p:sp>
        <p:nvSpPr>
          <p:cNvPr id="29" name="Text 23"/>
          <p:cNvSpPr/>
          <p:nvPr/>
        </p:nvSpPr>
        <p:spPr>
          <a:xfrm>
            <a:off x="3246120" y="3474720"/>
            <a:ext cx="2468880" cy="777240"/>
          </a:xfrm>
          <a:prstGeom prst="rect">
            <a:avLst/>
          </a:prstGeom>
          <a:noFill/>
        </p:spPr>
        <p:txBody>
          <a:bodyPr wrap="square" lIns="25400" tIns="25400" rIns="25400" bIns="25400" rtlCol="0" anchor="ctr"/>
          <a:lstStyle/>
          <a:p>
            <a:pPr marL="0" indent="0" algn="ctr">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Website</a:t>
            </a:r>
            <a:endParaRPr lang="en-US" sz="1050" dirty="0"/>
          </a:p>
          <a:p>
            <a:pPr marL="0" indent="0" algn="ctr">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Prices</a:t>
            </a:r>
            <a:endParaRPr lang="en-US" sz="1050" dirty="0"/>
          </a:p>
        </p:txBody>
      </p:sp>
      <p:sp>
        <p:nvSpPr>
          <p:cNvPr id="30" name="Text 24"/>
          <p:cNvSpPr/>
          <p:nvPr/>
        </p:nvSpPr>
        <p:spPr>
          <a:xfrm>
            <a:off x="5715000" y="3474720"/>
            <a:ext cx="274320" cy="777240"/>
          </a:xfrm>
          <a:prstGeom prst="rect">
            <a:avLst/>
          </a:prstGeom>
          <a:noFill/>
        </p:spPr>
        <p:txBody>
          <a:bodyPr wrap="square" lIns="0" tIns="0" rIns="0" bIns="0" rtlCol="0" anchor="ctr"/>
          <a:lstStyle/>
          <a:p>
            <a:pPr marL="0" indent="0" algn="ctr">
              <a:buNone/>
            </a:pPr>
            <a:r>
              <a:rPr lang="en-US" sz="1500" b="1" dirty="0">
                <a:solidFill>
                  <a:srgbClr val="A13D4C"/>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31" name="Shape 25"/>
          <p:cNvSpPr/>
          <p:nvPr/>
        </p:nvSpPr>
        <p:spPr>
          <a:xfrm>
            <a:off x="5989320" y="3474720"/>
            <a:ext cx="2468880" cy="777240"/>
          </a:xfrm>
          <a:prstGeom prst="roundRect">
            <a:avLst>
              <a:gd name="adj" fmla="val 5882"/>
            </a:avLst>
          </a:prstGeom>
          <a:solidFill>
            <a:srgbClr val="F3E6E1"/>
          </a:solidFill>
          <a:ln w="12700">
            <a:solidFill>
              <a:srgbClr val="E3C9CC"/>
            </a:solidFill>
            <a:prstDash val="solid"/>
          </a:ln>
        </p:spPr>
      </p:sp>
      <p:sp>
        <p:nvSpPr>
          <p:cNvPr id="32" name="Text 26"/>
          <p:cNvSpPr/>
          <p:nvPr/>
        </p:nvSpPr>
        <p:spPr>
          <a:xfrm>
            <a:off x="5989320" y="3474720"/>
            <a:ext cx="2468880" cy="777240"/>
          </a:xfrm>
          <a:prstGeom prst="rect">
            <a:avLst/>
          </a:prstGeom>
          <a:noFill/>
        </p:spPr>
        <p:txBody>
          <a:bodyPr wrap="square" lIns="25400" tIns="25400" rIns="25400" bIns="25400" rtlCol="0" anchor="ctr"/>
          <a:lstStyle/>
          <a:p>
            <a:pPr marL="0" indent="0" algn="ctr">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Part</a:t>
            </a:r>
            <a:endParaRPr lang="en-US" sz="1050" dirty="0"/>
          </a:p>
          <a:p>
            <a:pPr marL="0" indent="0" algn="ctr">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Pricing</a:t>
            </a:r>
            <a:endParaRPr lang="en-US" sz="1050" dirty="0"/>
          </a:p>
        </p:txBody>
      </p:sp>
      <p:sp>
        <p:nvSpPr>
          <p:cNvPr id="33" name="Text 27"/>
          <p:cNvSpPr/>
          <p:nvPr/>
        </p:nvSpPr>
        <p:spPr>
          <a:xfrm>
            <a:off x="8458200" y="3474720"/>
            <a:ext cx="274320" cy="777240"/>
          </a:xfrm>
          <a:prstGeom prst="rect">
            <a:avLst/>
          </a:prstGeom>
          <a:noFill/>
        </p:spPr>
        <p:txBody>
          <a:bodyPr wrap="square" lIns="0" tIns="0" rIns="0" bIns="0" rtlCol="0" anchor="ctr"/>
          <a:lstStyle/>
          <a:p>
            <a:pPr marL="0" indent="0" algn="ctr">
              <a:buNone/>
            </a:pPr>
            <a:r>
              <a:rPr lang="en-US" sz="1500" b="1" dirty="0">
                <a:solidFill>
                  <a:srgbClr val="A13D4C"/>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34" name="Shape 28"/>
          <p:cNvSpPr/>
          <p:nvPr/>
        </p:nvSpPr>
        <p:spPr>
          <a:xfrm>
            <a:off x="8732520" y="3474720"/>
            <a:ext cx="2468880" cy="777240"/>
          </a:xfrm>
          <a:prstGeom prst="roundRect">
            <a:avLst>
              <a:gd name="adj" fmla="val 5882"/>
            </a:avLst>
          </a:prstGeom>
          <a:solidFill>
            <a:srgbClr val="F3E6E1"/>
          </a:solidFill>
          <a:ln w="12700">
            <a:solidFill>
              <a:srgbClr val="E3C9CC"/>
            </a:solidFill>
            <a:prstDash val="solid"/>
          </a:ln>
        </p:spPr>
      </p:sp>
      <p:sp>
        <p:nvSpPr>
          <p:cNvPr id="35" name="Text 29"/>
          <p:cNvSpPr/>
          <p:nvPr/>
        </p:nvSpPr>
        <p:spPr>
          <a:xfrm>
            <a:off x="8732520" y="3474720"/>
            <a:ext cx="2468880" cy="777240"/>
          </a:xfrm>
          <a:prstGeom prst="rect">
            <a:avLst/>
          </a:prstGeom>
          <a:noFill/>
        </p:spPr>
        <p:txBody>
          <a:bodyPr wrap="square" lIns="25400" tIns="25400" rIns="25400" bIns="25400" rtlCol="0" anchor="ctr"/>
          <a:lstStyle/>
          <a:p>
            <a:pPr marL="0" indent="0" algn="ctr">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Validation</a:t>
            </a:r>
            <a:endParaRPr lang="en-US" sz="1050" dirty="0"/>
          </a:p>
        </p:txBody>
      </p:sp>
      <p:sp>
        <p:nvSpPr>
          <p:cNvPr id="36" name="Text 30"/>
          <p:cNvSpPr/>
          <p:nvPr/>
        </p:nvSpPr>
        <p:spPr>
          <a:xfrm>
            <a:off x="411480" y="5080635"/>
            <a:ext cx="10789920" cy="1253490"/>
          </a:xfrm>
          <a:prstGeom prst="rect">
            <a:avLst/>
          </a:prstGeom>
          <a:noFill/>
        </p:spPr>
        <p:txBody>
          <a:bodyPr wrap="square" lIns="0" tIns="0" rIns="0" bIns="0" rtlCol="0" anchor="t"/>
          <a:lstStyle/>
          <a:p>
            <a:pPr marL="0" indent="0">
              <a:lnSpc>
                <a:spcPct val="115000"/>
              </a:lnSpc>
              <a:buNone/>
            </a:pPr>
            <a:r>
              <a:rPr lang="en-US" sz="1600" dirty="0">
                <a:solidFill>
                  <a:srgbClr val="7D5A5E"/>
                </a:solidFill>
                <a:latin typeface="Calibri" panose="020F0502020204030204" pitchFamily="34" charset="0"/>
                <a:ea typeface="Calibri" panose="020F0502020204030204" pitchFamily="34" charset="-122"/>
                <a:cs typeface="Calibri" panose="020F0502020204030204" pitchFamily="34" charset="-120"/>
              </a:rPr>
              <a:t>Manual validation matters because automated output can look complete while still being wrong — a bad selector, a stale page, or a currency mismatch can silently produce believable but incorrect prices. Checking output against the live site and source images is what makes the data trustworthy.</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3E7"/>
        </a:solidFill>
        <a:effectLst/>
      </p:bgPr>
    </p:bg>
    <p:spTree>
      <p:nvGrpSpPr>
        <p:cNvPr id="1" name=""/>
        <p:cNvGrpSpPr/>
        <p:nvPr/>
      </p:nvGrpSpPr>
      <p:grpSpPr>
        <a:xfrm>
          <a:off x="0" y="0"/>
          <a:ext cx="0" cy="0"/>
          <a:chOff x="0" y="0"/>
          <a:chExt cx="0" cy="0"/>
        </a:xfrm>
      </p:grpSpPr>
      <p:sp>
        <p:nvSpPr>
          <p:cNvPr id="2" name="Text 0"/>
          <p:cNvSpPr/>
          <p:nvPr/>
        </p:nvSpPr>
        <p:spPr>
          <a:xfrm>
            <a:off x="502920" y="384048"/>
            <a:ext cx="9601200" cy="274320"/>
          </a:xfrm>
          <a:prstGeom prst="rect">
            <a:avLst/>
          </a:prstGeom>
          <a:noFill/>
        </p:spPr>
        <p:txBody>
          <a:bodyPr wrap="square" lIns="0" tIns="0" rIns="0" bIns="0" rtlCol="0" anchor="ctr"/>
          <a:lstStyle/>
          <a:p>
            <a:pPr marL="0" indent="0">
              <a:buNone/>
            </a:pPr>
            <a:r>
              <a:rPr lang="en-US" sz="1200" b="1" kern="0" spc="200" dirty="0">
                <a:solidFill>
                  <a:srgbClr val="A13D4C"/>
                </a:solidFill>
                <a:latin typeface="Calibri" panose="020F0502020204030204" pitchFamily="34" charset="0"/>
                <a:ea typeface="Calibri" panose="020F0502020204030204" pitchFamily="34" charset="-122"/>
                <a:cs typeface="Calibri" panose="020F0502020204030204" pitchFamily="34" charset="-120"/>
              </a:rPr>
              <a:t>GROWTH</a:t>
            </a:r>
            <a:endParaRPr lang="en-US" sz="1200" dirty="0"/>
          </a:p>
        </p:txBody>
      </p:sp>
      <p:sp>
        <p:nvSpPr>
          <p:cNvPr id="3" name="Text 1"/>
          <p:cNvSpPr/>
          <p:nvPr/>
        </p:nvSpPr>
        <p:spPr>
          <a:xfrm>
            <a:off x="502920" y="658368"/>
            <a:ext cx="10515600" cy="566928"/>
          </a:xfrm>
          <a:prstGeom prst="rect">
            <a:avLst/>
          </a:prstGeom>
          <a:noFill/>
        </p:spPr>
        <p:txBody>
          <a:bodyPr wrap="square" lIns="0" tIns="0" rIns="0" bIns="0" rtlCol="0" anchor="ctr"/>
          <a:lstStyle/>
          <a:p>
            <a:pPr marL="0" indent="0">
              <a:buNone/>
            </a:pPr>
            <a:r>
              <a:rPr lang="en-US" sz="2800" b="1" dirty="0">
                <a:solidFill>
                  <a:srgbClr val="6E1423"/>
                </a:solidFill>
                <a:latin typeface="Cambria" panose="02040503050406030204" pitchFamily="34" charset="0"/>
                <a:ea typeface="Cambria" panose="02040503050406030204" pitchFamily="34" charset="-122"/>
                <a:cs typeface="Cambria" panose="02040503050406030204" pitchFamily="34" charset="-120"/>
              </a:rPr>
              <a:t>Skills &amp; Reflection</a:t>
            </a:r>
            <a:endParaRPr lang="en-US" sz="2800" dirty="0"/>
          </a:p>
        </p:txBody>
      </p:sp>
      <p:sp>
        <p:nvSpPr>
          <p:cNvPr id="4" name="Text 2"/>
          <p:cNvSpPr/>
          <p:nvPr/>
        </p:nvSpPr>
        <p:spPr>
          <a:xfrm>
            <a:off x="502920" y="6492240"/>
            <a:ext cx="4572000" cy="256032"/>
          </a:xfrm>
          <a:prstGeom prst="rect">
            <a:avLst/>
          </a:prstGeom>
          <a:noFill/>
        </p:spPr>
        <p:txBody>
          <a:bodyPr wrap="square" lIns="0" tIns="0" rIns="0" bIns="0" rtlCol="0" anchor="ctr"/>
          <a:lstStyle/>
          <a:p>
            <a:pPr marL="0" indent="0">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Ford Internship Experience</a:t>
            </a:r>
            <a:endParaRPr lang="en-US" sz="1000" dirty="0"/>
          </a:p>
        </p:txBody>
      </p:sp>
      <p:sp>
        <p:nvSpPr>
          <p:cNvPr id="5" name="Text 3"/>
          <p:cNvSpPr/>
          <p:nvPr/>
        </p:nvSpPr>
        <p:spPr>
          <a:xfrm>
            <a:off x="10725912" y="6492240"/>
            <a:ext cx="457200" cy="256032"/>
          </a:xfrm>
          <a:prstGeom prst="rect">
            <a:avLst/>
          </a:prstGeom>
          <a:noFill/>
        </p:spPr>
        <p:txBody>
          <a:bodyPr wrap="square" lIns="0" tIns="0" rIns="0" bIns="0" rtlCol="0" anchor="ctr"/>
          <a:lstStyle/>
          <a:p>
            <a:pPr marL="0" indent="0" algn="r">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15</a:t>
            </a:r>
            <a:endParaRPr lang="en-US" sz="1000" dirty="0"/>
          </a:p>
        </p:txBody>
      </p:sp>
      <p:sp>
        <p:nvSpPr>
          <p:cNvPr id="6" name="Text 4"/>
          <p:cNvSpPr/>
          <p:nvPr/>
        </p:nvSpPr>
        <p:spPr>
          <a:xfrm>
            <a:off x="502920" y="1417320"/>
            <a:ext cx="5349240" cy="256032"/>
          </a:xfrm>
          <a:prstGeom prst="rect">
            <a:avLst/>
          </a:prstGeom>
          <a:noFill/>
        </p:spPr>
        <p:txBody>
          <a:bodyPr wrap="square" lIns="0" tIns="0" rIns="0" bIns="0" rtlCol="0" anchor="ctr"/>
          <a:lstStyle/>
          <a:p>
            <a:pPr marL="0" indent="0">
              <a:buNone/>
            </a:pPr>
            <a:r>
              <a:rPr lang="en-US" sz="1050" b="1" kern="0" spc="100" dirty="0">
                <a:solidFill>
                  <a:srgbClr val="A13D4C"/>
                </a:solidFill>
                <a:latin typeface="Calibri" panose="020F0502020204030204" pitchFamily="34" charset="0"/>
                <a:ea typeface="Calibri" panose="020F0502020204030204" pitchFamily="34" charset="-122"/>
                <a:cs typeface="Calibri" panose="020F0502020204030204" pitchFamily="34" charset="-120"/>
              </a:rPr>
              <a:t>TECHNICAL SKILLS</a:t>
            </a:r>
            <a:endParaRPr lang="en-US" sz="1050" dirty="0"/>
          </a:p>
        </p:txBody>
      </p:sp>
      <p:sp>
        <p:nvSpPr>
          <p:cNvPr id="7" name="Shape 5"/>
          <p:cNvSpPr/>
          <p:nvPr/>
        </p:nvSpPr>
        <p:spPr>
          <a:xfrm>
            <a:off x="502920" y="1737360"/>
            <a:ext cx="1691640" cy="402336"/>
          </a:xfrm>
          <a:prstGeom prst="roundRect">
            <a:avLst>
              <a:gd name="adj" fmla="val 18182"/>
            </a:avLst>
          </a:prstGeom>
          <a:solidFill>
            <a:srgbClr val="FFFFFF"/>
          </a:solidFill>
          <a:ln w="12700">
            <a:solidFill>
              <a:srgbClr val="E3C9CC"/>
            </a:solidFill>
            <a:prstDash val="solid"/>
          </a:ln>
        </p:spPr>
      </p:sp>
      <p:sp>
        <p:nvSpPr>
          <p:cNvPr id="8" name="Text 6"/>
          <p:cNvSpPr/>
          <p:nvPr/>
        </p:nvSpPr>
        <p:spPr>
          <a:xfrm>
            <a:off x="502920" y="1737360"/>
            <a:ext cx="1691640" cy="402336"/>
          </a:xfrm>
          <a:prstGeom prst="rect">
            <a:avLst/>
          </a:prstGeom>
          <a:noFill/>
        </p:spPr>
        <p:txBody>
          <a:bodyPr wrap="square" lIns="0" tIns="0" rIns="0" bIns="0" rtlCol="0" anchor="ctr"/>
          <a:lstStyle/>
          <a:p>
            <a:pPr marL="0" indent="0" algn="ctr">
              <a:buNone/>
            </a:pPr>
            <a:r>
              <a:rPr lang="en-US" sz="1000" dirty="0">
                <a:solidFill>
                  <a:srgbClr val="6E1423"/>
                </a:solidFill>
                <a:latin typeface="Calibri" panose="020F0502020204030204" pitchFamily="34" charset="0"/>
                <a:ea typeface="Calibri" panose="020F0502020204030204" pitchFamily="34" charset="-122"/>
                <a:cs typeface="Calibri" panose="020F0502020204030204" pitchFamily="34" charset="-120"/>
              </a:rPr>
              <a:t>Python</a:t>
            </a:r>
            <a:endParaRPr lang="en-US" sz="1000" dirty="0"/>
          </a:p>
        </p:txBody>
      </p:sp>
      <p:sp>
        <p:nvSpPr>
          <p:cNvPr id="9" name="Shape 7"/>
          <p:cNvSpPr/>
          <p:nvPr/>
        </p:nvSpPr>
        <p:spPr>
          <a:xfrm>
            <a:off x="2313432" y="1737360"/>
            <a:ext cx="1691640" cy="402336"/>
          </a:xfrm>
          <a:prstGeom prst="roundRect">
            <a:avLst>
              <a:gd name="adj" fmla="val 18182"/>
            </a:avLst>
          </a:prstGeom>
          <a:solidFill>
            <a:srgbClr val="FFFFFF"/>
          </a:solidFill>
          <a:ln w="12700">
            <a:solidFill>
              <a:srgbClr val="E3C9CC"/>
            </a:solidFill>
            <a:prstDash val="solid"/>
          </a:ln>
        </p:spPr>
      </p:sp>
      <p:sp>
        <p:nvSpPr>
          <p:cNvPr id="10" name="Text 8"/>
          <p:cNvSpPr/>
          <p:nvPr/>
        </p:nvSpPr>
        <p:spPr>
          <a:xfrm>
            <a:off x="2313432" y="1737360"/>
            <a:ext cx="1691640" cy="402336"/>
          </a:xfrm>
          <a:prstGeom prst="rect">
            <a:avLst/>
          </a:prstGeom>
          <a:noFill/>
        </p:spPr>
        <p:txBody>
          <a:bodyPr wrap="square" lIns="0" tIns="0" rIns="0" bIns="0" rtlCol="0" anchor="ctr"/>
          <a:lstStyle/>
          <a:p>
            <a:pPr marL="0" indent="0" algn="ctr">
              <a:buNone/>
            </a:pPr>
            <a:r>
              <a:rPr lang="en-US" sz="1000" dirty="0">
                <a:solidFill>
                  <a:srgbClr val="6E1423"/>
                </a:solidFill>
                <a:latin typeface="Calibri" panose="020F0502020204030204" pitchFamily="34" charset="0"/>
                <a:ea typeface="Calibri" panose="020F0502020204030204" pitchFamily="34" charset="-122"/>
                <a:cs typeface="Calibri" panose="020F0502020204030204" pitchFamily="34" charset="-120"/>
              </a:rPr>
              <a:t>Automation</a:t>
            </a:r>
            <a:endParaRPr lang="en-US" sz="1000" dirty="0"/>
          </a:p>
        </p:txBody>
      </p:sp>
      <p:sp>
        <p:nvSpPr>
          <p:cNvPr id="11" name="Shape 9"/>
          <p:cNvSpPr/>
          <p:nvPr/>
        </p:nvSpPr>
        <p:spPr>
          <a:xfrm>
            <a:off x="4123944" y="1737360"/>
            <a:ext cx="1691640" cy="402336"/>
          </a:xfrm>
          <a:prstGeom prst="roundRect">
            <a:avLst>
              <a:gd name="adj" fmla="val 18182"/>
            </a:avLst>
          </a:prstGeom>
          <a:solidFill>
            <a:srgbClr val="FFFFFF"/>
          </a:solidFill>
          <a:ln w="12700">
            <a:solidFill>
              <a:srgbClr val="E3C9CC"/>
            </a:solidFill>
            <a:prstDash val="solid"/>
          </a:ln>
        </p:spPr>
      </p:sp>
      <p:sp>
        <p:nvSpPr>
          <p:cNvPr id="12" name="Text 10"/>
          <p:cNvSpPr/>
          <p:nvPr/>
        </p:nvSpPr>
        <p:spPr>
          <a:xfrm>
            <a:off x="4123944" y="1737360"/>
            <a:ext cx="1691640" cy="402336"/>
          </a:xfrm>
          <a:prstGeom prst="rect">
            <a:avLst/>
          </a:prstGeom>
          <a:noFill/>
        </p:spPr>
        <p:txBody>
          <a:bodyPr wrap="square" lIns="0" tIns="0" rIns="0" bIns="0" rtlCol="0" anchor="ctr"/>
          <a:lstStyle/>
          <a:p>
            <a:pPr marL="0" indent="0" algn="ctr">
              <a:buNone/>
            </a:pPr>
            <a:r>
              <a:rPr lang="en-US" sz="1000" dirty="0">
                <a:solidFill>
                  <a:srgbClr val="6E1423"/>
                </a:solidFill>
                <a:latin typeface="Calibri" panose="020F0502020204030204" pitchFamily="34" charset="0"/>
                <a:ea typeface="Calibri" panose="020F0502020204030204" pitchFamily="34" charset="-122"/>
                <a:cs typeface="Calibri" panose="020F0502020204030204" pitchFamily="34" charset="-120"/>
              </a:rPr>
              <a:t>Web Scraping</a:t>
            </a:r>
            <a:endParaRPr lang="en-US" sz="1000" dirty="0"/>
          </a:p>
        </p:txBody>
      </p:sp>
      <p:sp>
        <p:nvSpPr>
          <p:cNvPr id="13" name="Shape 11"/>
          <p:cNvSpPr/>
          <p:nvPr/>
        </p:nvSpPr>
        <p:spPr>
          <a:xfrm>
            <a:off x="502920" y="2212848"/>
            <a:ext cx="1691640" cy="402336"/>
          </a:xfrm>
          <a:prstGeom prst="roundRect">
            <a:avLst>
              <a:gd name="adj" fmla="val 18182"/>
            </a:avLst>
          </a:prstGeom>
          <a:solidFill>
            <a:srgbClr val="FFFFFF"/>
          </a:solidFill>
          <a:ln w="12700">
            <a:solidFill>
              <a:srgbClr val="E3C9CC"/>
            </a:solidFill>
            <a:prstDash val="solid"/>
          </a:ln>
        </p:spPr>
      </p:sp>
      <p:sp>
        <p:nvSpPr>
          <p:cNvPr id="14" name="Text 12"/>
          <p:cNvSpPr/>
          <p:nvPr/>
        </p:nvSpPr>
        <p:spPr>
          <a:xfrm>
            <a:off x="502920" y="2212848"/>
            <a:ext cx="1691640" cy="402336"/>
          </a:xfrm>
          <a:prstGeom prst="rect">
            <a:avLst/>
          </a:prstGeom>
          <a:noFill/>
        </p:spPr>
        <p:txBody>
          <a:bodyPr wrap="square" lIns="0" tIns="0" rIns="0" bIns="0" rtlCol="0" anchor="ctr"/>
          <a:lstStyle/>
          <a:p>
            <a:pPr marL="0" indent="0" algn="ctr">
              <a:buNone/>
            </a:pPr>
            <a:r>
              <a:rPr lang="en-US" sz="1000" dirty="0">
                <a:solidFill>
                  <a:srgbClr val="6E1423"/>
                </a:solidFill>
                <a:latin typeface="Calibri" panose="020F0502020204030204" pitchFamily="34" charset="0"/>
                <a:ea typeface="Calibri" panose="020F0502020204030204" pitchFamily="34" charset="-122"/>
                <a:cs typeface="Calibri" panose="020F0502020204030204" pitchFamily="34" charset="-120"/>
              </a:rPr>
              <a:t>BigQuery</a:t>
            </a:r>
            <a:endParaRPr lang="en-US" sz="1000" dirty="0"/>
          </a:p>
        </p:txBody>
      </p:sp>
      <p:sp>
        <p:nvSpPr>
          <p:cNvPr id="15" name="Shape 13"/>
          <p:cNvSpPr/>
          <p:nvPr/>
        </p:nvSpPr>
        <p:spPr>
          <a:xfrm>
            <a:off x="2313432" y="2212848"/>
            <a:ext cx="1691640" cy="402336"/>
          </a:xfrm>
          <a:prstGeom prst="roundRect">
            <a:avLst>
              <a:gd name="adj" fmla="val 18182"/>
            </a:avLst>
          </a:prstGeom>
          <a:solidFill>
            <a:srgbClr val="FFFFFF"/>
          </a:solidFill>
          <a:ln w="12700">
            <a:solidFill>
              <a:srgbClr val="E3C9CC"/>
            </a:solidFill>
            <a:prstDash val="solid"/>
          </a:ln>
        </p:spPr>
      </p:sp>
      <p:sp>
        <p:nvSpPr>
          <p:cNvPr id="16" name="Text 14"/>
          <p:cNvSpPr/>
          <p:nvPr/>
        </p:nvSpPr>
        <p:spPr>
          <a:xfrm>
            <a:off x="2313432" y="2212848"/>
            <a:ext cx="1691640" cy="402336"/>
          </a:xfrm>
          <a:prstGeom prst="rect">
            <a:avLst/>
          </a:prstGeom>
          <a:noFill/>
        </p:spPr>
        <p:txBody>
          <a:bodyPr wrap="square" lIns="0" tIns="0" rIns="0" bIns="0" rtlCol="0" anchor="ctr"/>
          <a:lstStyle/>
          <a:p>
            <a:pPr marL="0" indent="0" algn="ctr">
              <a:buNone/>
            </a:pPr>
            <a:r>
              <a:rPr lang="en-US" sz="1000" dirty="0">
                <a:solidFill>
                  <a:srgbClr val="6E1423"/>
                </a:solidFill>
                <a:latin typeface="Calibri" panose="020F0502020204030204" pitchFamily="34" charset="0"/>
                <a:ea typeface="Calibri" panose="020F0502020204030204" pitchFamily="34" charset="-122"/>
                <a:cs typeface="Calibri" panose="020F0502020204030204" pitchFamily="34" charset="-120"/>
              </a:rPr>
              <a:t>Cloud Storage</a:t>
            </a:r>
            <a:endParaRPr lang="en-US" sz="1000" dirty="0"/>
          </a:p>
        </p:txBody>
      </p:sp>
      <p:sp>
        <p:nvSpPr>
          <p:cNvPr id="17" name="Shape 15"/>
          <p:cNvSpPr/>
          <p:nvPr/>
        </p:nvSpPr>
        <p:spPr>
          <a:xfrm>
            <a:off x="4123944" y="2212848"/>
            <a:ext cx="1691640" cy="402336"/>
          </a:xfrm>
          <a:prstGeom prst="roundRect">
            <a:avLst>
              <a:gd name="adj" fmla="val 18182"/>
            </a:avLst>
          </a:prstGeom>
          <a:solidFill>
            <a:srgbClr val="FFFFFF"/>
          </a:solidFill>
          <a:ln w="12700">
            <a:solidFill>
              <a:srgbClr val="E3C9CC"/>
            </a:solidFill>
            <a:prstDash val="solid"/>
          </a:ln>
        </p:spPr>
      </p:sp>
      <p:sp>
        <p:nvSpPr>
          <p:cNvPr id="18" name="Text 16"/>
          <p:cNvSpPr/>
          <p:nvPr/>
        </p:nvSpPr>
        <p:spPr>
          <a:xfrm>
            <a:off x="4123944" y="2212848"/>
            <a:ext cx="1691640" cy="402336"/>
          </a:xfrm>
          <a:prstGeom prst="rect">
            <a:avLst/>
          </a:prstGeom>
          <a:noFill/>
        </p:spPr>
        <p:txBody>
          <a:bodyPr wrap="square" lIns="0" tIns="0" rIns="0" bIns="0" rtlCol="0" anchor="ctr"/>
          <a:lstStyle/>
          <a:p>
            <a:pPr marL="0" indent="0" algn="ctr">
              <a:buNone/>
            </a:pPr>
            <a:r>
              <a:rPr lang="en-US" sz="1000" dirty="0">
                <a:solidFill>
                  <a:srgbClr val="6E1423"/>
                </a:solidFill>
                <a:latin typeface="Calibri" panose="020F0502020204030204" pitchFamily="34" charset="0"/>
                <a:ea typeface="Calibri" panose="020F0502020204030204" pitchFamily="34" charset="-122"/>
                <a:cs typeface="Calibri" panose="020F0502020204030204" pitchFamily="34" charset="-120"/>
              </a:rPr>
              <a:t>Terraform</a:t>
            </a:r>
            <a:endParaRPr lang="en-US" sz="1000" dirty="0"/>
          </a:p>
        </p:txBody>
      </p:sp>
      <p:sp>
        <p:nvSpPr>
          <p:cNvPr id="19" name="Shape 17"/>
          <p:cNvSpPr/>
          <p:nvPr/>
        </p:nvSpPr>
        <p:spPr>
          <a:xfrm>
            <a:off x="502920" y="2688336"/>
            <a:ext cx="1691640" cy="402336"/>
          </a:xfrm>
          <a:prstGeom prst="roundRect">
            <a:avLst>
              <a:gd name="adj" fmla="val 18182"/>
            </a:avLst>
          </a:prstGeom>
          <a:solidFill>
            <a:srgbClr val="FFFFFF"/>
          </a:solidFill>
          <a:ln w="12700">
            <a:solidFill>
              <a:srgbClr val="E3C9CC"/>
            </a:solidFill>
            <a:prstDash val="solid"/>
          </a:ln>
        </p:spPr>
      </p:sp>
      <p:sp>
        <p:nvSpPr>
          <p:cNvPr id="20" name="Text 18"/>
          <p:cNvSpPr/>
          <p:nvPr/>
        </p:nvSpPr>
        <p:spPr>
          <a:xfrm>
            <a:off x="502920" y="2688336"/>
            <a:ext cx="1691640" cy="402336"/>
          </a:xfrm>
          <a:prstGeom prst="rect">
            <a:avLst/>
          </a:prstGeom>
          <a:noFill/>
        </p:spPr>
        <p:txBody>
          <a:bodyPr wrap="square" lIns="0" tIns="0" rIns="0" bIns="0" rtlCol="0" anchor="ctr"/>
          <a:lstStyle/>
          <a:p>
            <a:pPr marL="0" indent="0" algn="ctr">
              <a:buNone/>
            </a:pPr>
            <a:r>
              <a:rPr lang="en-US" sz="1000" dirty="0">
                <a:solidFill>
                  <a:srgbClr val="6E1423"/>
                </a:solidFill>
                <a:latin typeface="Calibri" panose="020F0502020204030204" pitchFamily="34" charset="0"/>
                <a:ea typeface="Calibri" panose="020F0502020204030204" pitchFamily="34" charset="-122"/>
                <a:cs typeface="Calibri" panose="020F0502020204030204" pitchFamily="34" charset="-120"/>
              </a:rPr>
              <a:t>Airflow</a:t>
            </a:r>
            <a:endParaRPr lang="en-US" sz="1000" dirty="0"/>
          </a:p>
        </p:txBody>
      </p:sp>
      <p:sp>
        <p:nvSpPr>
          <p:cNvPr id="21" name="Shape 19"/>
          <p:cNvSpPr/>
          <p:nvPr/>
        </p:nvSpPr>
        <p:spPr>
          <a:xfrm>
            <a:off x="2313432" y="2688336"/>
            <a:ext cx="1691640" cy="402336"/>
          </a:xfrm>
          <a:prstGeom prst="roundRect">
            <a:avLst>
              <a:gd name="adj" fmla="val 18182"/>
            </a:avLst>
          </a:prstGeom>
          <a:solidFill>
            <a:srgbClr val="FFFFFF"/>
          </a:solidFill>
          <a:ln w="12700">
            <a:solidFill>
              <a:srgbClr val="E3C9CC"/>
            </a:solidFill>
            <a:prstDash val="solid"/>
          </a:ln>
        </p:spPr>
      </p:sp>
      <p:sp>
        <p:nvSpPr>
          <p:cNvPr id="22" name="Text 20"/>
          <p:cNvSpPr/>
          <p:nvPr/>
        </p:nvSpPr>
        <p:spPr>
          <a:xfrm>
            <a:off x="2313432" y="2688336"/>
            <a:ext cx="1691640" cy="402336"/>
          </a:xfrm>
          <a:prstGeom prst="rect">
            <a:avLst/>
          </a:prstGeom>
          <a:noFill/>
        </p:spPr>
        <p:txBody>
          <a:bodyPr wrap="square" lIns="0" tIns="0" rIns="0" bIns="0" rtlCol="0" anchor="ctr"/>
          <a:lstStyle/>
          <a:p>
            <a:pPr marL="0" indent="0" algn="ctr">
              <a:buNone/>
            </a:pPr>
            <a:r>
              <a:rPr lang="en-US" sz="1000" dirty="0">
                <a:solidFill>
                  <a:srgbClr val="6E1423"/>
                </a:solidFill>
                <a:latin typeface="Calibri" panose="020F0502020204030204" pitchFamily="34" charset="0"/>
                <a:ea typeface="Calibri" panose="020F0502020204030204" pitchFamily="34" charset="-122"/>
                <a:cs typeface="Calibri" panose="020F0502020204030204" pitchFamily="34" charset="-120"/>
              </a:rPr>
              <a:t>CI/CD</a:t>
            </a:r>
            <a:endParaRPr lang="en-US" sz="1000" dirty="0"/>
          </a:p>
        </p:txBody>
      </p:sp>
      <p:sp>
        <p:nvSpPr>
          <p:cNvPr id="23" name="Shape 21"/>
          <p:cNvSpPr/>
          <p:nvPr/>
        </p:nvSpPr>
        <p:spPr>
          <a:xfrm>
            <a:off x="4123944" y="2688336"/>
            <a:ext cx="1691640" cy="402336"/>
          </a:xfrm>
          <a:prstGeom prst="roundRect">
            <a:avLst>
              <a:gd name="adj" fmla="val 18182"/>
            </a:avLst>
          </a:prstGeom>
          <a:solidFill>
            <a:srgbClr val="FFFFFF"/>
          </a:solidFill>
          <a:ln w="12700">
            <a:solidFill>
              <a:srgbClr val="E3C9CC"/>
            </a:solidFill>
            <a:prstDash val="solid"/>
          </a:ln>
        </p:spPr>
      </p:sp>
      <p:sp>
        <p:nvSpPr>
          <p:cNvPr id="24" name="Text 22"/>
          <p:cNvSpPr/>
          <p:nvPr/>
        </p:nvSpPr>
        <p:spPr>
          <a:xfrm>
            <a:off x="4123944" y="2688336"/>
            <a:ext cx="1691640" cy="402336"/>
          </a:xfrm>
          <a:prstGeom prst="rect">
            <a:avLst/>
          </a:prstGeom>
          <a:noFill/>
        </p:spPr>
        <p:txBody>
          <a:bodyPr wrap="square" lIns="0" tIns="0" rIns="0" bIns="0" rtlCol="0" anchor="ctr"/>
          <a:lstStyle/>
          <a:p>
            <a:pPr marL="0" indent="0" algn="ctr">
              <a:buNone/>
            </a:pPr>
            <a:r>
              <a:rPr lang="en-US" sz="1000" dirty="0">
                <a:solidFill>
                  <a:srgbClr val="6E1423"/>
                </a:solidFill>
                <a:latin typeface="Calibri" panose="020F0502020204030204" pitchFamily="34" charset="0"/>
                <a:ea typeface="Calibri" panose="020F0502020204030204" pitchFamily="34" charset="-122"/>
                <a:cs typeface="Calibri" panose="020F0502020204030204" pitchFamily="34" charset="-120"/>
              </a:rPr>
              <a:t>Jira</a:t>
            </a:r>
            <a:endParaRPr lang="en-US" sz="1000" dirty="0"/>
          </a:p>
        </p:txBody>
      </p:sp>
      <p:sp>
        <p:nvSpPr>
          <p:cNvPr id="25" name="Text 23"/>
          <p:cNvSpPr/>
          <p:nvPr/>
        </p:nvSpPr>
        <p:spPr>
          <a:xfrm>
            <a:off x="6108192" y="1417320"/>
            <a:ext cx="5349240" cy="256032"/>
          </a:xfrm>
          <a:prstGeom prst="rect">
            <a:avLst/>
          </a:prstGeom>
          <a:noFill/>
        </p:spPr>
        <p:txBody>
          <a:bodyPr wrap="square" lIns="0" tIns="0" rIns="0" bIns="0" rtlCol="0" anchor="ctr"/>
          <a:lstStyle/>
          <a:p>
            <a:pPr marL="0" indent="0">
              <a:buNone/>
            </a:pPr>
            <a:r>
              <a:rPr lang="en-US" sz="1050" b="1" kern="0" spc="100" dirty="0">
                <a:solidFill>
                  <a:srgbClr val="A13D4C"/>
                </a:solidFill>
                <a:latin typeface="Calibri" panose="020F0502020204030204" pitchFamily="34" charset="0"/>
                <a:ea typeface="Calibri" panose="020F0502020204030204" pitchFamily="34" charset="-122"/>
                <a:cs typeface="Calibri" panose="020F0502020204030204" pitchFamily="34" charset="-120"/>
              </a:rPr>
              <a:t>PROFESSIONAL SKILLS</a:t>
            </a:r>
            <a:endParaRPr lang="en-US" sz="1050" dirty="0"/>
          </a:p>
        </p:txBody>
      </p:sp>
      <p:sp>
        <p:nvSpPr>
          <p:cNvPr id="26" name="Shape 24"/>
          <p:cNvSpPr/>
          <p:nvPr/>
        </p:nvSpPr>
        <p:spPr>
          <a:xfrm>
            <a:off x="6108192" y="1737360"/>
            <a:ext cx="2560320" cy="402336"/>
          </a:xfrm>
          <a:prstGeom prst="roundRect">
            <a:avLst>
              <a:gd name="adj" fmla="val 18182"/>
            </a:avLst>
          </a:prstGeom>
          <a:solidFill>
            <a:srgbClr val="FFFFFF"/>
          </a:solidFill>
          <a:ln w="12700">
            <a:solidFill>
              <a:srgbClr val="E3C9CC"/>
            </a:solidFill>
            <a:prstDash val="solid"/>
          </a:ln>
        </p:spPr>
      </p:sp>
      <p:sp>
        <p:nvSpPr>
          <p:cNvPr id="27" name="Text 25"/>
          <p:cNvSpPr/>
          <p:nvPr/>
        </p:nvSpPr>
        <p:spPr>
          <a:xfrm>
            <a:off x="6108192" y="1737360"/>
            <a:ext cx="2560320" cy="402336"/>
          </a:xfrm>
          <a:prstGeom prst="rect">
            <a:avLst/>
          </a:prstGeom>
          <a:noFill/>
        </p:spPr>
        <p:txBody>
          <a:bodyPr wrap="square" lIns="0" tIns="0" rIns="0" bIns="0" rtlCol="0" anchor="ctr"/>
          <a:lstStyle/>
          <a:p>
            <a:pPr marL="0" indent="0" algn="ctr">
              <a:buNone/>
            </a:pPr>
            <a:r>
              <a:rPr lang="en-US" sz="1000" dirty="0">
                <a:solidFill>
                  <a:srgbClr val="6E1423"/>
                </a:solidFill>
                <a:latin typeface="Calibri" panose="020F0502020204030204" pitchFamily="34" charset="0"/>
                <a:ea typeface="Calibri" panose="020F0502020204030204" pitchFamily="34" charset="-122"/>
                <a:cs typeface="Calibri" panose="020F0502020204030204" pitchFamily="34" charset="-120"/>
              </a:rPr>
              <a:t>Problem Solving</a:t>
            </a:r>
            <a:endParaRPr lang="en-US" sz="1000" dirty="0"/>
          </a:p>
        </p:txBody>
      </p:sp>
      <p:sp>
        <p:nvSpPr>
          <p:cNvPr id="28" name="Shape 26"/>
          <p:cNvSpPr/>
          <p:nvPr/>
        </p:nvSpPr>
        <p:spPr>
          <a:xfrm>
            <a:off x="8805672" y="1737360"/>
            <a:ext cx="2560320" cy="402336"/>
          </a:xfrm>
          <a:prstGeom prst="roundRect">
            <a:avLst>
              <a:gd name="adj" fmla="val 18182"/>
            </a:avLst>
          </a:prstGeom>
          <a:solidFill>
            <a:srgbClr val="FFFFFF"/>
          </a:solidFill>
          <a:ln w="12700">
            <a:solidFill>
              <a:srgbClr val="E3C9CC"/>
            </a:solidFill>
            <a:prstDash val="solid"/>
          </a:ln>
        </p:spPr>
      </p:sp>
      <p:sp>
        <p:nvSpPr>
          <p:cNvPr id="29" name="Text 27"/>
          <p:cNvSpPr/>
          <p:nvPr/>
        </p:nvSpPr>
        <p:spPr>
          <a:xfrm>
            <a:off x="8805672" y="1737360"/>
            <a:ext cx="2560320" cy="402336"/>
          </a:xfrm>
          <a:prstGeom prst="rect">
            <a:avLst/>
          </a:prstGeom>
          <a:noFill/>
        </p:spPr>
        <p:txBody>
          <a:bodyPr wrap="square" lIns="0" tIns="0" rIns="0" bIns="0" rtlCol="0" anchor="ctr"/>
          <a:lstStyle/>
          <a:p>
            <a:pPr marL="0" indent="0" algn="ctr">
              <a:buNone/>
            </a:pPr>
            <a:r>
              <a:rPr lang="en-US" sz="1000" dirty="0">
                <a:solidFill>
                  <a:srgbClr val="6E1423"/>
                </a:solidFill>
                <a:latin typeface="Calibri" panose="020F0502020204030204" pitchFamily="34" charset="0"/>
                <a:ea typeface="Calibri" panose="020F0502020204030204" pitchFamily="34" charset="-122"/>
                <a:cs typeface="Calibri" panose="020F0502020204030204" pitchFamily="34" charset="-120"/>
              </a:rPr>
              <a:t>Debugging</a:t>
            </a:r>
            <a:endParaRPr lang="en-US" sz="1000" dirty="0"/>
          </a:p>
        </p:txBody>
      </p:sp>
      <p:sp>
        <p:nvSpPr>
          <p:cNvPr id="30" name="Shape 28"/>
          <p:cNvSpPr/>
          <p:nvPr/>
        </p:nvSpPr>
        <p:spPr>
          <a:xfrm>
            <a:off x="6108192" y="2212848"/>
            <a:ext cx="2560320" cy="402336"/>
          </a:xfrm>
          <a:prstGeom prst="roundRect">
            <a:avLst>
              <a:gd name="adj" fmla="val 18182"/>
            </a:avLst>
          </a:prstGeom>
          <a:solidFill>
            <a:srgbClr val="FFFFFF"/>
          </a:solidFill>
          <a:ln w="12700">
            <a:solidFill>
              <a:srgbClr val="E3C9CC"/>
            </a:solidFill>
            <a:prstDash val="solid"/>
          </a:ln>
        </p:spPr>
      </p:sp>
      <p:sp>
        <p:nvSpPr>
          <p:cNvPr id="31" name="Text 29"/>
          <p:cNvSpPr/>
          <p:nvPr/>
        </p:nvSpPr>
        <p:spPr>
          <a:xfrm>
            <a:off x="6108192" y="2212848"/>
            <a:ext cx="2560320" cy="402336"/>
          </a:xfrm>
          <a:prstGeom prst="rect">
            <a:avLst/>
          </a:prstGeom>
          <a:noFill/>
        </p:spPr>
        <p:txBody>
          <a:bodyPr wrap="square" lIns="0" tIns="0" rIns="0" bIns="0" rtlCol="0" anchor="ctr"/>
          <a:lstStyle/>
          <a:p>
            <a:pPr marL="0" indent="0" algn="ctr">
              <a:buNone/>
            </a:pPr>
            <a:r>
              <a:rPr lang="en-US" sz="1000" dirty="0">
                <a:solidFill>
                  <a:srgbClr val="6E1423"/>
                </a:solidFill>
                <a:latin typeface="Calibri" panose="020F0502020204030204" pitchFamily="34" charset="0"/>
                <a:ea typeface="Calibri" panose="020F0502020204030204" pitchFamily="34" charset="-122"/>
                <a:cs typeface="Calibri" panose="020F0502020204030204" pitchFamily="34" charset="-120"/>
              </a:rPr>
              <a:t>Documentation</a:t>
            </a:r>
            <a:endParaRPr lang="en-US" sz="1000" dirty="0"/>
          </a:p>
        </p:txBody>
      </p:sp>
      <p:sp>
        <p:nvSpPr>
          <p:cNvPr id="32" name="Shape 30"/>
          <p:cNvSpPr/>
          <p:nvPr/>
        </p:nvSpPr>
        <p:spPr>
          <a:xfrm>
            <a:off x="8805672" y="2212848"/>
            <a:ext cx="2560320" cy="402336"/>
          </a:xfrm>
          <a:prstGeom prst="roundRect">
            <a:avLst>
              <a:gd name="adj" fmla="val 18182"/>
            </a:avLst>
          </a:prstGeom>
          <a:solidFill>
            <a:srgbClr val="FFFFFF"/>
          </a:solidFill>
          <a:ln w="12700">
            <a:solidFill>
              <a:srgbClr val="E3C9CC"/>
            </a:solidFill>
            <a:prstDash val="solid"/>
          </a:ln>
        </p:spPr>
      </p:sp>
      <p:sp>
        <p:nvSpPr>
          <p:cNvPr id="33" name="Text 31"/>
          <p:cNvSpPr/>
          <p:nvPr/>
        </p:nvSpPr>
        <p:spPr>
          <a:xfrm>
            <a:off x="8805672" y="2212848"/>
            <a:ext cx="2560320" cy="402336"/>
          </a:xfrm>
          <a:prstGeom prst="rect">
            <a:avLst/>
          </a:prstGeom>
          <a:noFill/>
        </p:spPr>
        <p:txBody>
          <a:bodyPr wrap="square" lIns="0" tIns="0" rIns="0" bIns="0" rtlCol="0" anchor="ctr"/>
          <a:lstStyle/>
          <a:p>
            <a:pPr marL="0" indent="0" algn="ctr">
              <a:buNone/>
            </a:pPr>
            <a:r>
              <a:rPr lang="en-US" sz="1000" dirty="0">
                <a:solidFill>
                  <a:srgbClr val="6E1423"/>
                </a:solidFill>
                <a:latin typeface="Calibri" panose="020F0502020204030204" pitchFamily="34" charset="0"/>
                <a:ea typeface="Calibri" panose="020F0502020204030204" pitchFamily="34" charset="-122"/>
                <a:cs typeface="Calibri" panose="020F0502020204030204" pitchFamily="34" charset="-120"/>
              </a:rPr>
              <a:t>Team Collaboration</a:t>
            </a:r>
            <a:endParaRPr lang="en-US" sz="1000" dirty="0"/>
          </a:p>
        </p:txBody>
      </p:sp>
      <p:sp>
        <p:nvSpPr>
          <p:cNvPr id="34" name="Shape 32"/>
          <p:cNvSpPr/>
          <p:nvPr/>
        </p:nvSpPr>
        <p:spPr>
          <a:xfrm>
            <a:off x="6108192" y="2688336"/>
            <a:ext cx="2560320" cy="402336"/>
          </a:xfrm>
          <a:prstGeom prst="roundRect">
            <a:avLst>
              <a:gd name="adj" fmla="val 18182"/>
            </a:avLst>
          </a:prstGeom>
          <a:solidFill>
            <a:srgbClr val="FFFFFF"/>
          </a:solidFill>
          <a:ln w="12700">
            <a:solidFill>
              <a:srgbClr val="E3C9CC"/>
            </a:solidFill>
            <a:prstDash val="solid"/>
          </a:ln>
        </p:spPr>
      </p:sp>
      <p:sp>
        <p:nvSpPr>
          <p:cNvPr id="35" name="Text 33"/>
          <p:cNvSpPr/>
          <p:nvPr/>
        </p:nvSpPr>
        <p:spPr>
          <a:xfrm>
            <a:off x="6108192" y="2688336"/>
            <a:ext cx="2560320" cy="402336"/>
          </a:xfrm>
          <a:prstGeom prst="rect">
            <a:avLst/>
          </a:prstGeom>
          <a:noFill/>
        </p:spPr>
        <p:txBody>
          <a:bodyPr wrap="square" lIns="0" tIns="0" rIns="0" bIns="0" rtlCol="0" anchor="ctr"/>
          <a:lstStyle/>
          <a:p>
            <a:pPr marL="0" indent="0" algn="ctr">
              <a:buNone/>
            </a:pPr>
            <a:r>
              <a:rPr lang="en-US" sz="1000" dirty="0">
                <a:solidFill>
                  <a:srgbClr val="6E1423"/>
                </a:solidFill>
                <a:latin typeface="Calibri" panose="020F0502020204030204" pitchFamily="34" charset="0"/>
                <a:ea typeface="Calibri" panose="020F0502020204030204" pitchFamily="34" charset="-122"/>
                <a:cs typeface="Calibri" panose="020F0502020204030204" pitchFamily="34" charset="-120"/>
              </a:rPr>
              <a:t>Validation</a:t>
            </a:r>
            <a:endParaRPr lang="en-US" sz="1000" dirty="0"/>
          </a:p>
        </p:txBody>
      </p:sp>
      <p:sp>
        <p:nvSpPr>
          <p:cNvPr id="36" name="Shape 34"/>
          <p:cNvSpPr/>
          <p:nvPr/>
        </p:nvSpPr>
        <p:spPr>
          <a:xfrm>
            <a:off x="8805672" y="2688336"/>
            <a:ext cx="2560320" cy="402336"/>
          </a:xfrm>
          <a:prstGeom prst="roundRect">
            <a:avLst>
              <a:gd name="adj" fmla="val 18182"/>
            </a:avLst>
          </a:prstGeom>
          <a:solidFill>
            <a:srgbClr val="FFFFFF"/>
          </a:solidFill>
          <a:ln w="12700">
            <a:solidFill>
              <a:srgbClr val="E3C9CC"/>
            </a:solidFill>
            <a:prstDash val="solid"/>
          </a:ln>
        </p:spPr>
      </p:sp>
      <p:sp>
        <p:nvSpPr>
          <p:cNvPr id="37" name="Text 35"/>
          <p:cNvSpPr/>
          <p:nvPr/>
        </p:nvSpPr>
        <p:spPr>
          <a:xfrm>
            <a:off x="8805672" y="2688336"/>
            <a:ext cx="2560320" cy="402336"/>
          </a:xfrm>
          <a:prstGeom prst="rect">
            <a:avLst/>
          </a:prstGeom>
          <a:noFill/>
        </p:spPr>
        <p:txBody>
          <a:bodyPr wrap="square" lIns="0" tIns="0" rIns="0" bIns="0" rtlCol="0" anchor="ctr"/>
          <a:lstStyle/>
          <a:p>
            <a:pPr marL="0" indent="0" algn="ctr">
              <a:buNone/>
            </a:pPr>
            <a:r>
              <a:rPr lang="en-US" sz="1000" dirty="0">
                <a:solidFill>
                  <a:srgbClr val="6E1423"/>
                </a:solidFill>
                <a:latin typeface="Calibri" panose="020F0502020204030204" pitchFamily="34" charset="0"/>
                <a:ea typeface="Calibri" panose="020F0502020204030204" pitchFamily="34" charset="-122"/>
                <a:cs typeface="Calibri" panose="020F0502020204030204" pitchFamily="34" charset="-120"/>
              </a:rPr>
              <a:t>Cloud Computing</a:t>
            </a:r>
            <a:endParaRPr lang="en-US" sz="1000" dirty="0"/>
          </a:p>
        </p:txBody>
      </p:sp>
      <p:sp>
        <p:nvSpPr>
          <p:cNvPr id="38" name="Shape 36"/>
          <p:cNvSpPr/>
          <p:nvPr/>
        </p:nvSpPr>
        <p:spPr>
          <a:xfrm>
            <a:off x="6108192" y="3163824"/>
            <a:ext cx="2560320" cy="402336"/>
          </a:xfrm>
          <a:prstGeom prst="roundRect">
            <a:avLst>
              <a:gd name="adj" fmla="val 18182"/>
            </a:avLst>
          </a:prstGeom>
          <a:solidFill>
            <a:srgbClr val="FFFFFF"/>
          </a:solidFill>
          <a:ln w="12700">
            <a:solidFill>
              <a:srgbClr val="E3C9CC"/>
            </a:solidFill>
            <a:prstDash val="solid"/>
          </a:ln>
        </p:spPr>
      </p:sp>
      <p:sp>
        <p:nvSpPr>
          <p:cNvPr id="39" name="Text 37"/>
          <p:cNvSpPr/>
          <p:nvPr/>
        </p:nvSpPr>
        <p:spPr>
          <a:xfrm>
            <a:off x="6108192" y="3163824"/>
            <a:ext cx="2560320" cy="402336"/>
          </a:xfrm>
          <a:prstGeom prst="rect">
            <a:avLst/>
          </a:prstGeom>
          <a:noFill/>
        </p:spPr>
        <p:txBody>
          <a:bodyPr wrap="square" lIns="0" tIns="0" rIns="0" bIns="0" rtlCol="0" anchor="ctr"/>
          <a:lstStyle/>
          <a:p>
            <a:pPr marL="0" indent="0" algn="ctr">
              <a:buNone/>
            </a:pPr>
            <a:r>
              <a:rPr lang="en-US" sz="1000" dirty="0">
                <a:solidFill>
                  <a:srgbClr val="6E1423"/>
                </a:solidFill>
                <a:latin typeface="Calibri" panose="020F0502020204030204" pitchFamily="34" charset="0"/>
                <a:ea typeface="Calibri" panose="020F0502020204030204" pitchFamily="34" charset="-122"/>
                <a:cs typeface="Calibri" panose="020F0502020204030204" pitchFamily="34" charset="-120"/>
              </a:rPr>
              <a:t>Security Awareness</a:t>
            </a:r>
            <a:endParaRPr lang="en-US" sz="1000" dirty="0"/>
          </a:p>
        </p:txBody>
      </p:sp>
      <p:sp>
        <p:nvSpPr>
          <p:cNvPr id="40" name="Shape 38"/>
          <p:cNvSpPr/>
          <p:nvPr/>
        </p:nvSpPr>
        <p:spPr>
          <a:xfrm>
            <a:off x="667385" y="4368800"/>
            <a:ext cx="10789920" cy="1965960"/>
          </a:xfrm>
          <a:prstGeom prst="roundRect">
            <a:avLst>
              <a:gd name="adj" fmla="val 2791"/>
            </a:avLst>
          </a:prstGeom>
          <a:solidFill>
            <a:srgbClr val="F3E6E1"/>
          </a:solidFill>
          <a:effectLst>
            <a:outerShdw dir="1" algn="bl" rotWithShape="0">
              <a:srgbClr val="3A1520">
                <a:alpha val="1"/>
              </a:srgbClr>
            </a:outerShdw>
          </a:effectLst>
        </p:spPr>
      </p:sp>
      <p:sp>
        <p:nvSpPr>
          <p:cNvPr id="41" name="Text 39"/>
          <p:cNvSpPr/>
          <p:nvPr/>
        </p:nvSpPr>
        <p:spPr>
          <a:xfrm>
            <a:off x="777240" y="4368673"/>
            <a:ext cx="3657600" cy="256032"/>
          </a:xfrm>
          <a:prstGeom prst="rect">
            <a:avLst/>
          </a:prstGeom>
          <a:noFill/>
        </p:spPr>
        <p:txBody>
          <a:bodyPr wrap="square" lIns="0" tIns="0" rIns="0" bIns="0" rtlCol="0" anchor="ctr"/>
          <a:lstStyle/>
          <a:p>
            <a:pPr marL="0" indent="0">
              <a:buNone/>
            </a:pPr>
            <a:r>
              <a:rPr lang="en-US" sz="1050" b="1" kern="0" spc="100" dirty="0">
                <a:solidFill>
                  <a:srgbClr val="A13D4C"/>
                </a:solidFill>
                <a:latin typeface="Calibri" panose="020F0502020204030204" pitchFamily="34" charset="0"/>
                <a:ea typeface="Calibri" panose="020F0502020204030204" pitchFamily="34" charset="-122"/>
                <a:cs typeface="Calibri" panose="020F0502020204030204" pitchFamily="34" charset="-120"/>
              </a:rPr>
              <a:t>REFLECTION</a:t>
            </a:r>
            <a:endParaRPr lang="en-US" sz="1050" dirty="0"/>
          </a:p>
        </p:txBody>
      </p:sp>
      <p:sp>
        <p:nvSpPr>
          <p:cNvPr id="42" name="Text 40"/>
          <p:cNvSpPr/>
          <p:nvPr/>
        </p:nvSpPr>
        <p:spPr>
          <a:xfrm>
            <a:off x="777240" y="4665980"/>
            <a:ext cx="10241280" cy="1606550"/>
          </a:xfrm>
          <a:prstGeom prst="rect">
            <a:avLst/>
          </a:prstGeom>
          <a:noFill/>
        </p:spPr>
        <p:txBody>
          <a:bodyPr wrap="square" lIns="0" tIns="0" rIns="0" bIns="0" rtlCol="0" anchor="t"/>
          <a:lstStyle/>
          <a:p>
            <a:pPr marL="0" indent="0">
              <a:lnSpc>
                <a:spcPct val="115000"/>
              </a:lnSpc>
              <a:buNone/>
            </a:pPr>
            <a:r>
              <a:rPr lang="en-US" sz="1150" dirty="0">
                <a:solidFill>
                  <a:srgbClr val="7D5A5E"/>
                </a:solidFill>
                <a:latin typeface="Calibri" panose="020F0502020204030204" pitchFamily="34" charset="0"/>
                <a:ea typeface="Calibri" panose="020F0502020204030204" pitchFamily="34" charset="-122"/>
                <a:cs typeface="Calibri" panose="020F0502020204030204" pitchFamily="34" charset="-120"/>
              </a:rPr>
              <a:t>This internship gave me practical, hands-on exposure to enterprise cloud infrastructure, secure authentication patterns, structured data engineering, and real-world web automation — not as isolated exercises, but as pieces of one connected pipeline. Working through Google Cloud, BigQuery, and Cloud Storage taught me how enterprise systems are actually structured and secured, while the pricing automation project taught me that real-world engineering includes constraints outside my own code, like enterprise-grade bot protection, that have to be investigated and explained rather than assumed away. Building the CI/CD, Airflow, and Jira habits around the core project showed me that shipping software professionally is as much about process, monitoring, and validation as it is about writing the initial script. Above all, I learned to treat automated output as something to verify, not something to trust blindly.</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3E7"/>
        </a:solidFill>
        <a:effectLst/>
      </p:bgPr>
    </p:bg>
    <p:spTree>
      <p:nvGrpSpPr>
        <p:cNvPr id="1" name=""/>
        <p:cNvGrpSpPr/>
        <p:nvPr/>
      </p:nvGrpSpPr>
      <p:grpSpPr>
        <a:xfrm>
          <a:off x="0" y="0"/>
          <a:ext cx="0" cy="0"/>
          <a:chOff x="0" y="0"/>
          <a:chExt cx="0" cy="0"/>
        </a:xfrm>
      </p:grpSpPr>
      <p:sp>
        <p:nvSpPr>
          <p:cNvPr id="2" name="Shape 0"/>
          <p:cNvSpPr/>
          <p:nvPr/>
        </p:nvSpPr>
        <p:spPr>
          <a:xfrm>
            <a:off x="9326880" y="-548640"/>
            <a:ext cx="2377440" cy="2377440"/>
          </a:xfrm>
          <a:prstGeom prst="ellipse">
            <a:avLst/>
          </a:prstGeom>
          <a:solidFill>
            <a:srgbClr val="6E1423">
              <a:alpha val="8000"/>
            </a:srgbClr>
          </a:solidFill>
        </p:spPr>
      </p:sp>
      <p:sp>
        <p:nvSpPr>
          <p:cNvPr id="3" name="Shape 1"/>
          <p:cNvSpPr/>
          <p:nvPr/>
        </p:nvSpPr>
        <p:spPr>
          <a:xfrm>
            <a:off x="10789920" y="1097280"/>
            <a:ext cx="1280160" cy="1280160"/>
          </a:xfrm>
          <a:prstGeom prst="ellipse">
            <a:avLst/>
          </a:prstGeom>
          <a:solidFill>
            <a:srgbClr val="6E1423">
              <a:alpha val="8000"/>
            </a:srgbClr>
          </a:solidFill>
        </p:spPr>
      </p:sp>
      <p:sp>
        <p:nvSpPr>
          <p:cNvPr id="4" name="Shape 2"/>
          <p:cNvSpPr/>
          <p:nvPr/>
        </p:nvSpPr>
        <p:spPr>
          <a:xfrm>
            <a:off x="8961120" y="2743200"/>
            <a:ext cx="1737360" cy="1737360"/>
          </a:xfrm>
          <a:prstGeom prst="ellipse">
            <a:avLst/>
          </a:prstGeom>
          <a:solidFill>
            <a:srgbClr val="6E1423">
              <a:alpha val="8000"/>
            </a:srgbClr>
          </a:solidFill>
        </p:spPr>
      </p:sp>
      <p:sp>
        <p:nvSpPr>
          <p:cNvPr id="5" name="Shape 3"/>
          <p:cNvSpPr/>
          <p:nvPr/>
        </p:nvSpPr>
        <p:spPr>
          <a:xfrm>
            <a:off x="11338560" y="4206240"/>
            <a:ext cx="1005840" cy="1005840"/>
          </a:xfrm>
          <a:prstGeom prst="ellipse">
            <a:avLst/>
          </a:prstGeom>
          <a:solidFill>
            <a:srgbClr val="6E1423">
              <a:alpha val="8000"/>
            </a:srgbClr>
          </a:solidFill>
        </p:spPr>
      </p:sp>
      <p:sp>
        <p:nvSpPr>
          <p:cNvPr id="6" name="Shape 4"/>
          <p:cNvSpPr/>
          <p:nvPr/>
        </p:nvSpPr>
        <p:spPr>
          <a:xfrm>
            <a:off x="-2011680" y="4206240"/>
            <a:ext cx="3291840" cy="3291840"/>
          </a:xfrm>
          <a:prstGeom prst="ellipse">
            <a:avLst/>
          </a:prstGeom>
          <a:solidFill>
            <a:srgbClr val="6E1423">
              <a:alpha val="8000"/>
            </a:srgbClr>
          </a:solidFill>
        </p:spPr>
      </p:sp>
      <p:sp>
        <p:nvSpPr>
          <p:cNvPr id="7" name="Text 5"/>
          <p:cNvSpPr/>
          <p:nvPr/>
        </p:nvSpPr>
        <p:spPr>
          <a:xfrm>
            <a:off x="502920" y="2468880"/>
            <a:ext cx="9144000" cy="1005840"/>
          </a:xfrm>
          <a:prstGeom prst="rect">
            <a:avLst/>
          </a:prstGeom>
          <a:noFill/>
        </p:spPr>
        <p:txBody>
          <a:bodyPr wrap="square" lIns="0" tIns="0" rIns="0" bIns="0" rtlCol="0" anchor="ctr"/>
          <a:lstStyle/>
          <a:p>
            <a:pPr marL="0" indent="0">
              <a:buNone/>
            </a:pPr>
            <a:r>
              <a:rPr lang="en-US" sz="4800" b="1" dirty="0">
                <a:solidFill>
                  <a:srgbClr val="6E1423"/>
                </a:solidFill>
                <a:latin typeface="Cambria" panose="02040503050406030204" pitchFamily="34" charset="0"/>
                <a:ea typeface="Cambria" panose="02040503050406030204" pitchFamily="34" charset="-122"/>
                <a:cs typeface="Cambria" panose="02040503050406030204" pitchFamily="34" charset="-120"/>
              </a:rPr>
              <a:t>THANK YOU</a:t>
            </a:r>
            <a:endParaRPr lang="en-US" sz="4800" dirty="0"/>
          </a:p>
        </p:txBody>
      </p:sp>
      <p:sp>
        <p:nvSpPr>
          <p:cNvPr id="8" name="Text 6"/>
          <p:cNvSpPr/>
          <p:nvPr/>
        </p:nvSpPr>
        <p:spPr>
          <a:xfrm>
            <a:off x="502920" y="3520440"/>
            <a:ext cx="7315200" cy="548640"/>
          </a:xfrm>
          <a:prstGeom prst="rect">
            <a:avLst/>
          </a:prstGeom>
          <a:noFill/>
        </p:spPr>
        <p:txBody>
          <a:bodyPr wrap="square" lIns="0" tIns="0" rIns="0" bIns="0" rtlCol="0" anchor="ctr"/>
          <a:lstStyle/>
          <a:p>
            <a:pPr marL="0" indent="0">
              <a:buNone/>
            </a:pPr>
            <a:endParaRPr lang="en-US" sz="1800" dirty="0"/>
          </a:p>
        </p:txBody>
      </p:sp>
      <p:sp>
        <p:nvSpPr>
          <p:cNvPr id="9" name="Text 7"/>
          <p:cNvSpPr/>
          <p:nvPr/>
        </p:nvSpPr>
        <p:spPr>
          <a:xfrm>
            <a:off x="502920" y="4114800"/>
            <a:ext cx="7772400" cy="457200"/>
          </a:xfrm>
          <a:prstGeom prst="rect">
            <a:avLst/>
          </a:prstGeom>
          <a:noFill/>
        </p:spPr>
        <p:txBody>
          <a:bodyPr wrap="square" lIns="0" tIns="0" rIns="0" bIns="0" rtlCol="0" anchor="ctr"/>
          <a:lstStyle/>
          <a:p>
            <a:pPr marL="0" indent="0">
              <a:buNone/>
            </a:pPr>
            <a:r>
              <a:rPr lang="en-US" sz="1300" dirty="0">
                <a:solidFill>
                  <a:srgbClr val="7D5A5E"/>
                </a:solidFill>
                <a:latin typeface="Calibri" panose="020F0502020204030204" pitchFamily="34" charset="0"/>
                <a:ea typeface="Calibri" panose="020F0502020204030204" pitchFamily="34" charset="-122"/>
                <a:cs typeface="Calibri" panose="020F0502020204030204" pitchFamily="34" charset="-120"/>
              </a:rPr>
              <a:t>With sincere thanks to my mentors, teammates, and Ford for this learning opportunity.</a:t>
            </a:r>
            <a:endParaRPr lang="en-US" sz="1300" dirty="0"/>
          </a:p>
        </p:txBody>
      </p:sp>
      <p:pic>
        <p:nvPicPr>
          <p:cNvPr id="10" name="Image 0" descr="/home/claude/work/icons/car.png"/>
          <p:cNvPicPr>
            <a:picLocks noChangeAspect="1"/>
          </p:cNvPicPr>
          <p:nvPr/>
        </p:nvPicPr>
        <p:blipFill>
          <a:blip r:embed="rId3">
            <a:alphaModFix amt="85000"/>
          </a:blip>
          <a:stretch>
            <a:fillRect/>
          </a:stretch>
        </p:blipFill>
        <p:spPr>
          <a:xfrm>
            <a:off x="9052560" y="4114800"/>
            <a:ext cx="2377440" cy="23774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127</TotalTime>
  <Words>3811</Words>
  <Application>Microsoft Office PowerPoint</Application>
  <PresentationFormat>Widescreen</PresentationFormat>
  <Paragraphs>389</Paragraphs>
  <Slides>15</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Microsoft account</cp:lastModifiedBy>
  <cp:revision>7</cp:revision>
  <dcterms:created xsi:type="dcterms:W3CDTF">2026-07-19T14:25:00Z</dcterms:created>
  <dcterms:modified xsi:type="dcterms:W3CDTF">2026-07-22T04:39:52Z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501C3B4D79B548059E3BA0F3136BCE59_12</vt:lpwstr>
  </property>
</Properties>
</file>