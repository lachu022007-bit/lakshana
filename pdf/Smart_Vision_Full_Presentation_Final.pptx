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Smart Vision - Condition-Aware Object Detection for Adverse Weather.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statement and project objectives.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Dataset overview, annotation format, classes, detection output and preprocessing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cleaning, annotation validation, augmentation, condition-specific preprocessing and ESRGAN super-resolution.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architecture: EfficientNet-B0 condition classifier, YOLO detectors, proposed YOLO11 optimizations and the overall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Training setup hyperparameters, loss functions with optimized weights, and the training objective.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Evaluation metrics definitions, model comparison table and key observation.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Per-class precision, recall, mAP@0.5 and mAP@0.5:0.95 for YOLOv8s, YOLO11s and YOLO26s across the seven object classes.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Detection results across YOLOv8s, YOLO11s and YOLO26s on a foggy road image, plus the Smart Vision dashboard showing condition result, confidence gate and processing. Pipeline: input image, condition, enhanced image, detected objects, confidence score and inference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Deployment platform, input, pipeline and outputs; future scope items; deployment 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slide: thank you and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card"/>
          <p:cNvSpPr/>
          <p:nvPr/>
        </p:nvSpPr>
        <p:spPr>
          <a:xfrm>
            <a:off x="4114800" y="1435608"/>
            <a:ext cx="4389120" cy="2395728"/>
          </a:xfrm>
          <a:prstGeom prst="rect">
            <a:avLst/>
          </a:prstGeom>
          <a:solidFill>
            <a:srgbClr val="2B2370"/>
          </a:solidFill>
          <a:ln w="12700">
            <a:solidFill>
              <a:srgbClr val="5B4BD6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4343400" y="15727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SMART VISION</a:t>
            </a:r>
            <a:endParaRPr lang="en-US" sz="2800" dirty="0"/>
          </a:p>
        </p:txBody>
      </p:sp>
      <p:sp>
        <p:nvSpPr>
          <p:cNvPr id="4" name="Subtitle"/>
          <p:cNvSpPr txBox="1"/>
          <p:nvPr/>
        </p:nvSpPr>
        <p:spPr>
          <a:xfrm>
            <a:off x="4343400" y="2057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A9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Condition-Aware Object Detection for Adverse Weather</a:t>
            </a:r>
            <a:endParaRPr lang="en-US" sz="1200" dirty="0"/>
          </a:p>
        </p:txBody>
      </p:sp>
      <p:sp>
        <p:nvSpPr>
          <p:cNvPr id="5" name="Project details"/>
          <p:cNvSpPr txBox="1"/>
          <p:nvPr/>
        </p:nvSpPr>
        <p:spPr>
          <a:xfrm>
            <a:off x="4343400" y="260604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Janani R S, Lakshanadevi M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Department: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AIDS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College: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SJIT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Guide / Mentor: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Dr. S. Sumathi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Academic Year: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Third Year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I photo" descr="/home/claude/phot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2926080" cy="4206240"/>
          </a:xfrm>
          <a:prstGeom prst="rect">
            <a:avLst/>
          </a:prstGeom>
        </p:spPr>
      </p:pic>
      <p:pic>
        <p:nvPicPr>
          <p:cNvPr id="3" name="Logo" descr="/home/claude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65760"/>
            <a:ext cx="384048" cy="466344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3749040" y="3657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5" name="Problem text"/>
          <p:cNvSpPr txBox="1"/>
          <p:nvPr/>
        </p:nvSpPr>
        <p:spPr>
          <a:xfrm>
            <a:off x="3749040" y="10058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Existing object detection systems often suffer from reduced accuracy under adverse conditions such as fog, rain, snow, low-light, and sand-dust, limiting reliable real-world detection.</a:t>
            </a:r>
            <a:endParaRPr lang="en-US" sz="1050" dirty="0"/>
          </a:p>
        </p:txBody>
      </p:sp>
      <p:sp>
        <p:nvSpPr>
          <p:cNvPr id="6" name="Objectives heading"/>
          <p:cNvSpPr txBox="1"/>
          <p:nvPr/>
        </p:nvSpPr>
        <p:spPr>
          <a:xfrm>
            <a:off x="3749040" y="1874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7" name="Objective 1 bar"/>
          <p:cNvSpPr/>
          <p:nvPr/>
        </p:nvSpPr>
        <p:spPr>
          <a:xfrm>
            <a:off x="3749040" y="2286000"/>
            <a:ext cx="4937760" cy="411480"/>
          </a:xfrm>
          <a:prstGeom prst="rect">
            <a:avLst/>
          </a:prstGeom>
          <a:solidFill>
            <a:srgbClr val="2D2085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8" name="Objective 1 chevron"/>
          <p:cNvSpPr txBox="1"/>
          <p:nvPr/>
        </p:nvSpPr>
        <p:spPr>
          <a:xfrm>
            <a:off x="3840480" y="228600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D8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›</a:t>
            </a:r>
            <a:endParaRPr lang="en-US" sz="1600" dirty="0"/>
          </a:p>
        </p:txBody>
      </p:sp>
      <p:sp>
        <p:nvSpPr>
          <p:cNvPr id="9" name="Objective 1 text"/>
          <p:cNvSpPr txBox="1"/>
          <p:nvPr/>
        </p:nvSpPr>
        <p:spPr>
          <a:xfrm>
            <a:off x="4114800" y="22860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Develop a 6-class condition-aware classification module.</a:t>
            </a:r>
            <a:endParaRPr lang="en-US" sz="950" dirty="0"/>
          </a:p>
        </p:txBody>
      </p:sp>
      <p:sp>
        <p:nvSpPr>
          <p:cNvPr id="10" name="Objective 2 bar"/>
          <p:cNvSpPr/>
          <p:nvPr/>
        </p:nvSpPr>
        <p:spPr>
          <a:xfrm>
            <a:off x="3749040" y="2770632"/>
            <a:ext cx="4937760" cy="411480"/>
          </a:xfrm>
          <a:prstGeom prst="rect">
            <a:avLst/>
          </a:prstGeom>
          <a:solidFill>
            <a:srgbClr val="2D2085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1" name="Objective 2 chevron"/>
          <p:cNvSpPr txBox="1"/>
          <p:nvPr/>
        </p:nvSpPr>
        <p:spPr>
          <a:xfrm>
            <a:off x="3840480" y="2770632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D8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Objective 2 text"/>
          <p:cNvSpPr txBox="1"/>
          <p:nvPr/>
        </p:nvSpPr>
        <p:spPr>
          <a:xfrm>
            <a:off x="4114800" y="277063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Compare ResNet-18 and EfficientNet-B0 for condition classification.</a:t>
            </a:r>
            <a:endParaRPr lang="en-US" sz="950" dirty="0"/>
          </a:p>
        </p:txBody>
      </p:sp>
      <p:sp>
        <p:nvSpPr>
          <p:cNvPr id="13" name="Objective 3 bar"/>
          <p:cNvSpPr/>
          <p:nvPr/>
        </p:nvSpPr>
        <p:spPr>
          <a:xfrm>
            <a:off x="3749040" y="3255264"/>
            <a:ext cx="4937760" cy="411480"/>
          </a:xfrm>
          <a:prstGeom prst="rect">
            <a:avLst/>
          </a:prstGeom>
          <a:solidFill>
            <a:srgbClr val="2D2085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4" name="Objective 3 chevron"/>
          <p:cNvSpPr txBox="1"/>
          <p:nvPr/>
        </p:nvSpPr>
        <p:spPr>
          <a:xfrm>
            <a:off x="3840480" y="3255264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D8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Objective 3 text"/>
          <p:cNvSpPr txBox="1"/>
          <p:nvPr/>
        </p:nvSpPr>
        <p:spPr>
          <a:xfrm>
            <a:off x="4114800" y="325526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Evaluate YOLOv8, YOLO11, and YOLO26 for object detection.</a:t>
            </a:r>
            <a:endParaRPr lang="en-US" sz="950" dirty="0"/>
          </a:p>
        </p:txBody>
      </p:sp>
      <p:sp>
        <p:nvSpPr>
          <p:cNvPr id="16" name="Objective 4 bar"/>
          <p:cNvSpPr/>
          <p:nvPr/>
        </p:nvSpPr>
        <p:spPr>
          <a:xfrm>
            <a:off x="3749040" y="3739896"/>
            <a:ext cx="4937760" cy="411480"/>
          </a:xfrm>
          <a:prstGeom prst="rect">
            <a:avLst/>
          </a:prstGeom>
          <a:solidFill>
            <a:srgbClr val="2D2085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7" name="Objective 4 chevron"/>
          <p:cNvSpPr txBox="1"/>
          <p:nvPr/>
        </p:nvSpPr>
        <p:spPr>
          <a:xfrm>
            <a:off x="3840480" y="3739896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D8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›</a:t>
            </a:r>
            <a:endParaRPr lang="en-US" sz="1600" dirty="0"/>
          </a:p>
        </p:txBody>
      </p:sp>
      <p:sp>
        <p:nvSpPr>
          <p:cNvPr id="18" name="Objective 4 text"/>
          <p:cNvSpPr txBox="1"/>
          <p:nvPr/>
        </p:nvSpPr>
        <p:spPr>
          <a:xfrm>
            <a:off x="4114800" y="3739896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Conduct five YOLO11–YOLO26 experiments using standard evaluation metrics.</a:t>
            </a:r>
            <a:endParaRPr lang="en-US" sz="950" dirty="0"/>
          </a:p>
        </p:txBody>
      </p:sp>
      <p:sp>
        <p:nvSpPr>
          <p:cNvPr id="19" name="Objective 5 bar"/>
          <p:cNvSpPr/>
          <p:nvPr/>
        </p:nvSpPr>
        <p:spPr>
          <a:xfrm>
            <a:off x="3749040" y="4224528"/>
            <a:ext cx="4937760" cy="411480"/>
          </a:xfrm>
          <a:prstGeom prst="rect">
            <a:avLst/>
          </a:prstGeom>
          <a:solidFill>
            <a:srgbClr val="2D2085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20" name="Objective 5 chevron"/>
          <p:cNvSpPr txBox="1"/>
          <p:nvPr/>
        </p:nvSpPr>
        <p:spPr>
          <a:xfrm>
            <a:off x="3840480" y="4224528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D8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›</a:t>
            </a:r>
            <a:endParaRPr lang="en-US" sz="1600" dirty="0"/>
          </a:p>
        </p:txBody>
      </p:sp>
      <p:sp>
        <p:nvSpPr>
          <p:cNvPr id="21" name="Objective 5 text"/>
          <p:cNvSpPr txBox="1"/>
          <p:nvPr/>
        </p:nvSpPr>
        <p:spPr>
          <a:xfrm>
            <a:off x="4114800" y="422452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 a conditional preprocessing and detection pipeline for improved performance.</a:t>
            </a:r>
            <a:endParaRPr lang="en-US" sz="950" dirty="0"/>
          </a:p>
        </p:txBody>
      </p:sp>
      <p:sp>
        <p:nvSpPr>
          <p:cNvPr id="22" name="Page number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A9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Page 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nner" descr="/home/claude/bann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"/>
            <a:ext cx="8229600" cy="109728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Dataset Overview &amp; Annotation</a:t>
            </a:r>
            <a:endParaRPr lang="en-US" sz="2600" dirty="0"/>
          </a:p>
        </p:txBody>
      </p:sp>
      <p:sp>
        <p:nvSpPr>
          <p:cNvPr id="4" name="Datasets card"/>
          <p:cNvSpPr/>
          <p:nvPr/>
        </p:nvSpPr>
        <p:spPr>
          <a:xfrm>
            <a:off x="457200" y="2011680"/>
            <a:ext cx="4023360" cy="621792"/>
          </a:xfrm>
          <a:prstGeom prst="rect">
            <a:avLst/>
          </a:prstGeom>
          <a:solidFill>
            <a:srgbClr val="2A1D7A"/>
          </a:solidFill>
          <a:ln w="12700">
            <a:solidFill>
              <a:srgbClr val="5B4BD6"/>
            </a:solidFill>
            <a:prstDash val="solid"/>
          </a:ln>
        </p:spPr>
      </p:sp>
      <p:pic>
        <p:nvPicPr>
          <p:cNvPr id="5" name="Datasets icon" descr="/home/claude/ic_Fa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167128"/>
            <a:ext cx="310896" cy="310896"/>
          </a:xfrm>
          <a:prstGeom prst="rect">
            <a:avLst/>
          </a:prstGeom>
        </p:spPr>
      </p:pic>
      <p:sp>
        <p:nvSpPr>
          <p:cNvPr id="6" name="Datasets heading"/>
          <p:cNvSpPr txBox="1"/>
          <p:nvPr/>
        </p:nvSpPr>
        <p:spPr>
          <a:xfrm>
            <a:off x="1051560" y="206654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Datasets</a:t>
            </a:r>
            <a:endParaRPr lang="en-US" sz="1100" dirty="0"/>
          </a:p>
        </p:txBody>
      </p:sp>
      <p:sp>
        <p:nvSpPr>
          <p:cNvPr id="7" name="Datasets text"/>
          <p:cNvSpPr txBox="1"/>
          <p:nvPr/>
        </p:nvSpPr>
        <p:spPr>
          <a:xfrm>
            <a:off x="1051560" y="23042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DD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DAWN &amp; S7-ISP</a:t>
            </a:r>
            <a:endParaRPr lang="en-US" sz="900" dirty="0"/>
          </a:p>
        </p:txBody>
      </p:sp>
      <p:sp>
        <p:nvSpPr>
          <p:cNvPr id="8" name="Annotation format card"/>
          <p:cNvSpPr/>
          <p:nvPr/>
        </p:nvSpPr>
        <p:spPr>
          <a:xfrm>
            <a:off x="457200" y="2706624"/>
            <a:ext cx="4023360" cy="621792"/>
          </a:xfrm>
          <a:prstGeom prst="rect">
            <a:avLst/>
          </a:prstGeom>
          <a:solidFill>
            <a:srgbClr val="2A1D7A"/>
          </a:solidFill>
          <a:ln w="12700">
            <a:solidFill>
              <a:srgbClr val="5B4BD6"/>
            </a:solidFill>
            <a:prstDash val="solid"/>
          </a:ln>
        </p:spPr>
      </p:sp>
      <p:pic>
        <p:nvPicPr>
          <p:cNvPr id="9" name="Annotation format icon" descr="/home/claude/ic_FaTa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862072"/>
            <a:ext cx="310896" cy="310896"/>
          </a:xfrm>
          <a:prstGeom prst="rect">
            <a:avLst/>
          </a:prstGeom>
        </p:spPr>
      </p:pic>
      <p:sp>
        <p:nvSpPr>
          <p:cNvPr id="10" name="Annotation format heading"/>
          <p:cNvSpPr txBox="1"/>
          <p:nvPr/>
        </p:nvSpPr>
        <p:spPr>
          <a:xfrm>
            <a:off x="1051560" y="276148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Annotation</a:t>
            </a:r>
            <a:endParaRPr lang="en-US" sz="1100" dirty="0"/>
          </a:p>
        </p:txBody>
      </p:sp>
      <p:sp>
        <p:nvSpPr>
          <p:cNvPr id="11" name="Annotation format text"/>
          <p:cNvSpPr txBox="1"/>
          <p:nvPr/>
        </p:nvSpPr>
        <p:spPr>
          <a:xfrm>
            <a:off x="1051560" y="29992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DD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YOLO-format bounding boxes</a:t>
            </a:r>
            <a:endParaRPr lang="en-US" sz="900" dirty="0"/>
          </a:p>
        </p:txBody>
      </p:sp>
      <p:sp>
        <p:nvSpPr>
          <p:cNvPr id="12" name="Object classes card"/>
          <p:cNvSpPr/>
          <p:nvPr/>
        </p:nvSpPr>
        <p:spPr>
          <a:xfrm>
            <a:off x="457200" y="3401568"/>
            <a:ext cx="4023360" cy="621792"/>
          </a:xfrm>
          <a:prstGeom prst="rect">
            <a:avLst/>
          </a:prstGeom>
          <a:solidFill>
            <a:srgbClr val="2A1D7A"/>
          </a:solidFill>
          <a:ln w="12700">
            <a:solidFill>
              <a:srgbClr val="5B4BD6"/>
            </a:solidFill>
            <a:prstDash val="solid"/>
          </a:ln>
        </p:spPr>
      </p:sp>
      <p:pic>
        <p:nvPicPr>
          <p:cNvPr id="13" name="Object classes icon" descr="/home/claude/ic_FaCube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557016"/>
            <a:ext cx="310896" cy="310896"/>
          </a:xfrm>
          <a:prstGeom prst="rect">
            <a:avLst/>
          </a:prstGeom>
        </p:spPr>
      </p:pic>
      <p:sp>
        <p:nvSpPr>
          <p:cNvPr id="14" name="Object classes heading"/>
          <p:cNvSpPr txBox="1"/>
          <p:nvPr/>
        </p:nvSpPr>
        <p:spPr>
          <a:xfrm>
            <a:off x="1051560" y="345643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Object Classes</a:t>
            </a:r>
            <a:endParaRPr lang="en-US" sz="1100" dirty="0"/>
          </a:p>
        </p:txBody>
      </p:sp>
      <p:sp>
        <p:nvSpPr>
          <p:cNvPr id="15" name="Object classes text"/>
          <p:cNvSpPr txBox="1"/>
          <p:nvPr/>
        </p:nvSpPr>
        <p:spPr>
          <a:xfrm>
            <a:off x="1051560" y="36941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DD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Person, Bicycle, Car, Motorcycle, Bus, Train &amp; Truck</a:t>
            </a:r>
            <a:endParaRPr lang="en-US" sz="900" dirty="0"/>
          </a:p>
        </p:txBody>
      </p:sp>
      <p:sp>
        <p:nvSpPr>
          <p:cNvPr id="16" name="Condition classes card"/>
          <p:cNvSpPr/>
          <p:nvPr/>
        </p:nvSpPr>
        <p:spPr>
          <a:xfrm>
            <a:off x="457200" y="4096512"/>
            <a:ext cx="4023360" cy="621792"/>
          </a:xfrm>
          <a:prstGeom prst="rect">
            <a:avLst/>
          </a:prstGeom>
          <a:solidFill>
            <a:srgbClr val="2A1D7A"/>
          </a:solidFill>
          <a:ln w="12700">
            <a:solidFill>
              <a:srgbClr val="5B4BD6"/>
            </a:solidFill>
            <a:prstDash val="solid"/>
          </a:ln>
        </p:spPr>
      </p:sp>
      <p:pic>
        <p:nvPicPr>
          <p:cNvPr id="17" name="Condition classes icon" descr="/home/claude/ic_FaCloudSu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4251960"/>
            <a:ext cx="310896" cy="310896"/>
          </a:xfrm>
          <a:prstGeom prst="rect">
            <a:avLst/>
          </a:prstGeom>
        </p:spPr>
      </p:pic>
      <p:sp>
        <p:nvSpPr>
          <p:cNvPr id="18" name="Condition classes heading"/>
          <p:cNvSpPr txBox="1"/>
          <p:nvPr/>
        </p:nvSpPr>
        <p:spPr>
          <a:xfrm>
            <a:off x="1051560" y="415137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Condition Classes</a:t>
            </a:r>
            <a:endParaRPr lang="en-US" sz="1100" dirty="0"/>
          </a:p>
        </p:txBody>
      </p:sp>
      <p:sp>
        <p:nvSpPr>
          <p:cNvPr id="19" name="Condition classes text"/>
          <p:cNvSpPr txBox="1"/>
          <p:nvPr/>
        </p:nvSpPr>
        <p:spPr>
          <a:xfrm>
            <a:off x="1051560" y="4389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DD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Normal, Low-Light, Fog, Rain, Snow &amp; Sand-Dust</a:t>
            </a:r>
            <a:endParaRPr lang="en-US" sz="900" dirty="0"/>
          </a:p>
        </p:txBody>
      </p:sp>
      <p:sp>
        <p:nvSpPr>
          <p:cNvPr id="20" name="Annotation content card"/>
          <p:cNvSpPr/>
          <p:nvPr/>
        </p:nvSpPr>
        <p:spPr>
          <a:xfrm>
            <a:off x="4663440" y="2011680"/>
            <a:ext cx="4023360" cy="621792"/>
          </a:xfrm>
          <a:prstGeom prst="rect">
            <a:avLst/>
          </a:prstGeom>
          <a:solidFill>
            <a:srgbClr val="2A1D7A"/>
          </a:solidFill>
          <a:ln w="12700">
            <a:solidFill>
              <a:srgbClr val="5B4BD6"/>
            </a:solidFill>
            <a:prstDash val="solid"/>
          </a:ln>
        </p:spPr>
      </p:sp>
      <p:pic>
        <p:nvPicPr>
          <p:cNvPr id="21" name="Annotation content icon" descr="/home/claude/ic_FaVectorSquar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2167128"/>
            <a:ext cx="310896" cy="310896"/>
          </a:xfrm>
          <a:prstGeom prst="rect">
            <a:avLst/>
          </a:prstGeom>
        </p:spPr>
      </p:pic>
      <p:sp>
        <p:nvSpPr>
          <p:cNvPr id="22" name="Annotation content heading"/>
          <p:cNvSpPr txBox="1"/>
          <p:nvPr/>
        </p:nvSpPr>
        <p:spPr>
          <a:xfrm>
            <a:off x="5257800" y="206654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Annotation</a:t>
            </a:r>
            <a:endParaRPr lang="en-US" sz="1100" dirty="0"/>
          </a:p>
        </p:txBody>
      </p:sp>
      <p:sp>
        <p:nvSpPr>
          <p:cNvPr id="23" name="Annotation content text"/>
          <p:cNvSpPr txBox="1"/>
          <p:nvPr/>
        </p:nvSpPr>
        <p:spPr>
          <a:xfrm>
            <a:off x="5257800" y="23042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DD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Object class + bounding-box coordinates</a:t>
            </a:r>
            <a:endParaRPr lang="en-US" sz="900" dirty="0"/>
          </a:p>
        </p:txBody>
      </p:sp>
      <p:sp>
        <p:nvSpPr>
          <p:cNvPr id="24" name="Detection output card"/>
          <p:cNvSpPr/>
          <p:nvPr/>
        </p:nvSpPr>
        <p:spPr>
          <a:xfrm>
            <a:off x="4663440" y="2706624"/>
            <a:ext cx="4023360" cy="621792"/>
          </a:xfrm>
          <a:prstGeom prst="rect">
            <a:avLst/>
          </a:prstGeom>
          <a:solidFill>
            <a:srgbClr val="2A1D7A"/>
          </a:solidFill>
          <a:ln w="12700">
            <a:solidFill>
              <a:srgbClr val="5B4BD6"/>
            </a:solidFill>
            <a:prstDash val="solid"/>
          </a:ln>
        </p:spPr>
      </p:sp>
      <p:pic>
        <p:nvPicPr>
          <p:cNvPr id="25" name="Detection output icon" descr="/home/claude/ic_FaBullsey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2862072"/>
            <a:ext cx="310896" cy="310896"/>
          </a:xfrm>
          <a:prstGeom prst="rect">
            <a:avLst/>
          </a:prstGeom>
        </p:spPr>
      </p:pic>
      <p:sp>
        <p:nvSpPr>
          <p:cNvPr id="26" name="Detection output heading"/>
          <p:cNvSpPr txBox="1"/>
          <p:nvPr/>
        </p:nvSpPr>
        <p:spPr>
          <a:xfrm>
            <a:off x="5257800" y="276148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Detection Output</a:t>
            </a:r>
            <a:endParaRPr lang="en-US" sz="1100" dirty="0"/>
          </a:p>
        </p:txBody>
      </p:sp>
      <p:sp>
        <p:nvSpPr>
          <p:cNvPr id="27" name="Detection output text"/>
          <p:cNvSpPr txBox="1"/>
          <p:nvPr/>
        </p:nvSpPr>
        <p:spPr>
          <a:xfrm>
            <a:off x="5257800" y="29992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DD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Confidence score for each predicted object</a:t>
            </a:r>
            <a:endParaRPr lang="en-US" sz="900" dirty="0"/>
          </a:p>
        </p:txBody>
      </p:sp>
      <p:sp>
        <p:nvSpPr>
          <p:cNvPr id="28" name="Preprocessing card"/>
          <p:cNvSpPr/>
          <p:nvPr/>
        </p:nvSpPr>
        <p:spPr>
          <a:xfrm>
            <a:off x="4663440" y="3401568"/>
            <a:ext cx="4023360" cy="1316736"/>
          </a:xfrm>
          <a:prstGeom prst="rect">
            <a:avLst/>
          </a:prstGeom>
          <a:solidFill>
            <a:srgbClr val="2A1D7A"/>
          </a:solidFill>
          <a:ln w="12700">
            <a:solidFill>
              <a:srgbClr val="5B4BD6"/>
            </a:solidFill>
            <a:prstDash val="solid"/>
          </a:ln>
        </p:spPr>
      </p:sp>
      <p:pic>
        <p:nvPicPr>
          <p:cNvPr id="29" name="Preprocessing icon" descr="/home/claude/ic_FaFilte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00600" y="3493008"/>
            <a:ext cx="310896" cy="310896"/>
          </a:xfrm>
          <a:prstGeom prst="rect">
            <a:avLst/>
          </a:prstGeom>
        </p:spPr>
      </p:pic>
      <p:sp>
        <p:nvSpPr>
          <p:cNvPr id="30" name="Preprocessing heading"/>
          <p:cNvSpPr txBox="1"/>
          <p:nvPr/>
        </p:nvSpPr>
        <p:spPr>
          <a:xfrm>
            <a:off x="5257800" y="345643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31" name="Step 1"/>
          <p:cNvSpPr/>
          <p:nvPr/>
        </p:nvSpPr>
        <p:spPr>
          <a:xfrm>
            <a:off x="4846320" y="3904488"/>
            <a:ext cx="804672" cy="566928"/>
          </a:xfrm>
          <a:prstGeom prst="roundRect">
            <a:avLst>
              <a:gd name="adj" fmla="val 9677"/>
            </a:avLst>
          </a:prstGeom>
          <a:solidFill>
            <a:srgbClr val="4B3BC4"/>
          </a:solidFill>
          <a:ln w="12700">
            <a:solidFill>
              <a:srgbClr val="8A7BFF"/>
            </a:solidFill>
            <a:prstDash val="solid"/>
          </a:ln>
        </p:spPr>
      </p:sp>
      <p:sp>
        <p:nvSpPr>
          <p:cNvPr id="32" name="Step 1 label"/>
          <p:cNvSpPr txBox="1"/>
          <p:nvPr/>
        </p:nvSpPr>
        <p:spPr>
          <a:xfrm>
            <a:off x="4846320" y="3904488"/>
            <a:ext cx="804672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cleaning</a:t>
            </a:r>
            <a:endParaRPr lang="en-US" sz="800" dirty="0"/>
          </a:p>
        </p:txBody>
      </p:sp>
      <p:sp>
        <p:nvSpPr>
          <p:cNvPr id="33" name="Arrow 1"/>
          <p:cNvSpPr txBox="1"/>
          <p:nvPr/>
        </p:nvSpPr>
        <p:spPr>
          <a:xfrm>
            <a:off x="5650992" y="3904488"/>
            <a:ext cx="182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A9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100" dirty="0"/>
          </a:p>
        </p:txBody>
      </p:sp>
      <p:sp>
        <p:nvSpPr>
          <p:cNvPr id="34" name="Step 2"/>
          <p:cNvSpPr/>
          <p:nvPr/>
        </p:nvSpPr>
        <p:spPr>
          <a:xfrm>
            <a:off x="5833872" y="3904488"/>
            <a:ext cx="804672" cy="566928"/>
          </a:xfrm>
          <a:prstGeom prst="roundRect">
            <a:avLst>
              <a:gd name="adj" fmla="val 9677"/>
            </a:avLst>
          </a:prstGeom>
          <a:solidFill>
            <a:srgbClr val="4B3BC4"/>
          </a:solidFill>
          <a:ln w="12700">
            <a:solidFill>
              <a:srgbClr val="8A7BFF"/>
            </a:solidFill>
            <a:prstDash val="solid"/>
          </a:ln>
        </p:spPr>
      </p:sp>
      <p:sp>
        <p:nvSpPr>
          <p:cNvPr id="35" name="Step 2 label"/>
          <p:cNvSpPr txBox="1"/>
          <p:nvPr/>
        </p:nvSpPr>
        <p:spPr>
          <a:xfrm>
            <a:off x="5833872" y="3904488"/>
            <a:ext cx="804672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Annotation validation</a:t>
            </a:r>
            <a:endParaRPr lang="en-US" sz="800" dirty="0"/>
          </a:p>
        </p:txBody>
      </p:sp>
      <p:sp>
        <p:nvSpPr>
          <p:cNvPr id="36" name="Arrow 2"/>
          <p:cNvSpPr txBox="1"/>
          <p:nvPr/>
        </p:nvSpPr>
        <p:spPr>
          <a:xfrm>
            <a:off x="6638544" y="3904488"/>
            <a:ext cx="182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A9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100" dirty="0"/>
          </a:p>
        </p:txBody>
      </p:sp>
      <p:sp>
        <p:nvSpPr>
          <p:cNvPr id="37" name="Step 3"/>
          <p:cNvSpPr/>
          <p:nvPr/>
        </p:nvSpPr>
        <p:spPr>
          <a:xfrm>
            <a:off x="6821424" y="3904488"/>
            <a:ext cx="804672" cy="566928"/>
          </a:xfrm>
          <a:prstGeom prst="roundRect">
            <a:avLst>
              <a:gd name="adj" fmla="val 9677"/>
            </a:avLst>
          </a:prstGeom>
          <a:solidFill>
            <a:srgbClr val="4B3BC4"/>
          </a:solidFill>
          <a:ln w="12700">
            <a:solidFill>
              <a:srgbClr val="8A7BFF"/>
            </a:solidFill>
            <a:prstDash val="solid"/>
          </a:ln>
        </p:spPr>
      </p:sp>
      <p:sp>
        <p:nvSpPr>
          <p:cNvPr id="38" name="Step 3 label"/>
          <p:cNvSpPr txBox="1"/>
          <p:nvPr/>
        </p:nvSpPr>
        <p:spPr>
          <a:xfrm>
            <a:off x="6821424" y="3904488"/>
            <a:ext cx="804672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Class mapping</a:t>
            </a:r>
            <a:endParaRPr lang="en-US" sz="800" dirty="0"/>
          </a:p>
        </p:txBody>
      </p:sp>
      <p:sp>
        <p:nvSpPr>
          <p:cNvPr id="39" name="Arrow 3"/>
          <p:cNvSpPr txBox="1"/>
          <p:nvPr/>
        </p:nvSpPr>
        <p:spPr>
          <a:xfrm>
            <a:off x="7626096" y="3904488"/>
            <a:ext cx="182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A9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100" dirty="0"/>
          </a:p>
        </p:txBody>
      </p:sp>
      <p:sp>
        <p:nvSpPr>
          <p:cNvPr id="40" name="Step 4"/>
          <p:cNvSpPr/>
          <p:nvPr/>
        </p:nvSpPr>
        <p:spPr>
          <a:xfrm>
            <a:off x="7808976" y="3904488"/>
            <a:ext cx="804672" cy="566928"/>
          </a:xfrm>
          <a:prstGeom prst="roundRect">
            <a:avLst>
              <a:gd name="adj" fmla="val 9677"/>
            </a:avLst>
          </a:prstGeom>
          <a:solidFill>
            <a:srgbClr val="4B3BC4"/>
          </a:solidFill>
          <a:ln w="12700">
            <a:solidFill>
              <a:srgbClr val="8A7BFF"/>
            </a:solidFill>
            <a:prstDash val="solid"/>
          </a:ln>
        </p:spPr>
      </p:sp>
      <p:sp>
        <p:nvSpPr>
          <p:cNvPr id="41" name="Step 4 label"/>
          <p:cNvSpPr txBox="1"/>
          <p:nvPr/>
        </p:nvSpPr>
        <p:spPr>
          <a:xfrm>
            <a:off x="7808976" y="3904488"/>
            <a:ext cx="804672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Train / val / test split</a:t>
            </a:r>
            <a:endParaRPr lang="en-US" sz="800" dirty="0"/>
          </a:p>
        </p:txBody>
      </p:sp>
      <p:sp>
        <p:nvSpPr>
          <p:cNvPr id="42" name="Page number"/>
          <p:cNvSpPr txBox="1"/>
          <p:nvPr/>
        </p:nvSpPr>
        <p:spPr>
          <a:xfrm>
            <a:off x="777240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A9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Page 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and image" descr="/home/claude/ha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1480"/>
            <a:ext cx="2834640" cy="1078992"/>
          </a:xfrm>
          <a:prstGeom prst="rect">
            <a:avLst/>
          </a:prstGeom>
        </p:spPr>
      </p:pic>
      <p:sp>
        <p:nvSpPr>
          <p:cNvPr id="3" name="Image frame"/>
          <p:cNvSpPr/>
          <p:nvPr/>
        </p:nvSpPr>
        <p:spPr>
          <a:xfrm>
            <a:off x="457200" y="411480"/>
            <a:ext cx="2834640" cy="1078992"/>
          </a:xfrm>
          <a:prstGeom prst="roundRect">
            <a:avLst>
              <a:gd name="adj" fmla="val 10169"/>
            </a:avLst>
          </a:prstGeom>
          <a:ln w="25400">
            <a:solidFill>
              <a:srgbClr val="6C5CE7"/>
            </a:solidFill>
            <a:prstDash val="solid"/>
          </a:ln>
        </p:spPr>
      </p:sp>
      <p:pic>
        <p:nvPicPr>
          <p:cNvPr id="4" name="Logo" descr="/home/claude/logo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83080"/>
            <a:ext cx="384048" cy="384048"/>
          </a:xfrm>
          <a:prstGeom prst="rect">
            <a:avLst/>
          </a:prstGeom>
        </p:spPr>
      </p:pic>
      <p:sp>
        <p:nvSpPr>
          <p:cNvPr id="5" name="Title"/>
          <p:cNvSpPr txBox="1"/>
          <p:nvPr/>
        </p:nvSpPr>
        <p:spPr>
          <a:xfrm>
            <a:off x="457200" y="228600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Augmentation &amp; Preprocessing</a:t>
            </a:r>
            <a:endParaRPr lang="en-US" sz="2600" dirty="0"/>
          </a:p>
        </p:txBody>
      </p:sp>
      <p:sp>
        <p:nvSpPr>
          <p:cNvPr id="6" name="Cleaning chevron"/>
          <p:cNvSpPr txBox="1"/>
          <p:nvPr/>
        </p:nvSpPr>
        <p:spPr>
          <a:xfrm>
            <a:off x="3749040" y="365760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D8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›</a:t>
            </a:r>
            <a:endParaRPr lang="en-US" sz="1600" dirty="0"/>
          </a:p>
        </p:txBody>
      </p:sp>
      <p:sp>
        <p:nvSpPr>
          <p:cNvPr id="7" name="Cleaning heading"/>
          <p:cNvSpPr txBox="1"/>
          <p:nvPr/>
        </p:nvSpPr>
        <p:spPr>
          <a:xfrm>
            <a:off x="4023360" y="36576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Cleaning</a:t>
            </a:r>
            <a:endParaRPr lang="en-US" sz="1100" dirty="0"/>
          </a:p>
        </p:txBody>
      </p:sp>
      <p:sp>
        <p:nvSpPr>
          <p:cNvPr id="8" name="Cleaning text"/>
          <p:cNvSpPr txBox="1"/>
          <p:nvPr/>
        </p:nvSpPr>
        <p:spPr>
          <a:xfrm>
            <a:off x="4023360" y="612648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DD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Removed invalid, unsuitable, and inconsistent samples.</a:t>
            </a:r>
            <a:endParaRPr lang="en-US" sz="900" dirty="0"/>
          </a:p>
        </p:txBody>
      </p:sp>
      <p:sp>
        <p:nvSpPr>
          <p:cNvPr id="9" name="Validation chevron"/>
          <p:cNvSpPr txBox="1"/>
          <p:nvPr/>
        </p:nvSpPr>
        <p:spPr>
          <a:xfrm>
            <a:off x="3749040" y="1005840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D8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›</a:t>
            </a:r>
            <a:endParaRPr lang="en-US" sz="1600" dirty="0"/>
          </a:p>
        </p:txBody>
      </p:sp>
      <p:sp>
        <p:nvSpPr>
          <p:cNvPr id="10" name="Validation heading"/>
          <p:cNvSpPr txBox="1"/>
          <p:nvPr/>
        </p:nvSpPr>
        <p:spPr>
          <a:xfrm>
            <a:off x="4023360" y="100584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Annotation Validation</a:t>
            </a:r>
            <a:endParaRPr lang="en-US" sz="1100" dirty="0"/>
          </a:p>
        </p:txBody>
      </p:sp>
      <p:sp>
        <p:nvSpPr>
          <p:cNvPr id="11" name="Validation text"/>
          <p:cNvSpPr txBox="1"/>
          <p:nvPr/>
        </p:nvSpPr>
        <p:spPr>
          <a:xfrm>
            <a:off x="4023360" y="1252728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DD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Verified YOLO bounding-box annotations and class mappings.</a:t>
            </a:r>
            <a:endParaRPr lang="en-US" sz="900" dirty="0"/>
          </a:p>
        </p:txBody>
      </p:sp>
      <p:sp>
        <p:nvSpPr>
          <p:cNvPr id="12" name="Augmentation chevron"/>
          <p:cNvSpPr txBox="1"/>
          <p:nvPr/>
        </p:nvSpPr>
        <p:spPr>
          <a:xfrm>
            <a:off x="3749040" y="1645920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D8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›</a:t>
            </a:r>
            <a:endParaRPr lang="en-US" sz="1600" dirty="0"/>
          </a:p>
        </p:txBody>
      </p:sp>
      <p:sp>
        <p:nvSpPr>
          <p:cNvPr id="13" name="Augmentation heading"/>
          <p:cNvSpPr txBox="1"/>
          <p:nvPr/>
        </p:nvSpPr>
        <p:spPr>
          <a:xfrm>
            <a:off x="4023360" y="164592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Augmentation</a:t>
            </a:r>
            <a:endParaRPr lang="en-US" sz="1100" dirty="0"/>
          </a:p>
        </p:txBody>
      </p:sp>
      <p:sp>
        <p:nvSpPr>
          <p:cNvPr id="14" name="Augmentation text"/>
          <p:cNvSpPr txBox="1"/>
          <p:nvPr/>
        </p:nvSpPr>
        <p:spPr>
          <a:xfrm>
            <a:off x="4023360" y="1892808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DD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Applied geometric and visual transformations to improve model generalization.</a:t>
            </a:r>
            <a:endParaRPr lang="en-US" sz="900" dirty="0"/>
          </a:p>
        </p:txBody>
      </p:sp>
      <p:sp>
        <p:nvSpPr>
          <p:cNvPr id="15" name="Condition chevron"/>
          <p:cNvSpPr txBox="1"/>
          <p:nvPr/>
        </p:nvSpPr>
        <p:spPr>
          <a:xfrm>
            <a:off x="3749040" y="2286000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D8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›</a:t>
            </a:r>
            <a:endParaRPr lang="en-US" sz="1600" dirty="0"/>
          </a:p>
        </p:txBody>
      </p:sp>
      <p:sp>
        <p:nvSpPr>
          <p:cNvPr id="16" name="Condition heading"/>
          <p:cNvSpPr txBox="1"/>
          <p:nvPr/>
        </p:nvSpPr>
        <p:spPr>
          <a:xfrm>
            <a:off x="4023360" y="228600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Condition-Specific Preprocessing</a:t>
            </a:r>
            <a:endParaRPr lang="en-US" sz="1100" dirty="0"/>
          </a:p>
        </p:txBody>
      </p:sp>
      <p:sp>
        <p:nvSpPr>
          <p:cNvPr id="17" name="Condition text"/>
          <p:cNvSpPr txBox="1"/>
          <p:nvPr/>
        </p:nvSpPr>
        <p:spPr>
          <a:xfrm>
            <a:off x="4023360" y="2532888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8" name="Low-Light chip"/>
          <p:cNvSpPr/>
          <p:nvPr/>
        </p:nvSpPr>
        <p:spPr>
          <a:xfrm>
            <a:off x="3749040" y="2651760"/>
            <a:ext cx="1572768" cy="566928"/>
          </a:xfrm>
          <a:prstGeom prst="rect">
            <a:avLst/>
          </a:prstGeom>
          <a:solidFill>
            <a:srgbClr val="2A1D7A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9" name="Low-Light text"/>
          <p:cNvSpPr txBox="1"/>
          <p:nvPr/>
        </p:nvSpPr>
        <p:spPr>
          <a:xfrm>
            <a:off x="3822192" y="2651760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Low-Light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DDD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Gamma Correction + CLAHE</a:t>
            </a:r>
            <a:endParaRPr lang="en-US" sz="900" dirty="0"/>
          </a:p>
        </p:txBody>
      </p:sp>
      <p:sp>
        <p:nvSpPr>
          <p:cNvPr id="20" name="Fog chip"/>
          <p:cNvSpPr/>
          <p:nvPr/>
        </p:nvSpPr>
        <p:spPr>
          <a:xfrm>
            <a:off x="5431536" y="2651760"/>
            <a:ext cx="1572768" cy="566928"/>
          </a:xfrm>
          <a:prstGeom prst="rect">
            <a:avLst/>
          </a:prstGeom>
          <a:solidFill>
            <a:srgbClr val="2A1D7A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21" name="Fog text"/>
          <p:cNvSpPr txBox="1"/>
          <p:nvPr/>
        </p:nvSpPr>
        <p:spPr>
          <a:xfrm>
            <a:off x="5504688" y="2651760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Fog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DDD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Dehazing + CLAHE</a:t>
            </a:r>
            <a:endParaRPr lang="en-US" sz="900" dirty="0"/>
          </a:p>
        </p:txBody>
      </p:sp>
      <p:sp>
        <p:nvSpPr>
          <p:cNvPr id="22" name="Rain chip"/>
          <p:cNvSpPr/>
          <p:nvPr/>
        </p:nvSpPr>
        <p:spPr>
          <a:xfrm>
            <a:off x="7114032" y="2651760"/>
            <a:ext cx="1572768" cy="566928"/>
          </a:xfrm>
          <a:prstGeom prst="rect">
            <a:avLst/>
          </a:prstGeom>
          <a:solidFill>
            <a:srgbClr val="2A1D7A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23" name="Rain text"/>
          <p:cNvSpPr txBox="1"/>
          <p:nvPr/>
        </p:nvSpPr>
        <p:spPr>
          <a:xfrm>
            <a:off x="7187184" y="2651760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Rain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DDD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Deraining</a:t>
            </a:r>
            <a:endParaRPr lang="en-US" sz="900" dirty="0"/>
          </a:p>
        </p:txBody>
      </p:sp>
      <p:sp>
        <p:nvSpPr>
          <p:cNvPr id="24" name="Snow chip"/>
          <p:cNvSpPr/>
          <p:nvPr/>
        </p:nvSpPr>
        <p:spPr>
          <a:xfrm>
            <a:off x="3749040" y="3310128"/>
            <a:ext cx="1572768" cy="566928"/>
          </a:xfrm>
          <a:prstGeom prst="rect">
            <a:avLst/>
          </a:prstGeom>
          <a:solidFill>
            <a:srgbClr val="2A1D7A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25" name="Snow text"/>
          <p:cNvSpPr txBox="1"/>
          <p:nvPr/>
        </p:nvSpPr>
        <p:spPr>
          <a:xfrm>
            <a:off x="3822192" y="3310128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Snow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DDD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Restoration</a:t>
            </a:r>
            <a:endParaRPr lang="en-US" sz="900" dirty="0"/>
          </a:p>
        </p:txBody>
      </p:sp>
      <p:sp>
        <p:nvSpPr>
          <p:cNvPr id="26" name="Sand-Dust chip"/>
          <p:cNvSpPr/>
          <p:nvPr/>
        </p:nvSpPr>
        <p:spPr>
          <a:xfrm>
            <a:off x="5431536" y="3310128"/>
            <a:ext cx="1572768" cy="566928"/>
          </a:xfrm>
          <a:prstGeom prst="rect">
            <a:avLst/>
          </a:prstGeom>
          <a:solidFill>
            <a:srgbClr val="2A1D7A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27" name="Sand-Dust text"/>
          <p:cNvSpPr txBox="1"/>
          <p:nvPr/>
        </p:nvSpPr>
        <p:spPr>
          <a:xfrm>
            <a:off x="5504688" y="3310128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Sand-Dust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DDD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Visibility Enhancement + Bilateral Filtering</a:t>
            </a:r>
            <a:endParaRPr lang="en-US" sz="900" dirty="0"/>
          </a:p>
        </p:txBody>
      </p:sp>
      <p:sp>
        <p:nvSpPr>
          <p:cNvPr id="28" name="Normal chip"/>
          <p:cNvSpPr/>
          <p:nvPr/>
        </p:nvSpPr>
        <p:spPr>
          <a:xfrm>
            <a:off x="7114032" y="3310128"/>
            <a:ext cx="1572768" cy="566928"/>
          </a:xfrm>
          <a:prstGeom prst="rect">
            <a:avLst/>
          </a:prstGeom>
          <a:solidFill>
            <a:srgbClr val="2A1D7A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29" name="Normal text"/>
          <p:cNvSpPr txBox="1"/>
          <p:nvPr/>
        </p:nvSpPr>
        <p:spPr>
          <a:xfrm>
            <a:off x="7187184" y="3310128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Normal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DDD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Original image</a:t>
            </a:r>
            <a:endParaRPr lang="en-US" sz="900" dirty="0"/>
          </a:p>
        </p:txBody>
      </p:sp>
      <p:sp>
        <p:nvSpPr>
          <p:cNvPr id="30" name="Super-resolution chevron"/>
          <p:cNvSpPr txBox="1"/>
          <p:nvPr/>
        </p:nvSpPr>
        <p:spPr>
          <a:xfrm>
            <a:off x="3749040" y="3977640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D8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›</a:t>
            </a:r>
            <a:endParaRPr lang="en-US" sz="1600" dirty="0"/>
          </a:p>
        </p:txBody>
      </p:sp>
      <p:sp>
        <p:nvSpPr>
          <p:cNvPr id="31" name="Super-resolution heading"/>
          <p:cNvSpPr txBox="1"/>
          <p:nvPr/>
        </p:nvSpPr>
        <p:spPr>
          <a:xfrm>
            <a:off x="4023360" y="397764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Super-Resolution</a:t>
            </a:r>
            <a:endParaRPr lang="en-US" sz="1100" dirty="0"/>
          </a:p>
        </p:txBody>
      </p:sp>
      <p:sp>
        <p:nvSpPr>
          <p:cNvPr id="32" name="Super-resolution text"/>
          <p:cNvSpPr txBox="1"/>
          <p:nvPr/>
        </p:nvSpPr>
        <p:spPr>
          <a:xfrm>
            <a:off x="4023360" y="4224528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DD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ESRGAN applied after condition-specific preprocessing to recover fine image details.</a:t>
            </a:r>
            <a:endParaRPr lang="en-US" sz="900" dirty="0"/>
          </a:p>
        </p:txBody>
      </p:sp>
      <p:sp>
        <p:nvSpPr>
          <p:cNvPr id="33" name="Page number"/>
          <p:cNvSpPr txBox="1"/>
          <p:nvPr/>
        </p:nvSpPr>
        <p:spPr>
          <a:xfrm>
            <a:off x="777240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A9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Page 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 Architecture &amp; Backbone</a:t>
            </a:r>
            <a:endParaRPr lang="en-US" sz="2600" dirty="0"/>
          </a:p>
        </p:txBody>
      </p:sp>
      <p:pic>
        <p:nvPicPr>
          <p:cNvPr id="3" name="Logo" descr="/home/claude/logo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74320"/>
            <a:ext cx="411480" cy="411480"/>
          </a:xfrm>
          <a:prstGeom prst="rect">
            <a:avLst/>
          </a:prstGeom>
        </p:spPr>
      </p:pic>
      <p:sp>
        <p:nvSpPr>
          <p:cNvPr id="4" name="Classification card"/>
          <p:cNvSpPr/>
          <p:nvPr/>
        </p:nvSpPr>
        <p:spPr>
          <a:xfrm>
            <a:off x="457200" y="1005840"/>
            <a:ext cx="2651760" cy="2011680"/>
          </a:xfrm>
          <a:prstGeom prst="rect">
            <a:avLst/>
          </a:prstGeom>
          <a:solidFill>
            <a:srgbClr val="4030B8"/>
          </a:solidFill>
          <a:ln w="12700">
            <a:solidFill>
              <a:srgbClr val="7B6CFF"/>
            </a:solidFill>
            <a:prstDash val="solid"/>
          </a:ln>
        </p:spPr>
      </p:sp>
      <p:pic>
        <p:nvPicPr>
          <p:cNvPr id="5" name="Classification icon" descr="/home/claude/ic_FaCloudSu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1133856"/>
            <a:ext cx="292608" cy="292608"/>
          </a:xfrm>
          <a:prstGeom prst="rect">
            <a:avLst/>
          </a:prstGeom>
        </p:spPr>
      </p:pic>
      <p:sp>
        <p:nvSpPr>
          <p:cNvPr id="6" name="Classification heading"/>
          <p:cNvSpPr txBox="1"/>
          <p:nvPr/>
        </p:nvSpPr>
        <p:spPr>
          <a:xfrm>
            <a:off x="621792" y="111556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Condition Classification</a:t>
            </a:r>
            <a:endParaRPr lang="en-US" sz="1150" dirty="0"/>
          </a:p>
        </p:txBody>
      </p:sp>
      <p:sp>
        <p:nvSpPr>
          <p:cNvPr id="7" name="Classification text"/>
          <p:cNvSpPr txBox="1"/>
          <p:nvPr/>
        </p:nvSpPr>
        <p:spPr>
          <a:xfrm>
            <a:off x="621792" y="1627632"/>
            <a:ext cx="23500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4E0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EfficientNet-B0 used as the condition classification model.</a:t>
            </a:r>
            <a:endParaRPr lang="en-US" sz="10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4E0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Classifies images into 6 environmental conditions.</a:t>
            </a:r>
            <a:endParaRPr lang="en-US" sz="10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4E0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Input resolution: 224 × 224.</a:t>
            </a:r>
            <a:endParaRPr lang="en-US" sz="1000" dirty="0"/>
          </a:p>
        </p:txBody>
      </p:sp>
      <p:sp>
        <p:nvSpPr>
          <p:cNvPr id="8" name="Detection card"/>
          <p:cNvSpPr/>
          <p:nvPr/>
        </p:nvSpPr>
        <p:spPr>
          <a:xfrm>
            <a:off x="3246120" y="1005840"/>
            <a:ext cx="2651760" cy="2011680"/>
          </a:xfrm>
          <a:prstGeom prst="rect">
            <a:avLst/>
          </a:prstGeom>
          <a:solidFill>
            <a:srgbClr val="4030B8"/>
          </a:solidFill>
          <a:ln w="12700">
            <a:solidFill>
              <a:srgbClr val="7B6CFF"/>
            </a:solidFill>
            <a:prstDash val="solid"/>
          </a:ln>
        </p:spPr>
      </p:sp>
      <p:pic>
        <p:nvPicPr>
          <p:cNvPr id="9" name="Detection icon" descr="/home/claude/ic_FaBullsey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1133856"/>
            <a:ext cx="292608" cy="292608"/>
          </a:xfrm>
          <a:prstGeom prst="rect">
            <a:avLst/>
          </a:prstGeom>
        </p:spPr>
      </p:pic>
      <p:sp>
        <p:nvSpPr>
          <p:cNvPr id="10" name="Detection heading"/>
          <p:cNvSpPr txBox="1"/>
          <p:nvPr/>
        </p:nvSpPr>
        <p:spPr>
          <a:xfrm>
            <a:off x="3410712" y="111556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Object Detection</a:t>
            </a:r>
            <a:endParaRPr lang="en-US" sz="1150" dirty="0"/>
          </a:p>
        </p:txBody>
      </p:sp>
      <p:sp>
        <p:nvSpPr>
          <p:cNvPr id="11" name="Detection text"/>
          <p:cNvSpPr txBox="1"/>
          <p:nvPr/>
        </p:nvSpPr>
        <p:spPr>
          <a:xfrm>
            <a:off x="3410712" y="1627632"/>
            <a:ext cx="23500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4E0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YOLOv8s, YOLO11s and YOLO26s evaluated as detection models.</a:t>
            </a:r>
            <a:endParaRPr lang="en-US" sz="10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4E0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Input resolution: 640 × 640.</a:t>
            </a:r>
            <a:endParaRPr lang="en-US" sz="10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4E0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Detects 7 object classes: Person, Bicycle, Car, Motorcycle, Bus, Train and Truck.</a:t>
            </a:r>
            <a:endParaRPr lang="en-US" sz="1000" dirty="0"/>
          </a:p>
        </p:txBody>
      </p:sp>
      <p:sp>
        <p:nvSpPr>
          <p:cNvPr id="12" name="Optimization card"/>
          <p:cNvSpPr/>
          <p:nvPr/>
        </p:nvSpPr>
        <p:spPr>
          <a:xfrm>
            <a:off x="6035040" y="1005840"/>
            <a:ext cx="2651760" cy="2011680"/>
          </a:xfrm>
          <a:prstGeom prst="rect">
            <a:avLst/>
          </a:prstGeom>
          <a:solidFill>
            <a:srgbClr val="4030B8"/>
          </a:solidFill>
          <a:ln w="12700">
            <a:solidFill>
              <a:srgbClr val="7B6CFF"/>
            </a:solidFill>
            <a:prstDash val="solid"/>
          </a:ln>
        </p:spPr>
      </p:sp>
      <p:pic>
        <p:nvPicPr>
          <p:cNvPr id="13" name="Optimization icon" descr="/home/claude/ic_FaRocke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133856"/>
            <a:ext cx="292608" cy="292608"/>
          </a:xfrm>
          <a:prstGeom prst="rect">
            <a:avLst/>
          </a:prstGeom>
        </p:spPr>
      </p:pic>
      <p:sp>
        <p:nvSpPr>
          <p:cNvPr id="14" name="Optimization heading"/>
          <p:cNvSpPr txBox="1"/>
          <p:nvPr/>
        </p:nvSpPr>
        <p:spPr>
          <a:xfrm>
            <a:off x="6199632" y="111556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Proposed YOLO11 Optimization</a:t>
            </a:r>
            <a:endParaRPr lang="en-US" sz="1150" dirty="0"/>
          </a:p>
        </p:txBody>
      </p:sp>
      <p:sp>
        <p:nvSpPr>
          <p:cNvPr id="15" name="Optimization text"/>
          <p:cNvSpPr txBox="1"/>
          <p:nvPr/>
        </p:nvSpPr>
        <p:spPr>
          <a:xfrm>
            <a:off x="6199632" y="1627632"/>
            <a:ext cx="23500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4E0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Training Optimization</a:t>
            </a:r>
            <a:endParaRPr lang="en-US" sz="10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4E0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Residual SPPF modification</a:t>
            </a:r>
            <a:endParaRPr lang="en-US" sz="10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4E0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SE-inspired Channel Attention</a:t>
            </a:r>
            <a:endParaRPr lang="en-US" sz="10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4E0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Loss-weight Optimization</a:t>
            </a:r>
            <a:endParaRPr lang="en-US" sz="1000" dirty="0"/>
          </a:p>
        </p:txBody>
      </p:sp>
      <p:sp>
        <p:nvSpPr>
          <p:cNvPr id="16" name="Architecture heading"/>
          <p:cNvSpPr txBox="1"/>
          <p:nvPr/>
        </p:nvSpPr>
        <p:spPr>
          <a:xfrm>
            <a:off x="457200" y="32918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Overall Architecture</a:t>
            </a:r>
            <a:endParaRPr lang="en-US" sz="1300" dirty="0"/>
          </a:p>
        </p:txBody>
      </p:sp>
      <p:sp>
        <p:nvSpPr>
          <p:cNvPr id="17" name="Step 1"/>
          <p:cNvSpPr/>
          <p:nvPr/>
        </p:nvSpPr>
        <p:spPr>
          <a:xfrm>
            <a:off x="457200" y="3703320"/>
            <a:ext cx="914400" cy="822960"/>
          </a:xfrm>
          <a:prstGeom prst="rect">
            <a:avLst/>
          </a:prstGeom>
          <a:solidFill>
            <a:srgbClr val="6A58F0"/>
          </a:solidFill>
          <a:ln w="12700">
            <a:solidFill>
              <a:srgbClr val="9D8CFF"/>
            </a:solidFill>
            <a:prstDash val="solid"/>
          </a:ln>
        </p:spPr>
      </p:sp>
      <p:sp>
        <p:nvSpPr>
          <p:cNvPr id="18" name="Step 1 label"/>
          <p:cNvSpPr txBox="1"/>
          <p:nvPr/>
        </p:nvSpPr>
        <p:spPr>
          <a:xfrm>
            <a:off x="457200" y="3703320"/>
            <a:ext cx="91440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Input Image</a:t>
            </a:r>
            <a:endParaRPr lang="en-US" sz="750" dirty="0"/>
          </a:p>
        </p:txBody>
      </p:sp>
      <p:sp>
        <p:nvSpPr>
          <p:cNvPr id="19" name="Arrow 1"/>
          <p:cNvSpPr txBox="1"/>
          <p:nvPr/>
        </p:nvSpPr>
        <p:spPr>
          <a:xfrm>
            <a:off x="1371600" y="3703320"/>
            <a:ext cx="301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A9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Step 2"/>
          <p:cNvSpPr/>
          <p:nvPr/>
        </p:nvSpPr>
        <p:spPr>
          <a:xfrm>
            <a:off x="1673352" y="3703320"/>
            <a:ext cx="914400" cy="822960"/>
          </a:xfrm>
          <a:prstGeom prst="rect">
            <a:avLst/>
          </a:prstGeom>
          <a:solidFill>
            <a:srgbClr val="4030B8"/>
          </a:solidFill>
          <a:ln w="12700">
            <a:solidFill>
              <a:srgbClr val="9D8CFF"/>
            </a:solidFill>
            <a:prstDash val="solid"/>
          </a:ln>
        </p:spPr>
      </p:sp>
      <p:sp>
        <p:nvSpPr>
          <p:cNvPr id="21" name="Step 2 label"/>
          <p:cNvSpPr txBox="1"/>
          <p:nvPr/>
        </p:nvSpPr>
        <p:spPr>
          <a:xfrm>
            <a:off x="1673352" y="3703320"/>
            <a:ext cx="91440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EfficientNet-B0</a:t>
            </a:r>
            <a:endParaRPr lang="en-US" sz="750" dirty="0"/>
          </a:p>
        </p:txBody>
      </p:sp>
      <p:sp>
        <p:nvSpPr>
          <p:cNvPr id="22" name="Arrow 2"/>
          <p:cNvSpPr txBox="1"/>
          <p:nvPr/>
        </p:nvSpPr>
        <p:spPr>
          <a:xfrm>
            <a:off x="2587752" y="3703320"/>
            <a:ext cx="301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A9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300" dirty="0"/>
          </a:p>
        </p:txBody>
      </p:sp>
      <p:sp>
        <p:nvSpPr>
          <p:cNvPr id="23" name="Step 3"/>
          <p:cNvSpPr/>
          <p:nvPr/>
        </p:nvSpPr>
        <p:spPr>
          <a:xfrm>
            <a:off x="2889504" y="3703320"/>
            <a:ext cx="914400" cy="822960"/>
          </a:xfrm>
          <a:prstGeom prst="rect">
            <a:avLst/>
          </a:prstGeom>
          <a:solidFill>
            <a:srgbClr val="4030B8"/>
          </a:solidFill>
          <a:ln w="12700">
            <a:solidFill>
              <a:srgbClr val="9D8CFF"/>
            </a:solidFill>
            <a:prstDash val="solid"/>
          </a:ln>
        </p:spPr>
      </p:sp>
      <p:sp>
        <p:nvSpPr>
          <p:cNvPr id="24" name="Step 3 label"/>
          <p:cNvSpPr txBox="1"/>
          <p:nvPr/>
        </p:nvSpPr>
        <p:spPr>
          <a:xfrm>
            <a:off x="2889504" y="3703320"/>
            <a:ext cx="91440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Condition Classification</a:t>
            </a:r>
            <a:endParaRPr lang="en-US" sz="750" dirty="0"/>
          </a:p>
        </p:txBody>
      </p:sp>
      <p:sp>
        <p:nvSpPr>
          <p:cNvPr id="25" name="Arrow 3"/>
          <p:cNvSpPr txBox="1"/>
          <p:nvPr/>
        </p:nvSpPr>
        <p:spPr>
          <a:xfrm>
            <a:off x="3803904" y="3703320"/>
            <a:ext cx="301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A9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300" dirty="0"/>
          </a:p>
        </p:txBody>
      </p:sp>
      <p:sp>
        <p:nvSpPr>
          <p:cNvPr id="26" name="Step 4"/>
          <p:cNvSpPr/>
          <p:nvPr/>
        </p:nvSpPr>
        <p:spPr>
          <a:xfrm>
            <a:off x="4105656" y="3703320"/>
            <a:ext cx="914400" cy="822960"/>
          </a:xfrm>
          <a:prstGeom prst="rect">
            <a:avLst/>
          </a:prstGeom>
          <a:solidFill>
            <a:srgbClr val="4030B8"/>
          </a:solidFill>
          <a:ln w="12700">
            <a:solidFill>
              <a:srgbClr val="9D8CFF"/>
            </a:solidFill>
            <a:prstDash val="solid"/>
          </a:ln>
        </p:spPr>
      </p:sp>
      <p:sp>
        <p:nvSpPr>
          <p:cNvPr id="27" name="Step 4 label"/>
          <p:cNvSpPr txBox="1"/>
          <p:nvPr/>
        </p:nvSpPr>
        <p:spPr>
          <a:xfrm>
            <a:off x="4105656" y="3703320"/>
            <a:ext cx="91440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Adaptive Preprocessing</a:t>
            </a:r>
            <a:endParaRPr lang="en-US" sz="750" dirty="0"/>
          </a:p>
        </p:txBody>
      </p:sp>
      <p:sp>
        <p:nvSpPr>
          <p:cNvPr id="28" name="Arrow 4"/>
          <p:cNvSpPr txBox="1"/>
          <p:nvPr/>
        </p:nvSpPr>
        <p:spPr>
          <a:xfrm>
            <a:off x="5020056" y="3703320"/>
            <a:ext cx="301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A9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300" dirty="0"/>
          </a:p>
        </p:txBody>
      </p:sp>
      <p:sp>
        <p:nvSpPr>
          <p:cNvPr id="29" name="Step 5"/>
          <p:cNvSpPr/>
          <p:nvPr/>
        </p:nvSpPr>
        <p:spPr>
          <a:xfrm>
            <a:off x="5321808" y="3703320"/>
            <a:ext cx="914400" cy="822960"/>
          </a:xfrm>
          <a:prstGeom prst="rect">
            <a:avLst/>
          </a:prstGeom>
          <a:solidFill>
            <a:srgbClr val="4030B8"/>
          </a:solidFill>
          <a:ln w="12700">
            <a:solidFill>
              <a:srgbClr val="9D8CFF"/>
            </a:solidFill>
            <a:prstDash val="solid"/>
          </a:ln>
        </p:spPr>
      </p:sp>
      <p:sp>
        <p:nvSpPr>
          <p:cNvPr id="30" name="Step 5 label"/>
          <p:cNvSpPr txBox="1"/>
          <p:nvPr/>
        </p:nvSpPr>
        <p:spPr>
          <a:xfrm>
            <a:off x="5321808" y="3703320"/>
            <a:ext cx="91440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ESRGAN</a:t>
            </a:r>
            <a:endParaRPr lang="en-US" sz="750" dirty="0"/>
          </a:p>
        </p:txBody>
      </p:sp>
      <p:sp>
        <p:nvSpPr>
          <p:cNvPr id="31" name="Arrow 5"/>
          <p:cNvSpPr txBox="1"/>
          <p:nvPr/>
        </p:nvSpPr>
        <p:spPr>
          <a:xfrm>
            <a:off x="6236208" y="3703320"/>
            <a:ext cx="301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A9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300" dirty="0"/>
          </a:p>
        </p:txBody>
      </p:sp>
      <p:sp>
        <p:nvSpPr>
          <p:cNvPr id="32" name="Step 6"/>
          <p:cNvSpPr/>
          <p:nvPr/>
        </p:nvSpPr>
        <p:spPr>
          <a:xfrm>
            <a:off x="6537960" y="3703320"/>
            <a:ext cx="914400" cy="822960"/>
          </a:xfrm>
          <a:prstGeom prst="rect">
            <a:avLst/>
          </a:prstGeom>
          <a:solidFill>
            <a:srgbClr val="4030B8"/>
          </a:solidFill>
          <a:ln w="12700">
            <a:solidFill>
              <a:srgbClr val="9D8CFF"/>
            </a:solidFill>
            <a:prstDash val="solid"/>
          </a:ln>
        </p:spPr>
      </p:sp>
      <p:sp>
        <p:nvSpPr>
          <p:cNvPr id="33" name="Step 6 label"/>
          <p:cNvSpPr txBox="1"/>
          <p:nvPr/>
        </p:nvSpPr>
        <p:spPr>
          <a:xfrm>
            <a:off x="6537960" y="3703320"/>
            <a:ext cx="91440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YOLO Detector</a:t>
            </a:r>
            <a:endParaRPr lang="en-US" sz="750" dirty="0"/>
          </a:p>
        </p:txBody>
      </p:sp>
      <p:sp>
        <p:nvSpPr>
          <p:cNvPr id="34" name="Arrow 6"/>
          <p:cNvSpPr txBox="1"/>
          <p:nvPr/>
        </p:nvSpPr>
        <p:spPr>
          <a:xfrm>
            <a:off x="7452360" y="3703320"/>
            <a:ext cx="301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A9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300" dirty="0"/>
          </a:p>
        </p:txBody>
      </p:sp>
      <p:sp>
        <p:nvSpPr>
          <p:cNvPr id="35" name="Step 7"/>
          <p:cNvSpPr/>
          <p:nvPr/>
        </p:nvSpPr>
        <p:spPr>
          <a:xfrm>
            <a:off x="7754112" y="3703320"/>
            <a:ext cx="914400" cy="822960"/>
          </a:xfrm>
          <a:prstGeom prst="rect">
            <a:avLst/>
          </a:prstGeom>
          <a:solidFill>
            <a:srgbClr val="6A58F0"/>
          </a:solidFill>
          <a:ln w="12700">
            <a:solidFill>
              <a:srgbClr val="9D8CFF"/>
            </a:solidFill>
            <a:prstDash val="solid"/>
          </a:ln>
        </p:spPr>
      </p:sp>
      <p:sp>
        <p:nvSpPr>
          <p:cNvPr id="36" name="Step 7 label"/>
          <p:cNvSpPr txBox="1"/>
          <p:nvPr/>
        </p:nvSpPr>
        <p:spPr>
          <a:xfrm>
            <a:off x="7754112" y="3703320"/>
            <a:ext cx="91440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Object Detection</a:t>
            </a:r>
            <a:endParaRPr lang="en-US" sz="750" dirty="0"/>
          </a:p>
        </p:txBody>
      </p:sp>
      <p:sp>
        <p:nvSpPr>
          <p:cNvPr id="37" name="Page number"/>
          <p:cNvSpPr txBox="1"/>
          <p:nvPr/>
        </p:nvSpPr>
        <p:spPr>
          <a:xfrm>
            <a:off x="777240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A9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Page 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nner" descr="/home/claude/banner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14400"/>
          </a:xfrm>
          <a:prstGeom prst="rect">
            <a:avLst/>
          </a:prstGeom>
        </p:spPr>
      </p:pic>
      <p:pic>
        <p:nvPicPr>
          <p:cNvPr id="3" name="Logo" descr="/home/claude/logo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347472" cy="347472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457200" y="155448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Training Setup &amp; Loss Functions</a:t>
            </a:r>
            <a:endParaRPr lang="en-US" sz="2200" dirty="0"/>
          </a:p>
        </p:txBody>
      </p:sp>
      <p:sp>
        <p:nvSpPr>
          <p:cNvPr id="5" name="Objective card"/>
          <p:cNvSpPr/>
          <p:nvPr/>
        </p:nvSpPr>
        <p:spPr>
          <a:xfrm>
            <a:off x="457200" y="3291840"/>
            <a:ext cx="2651760" cy="1435608"/>
          </a:xfrm>
          <a:prstGeom prst="rect">
            <a:avLst/>
          </a:prstGeom>
          <a:solidFill>
            <a:srgbClr val="2A1D7A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6" name="Objective heading"/>
          <p:cNvSpPr txBox="1"/>
          <p:nvPr/>
        </p:nvSpPr>
        <p:spPr>
          <a:xfrm>
            <a:off x="594360" y="3383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Training Objective</a:t>
            </a:r>
            <a:endParaRPr lang="en-US" sz="1100" dirty="0"/>
          </a:p>
        </p:txBody>
      </p:sp>
      <p:sp>
        <p:nvSpPr>
          <p:cNvPr id="7" name="Objective text"/>
          <p:cNvSpPr txBox="1"/>
          <p:nvPr/>
        </p:nvSpPr>
        <p:spPr>
          <a:xfrm>
            <a:off x="594360" y="37033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DD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Optimize localization and classification losses to improve detection precision, recall, and overall mAP.</a:t>
            </a:r>
            <a:endParaRPr lang="en-US" sz="1000" dirty="0"/>
          </a:p>
        </p:txBody>
      </p:sp>
      <p:sp>
        <p:nvSpPr>
          <p:cNvPr id="8" name="Setup heading"/>
          <p:cNvSpPr txBox="1"/>
          <p:nvPr/>
        </p:nvSpPr>
        <p:spPr>
          <a:xfrm>
            <a:off x="3383280" y="10972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Training Setup</a:t>
            </a:r>
            <a:endParaRPr lang="en-US" sz="1300" dirty="0"/>
          </a:p>
        </p:txBody>
      </p:sp>
      <p:sp>
        <p:nvSpPr>
          <p:cNvPr id="9" name="Framework chip"/>
          <p:cNvSpPr/>
          <p:nvPr/>
        </p:nvSpPr>
        <p:spPr>
          <a:xfrm>
            <a:off x="3383280" y="1444752"/>
            <a:ext cx="1691640" cy="530352"/>
          </a:xfrm>
          <a:prstGeom prst="rect">
            <a:avLst/>
          </a:prstGeom>
          <a:solidFill>
            <a:srgbClr val="2A1D7A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0" name="Framework text"/>
          <p:cNvSpPr txBox="1"/>
          <p:nvPr/>
        </p:nvSpPr>
        <p:spPr>
          <a:xfrm>
            <a:off x="3456432" y="1444752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A9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Framework</a:t>
            </a:r>
            <a:endParaRPr lang="en-US" sz="8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Ultralytics YOLO</a:t>
            </a:r>
            <a:endParaRPr lang="en-US" sz="800" dirty="0"/>
          </a:p>
        </p:txBody>
      </p:sp>
      <p:sp>
        <p:nvSpPr>
          <p:cNvPr id="11" name="Optimizer chip"/>
          <p:cNvSpPr/>
          <p:nvPr/>
        </p:nvSpPr>
        <p:spPr>
          <a:xfrm>
            <a:off x="5189220" y="1444752"/>
            <a:ext cx="1691640" cy="530352"/>
          </a:xfrm>
          <a:prstGeom prst="rect">
            <a:avLst/>
          </a:prstGeom>
          <a:solidFill>
            <a:srgbClr val="2A1D7A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2" name="Optimizer text"/>
          <p:cNvSpPr txBox="1"/>
          <p:nvPr/>
        </p:nvSpPr>
        <p:spPr>
          <a:xfrm>
            <a:off x="5262372" y="1444752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A9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Optimizer</a:t>
            </a:r>
            <a:endParaRPr lang="en-US" sz="8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AdamW</a:t>
            </a:r>
            <a:endParaRPr lang="en-US" sz="800" dirty="0"/>
          </a:p>
        </p:txBody>
      </p:sp>
      <p:sp>
        <p:nvSpPr>
          <p:cNvPr id="13" name="Initial Learning Rate chip"/>
          <p:cNvSpPr/>
          <p:nvPr/>
        </p:nvSpPr>
        <p:spPr>
          <a:xfrm>
            <a:off x="6995160" y="1444752"/>
            <a:ext cx="1691640" cy="530352"/>
          </a:xfrm>
          <a:prstGeom prst="rect">
            <a:avLst/>
          </a:prstGeom>
          <a:solidFill>
            <a:srgbClr val="2A1D7A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4" name="Initial Learning Rate text"/>
          <p:cNvSpPr txBox="1"/>
          <p:nvPr/>
        </p:nvSpPr>
        <p:spPr>
          <a:xfrm>
            <a:off x="7068312" y="1444752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A9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Initial Learning Rate</a:t>
            </a:r>
            <a:endParaRPr lang="en-US" sz="8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0.001</a:t>
            </a:r>
            <a:endParaRPr lang="en-US" sz="800" dirty="0"/>
          </a:p>
        </p:txBody>
      </p:sp>
      <p:sp>
        <p:nvSpPr>
          <p:cNvPr id="15" name="Epochs chip"/>
          <p:cNvSpPr/>
          <p:nvPr/>
        </p:nvSpPr>
        <p:spPr>
          <a:xfrm>
            <a:off x="3383280" y="2048256"/>
            <a:ext cx="1691640" cy="530352"/>
          </a:xfrm>
          <a:prstGeom prst="rect">
            <a:avLst/>
          </a:prstGeom>
          <a:solidFill>
            <a:srgbClr val="2A1D7A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6" name="Epochs text"/>
          <p:cNvSpPr txBox="1"/>
          <p:nvPr/>
        </p:nvSpPr>
        <p:spPr>
          <a:xfrm>
            <a:off x="3456432" y="2048256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A9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Epochs</a:t>
            </a:r>
            <a:endParaRPr lang="en-US" sz="8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100</a:t>
            </a:r>
            <a:endParaRPr lang="en-US" sz="800" dirty="0"/>
          </a:p>
        </p:txBody>
      </p:sp>
      <p:sp>
        <p:nvSpPr>
          <p:cNvPr id="17" name="Batch Size chip"/>
          <p:cNvSpPr/>
          <p:nvPr/>
        </p:nvSpPr>
        <p:spPr>
          <a:xfrm>
            <a:off x="5189220" y="2048256"/>
            <a:ext cx="1691640" cy="530352"/>
          </a:xfrm>
          <a:prstGeom prst="rect">
            <a:avLst/>
          </a:prstGeom>
          <a:solidFill>
            <a:srgbClr val="2A1D7A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8" name="Batch Size text"/>
          <p:cNvSpPr txBox="1"/>
          <p:nvPr/>
        </p:nvSpPr>
        <p:spPr>
          <a:xfrm>
            <a:off x="5262372" y="2048256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A9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Batch Size</a:t>
            </a:r>
            <a:endParaRPr lang="en-US" sz="8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</a:t>
            </a:r>
            <a:endParaRPr lang="en-US" sz="800" dirty="0"/>
          </a:p>
        </p:txBody>
      </p:sp>
      <p:sp>
        <p:nvSpPr>
          <p:cNvPr id="19" name="Input Size chip"/>
          <p:cNvSpPr/>
          <p:nvPr/>
        </p:nvSpPr>
        <p:spPr>
          <a:xfrm>
            <a:off x="6995160" y="2048256"/>
            <a:ext cx="1691640" cy="530352"/>
          </a:xfrm>
          <a:prstGeom prst="rect">
            <a:avLst/>
          </a:prstGeom>
          <a:solidFill>
            <a:srgbClr val="2A1D7A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20" name="Input Size text"/>
          <p:cNvSpPr txBox="1"/>
          <p:nvPr/>
        </p:nvSpPr>
        <p:spPr>
          <a:xfrm>
            <a:off x="7068312" y="2048256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A9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Input Size</a:t>
            </a:r>
            <a:endParaRPr lang="en-US" sz="8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640 × 640</a:t>
            </a:r>
            <a:endParaRPr lang="en-US" sz="800" dirty="0"/>
          </a:p>
        </p:txBody>
      </p:sp>
      <p:sp>
        <p:nvSpPr>
          <p:cNvPr id="21" name="LR Scheduler chip"/>
          <p:cNvSpPr/>
          <p:nvPr/>
        </p:nvSpPr>
        <p:spPr>
          <a:xfrm>
            <a:off x="3383280" y="2651760"/>
            <a:ext cx="1691640" cy="530352"/>
          </a:xfrm>
          <a:prstGeom prst="rect">
            <a:avLst/>
          </a:prstGeom>
          <a:solidFill>
            <a:srgbClr val="2A1D7A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22" name="LR Scheduler text"/>
          <p:cNvSpPr txBox="1"/>
          <p:nvPr/>
        </p:nvSpPr>
        <p:spPr>
          <a:xfrm>
            <a:off x="3456432" y="2651760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A9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LR Scheduler</a:t>
            </a:r>
            <a:endParaRPr lang="en-US" sz="8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Cosine Decay + Warm-up</a:t>
            </a:r>
            <a:endParaRPr lang="en-US" sz="800" dirty="0"/>
          </a:p>
        </p:txBody>
      </p:sp>
      <p:sp>
        <p:nvSpPr>
          <p:cNvPr id="23" name="Weight Decay chip"/>
          <p:cNvSpPr/>
          <p:nvPr/>
        </p:nvSpPr>
        <p:spPr>
          <a:xfrm>
            <a:off x="5189220" y="2651760"/>
            <a:ext cx="1691640" cy="530352"/>
          </a:xfrm>
          <a:prstGeom prst="rect">
            <a:avLst/>
          </a:prstGeom>
          <a:solidFill>
            <a:srgbClr val="2A1D7A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24" name="Weight Decay text"/>
          <p:cNvSpPr txBox="1"/>
          <p:nvPr/>
        </p:nvSpPr>
        <p:spPr>
          <a:xfrm>
            <a:off x="5262372" y="2651760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A9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Weight Decay</a:t>
            </a:r>
            <a:endParaRPr lang="en-US" sz="8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0.0005</a:t>
            </a:r>
            <a:endParaRPr lang="en-US" sz="800" dirty="0"/>
          </a:p>
        </p:txBody>
      </p:sp>
      <p:sp>
        <p:nvSpPr>
          <p:cNvPr id="25" name="Augmentation chip"/>
          <p:cNvSpPr/>
          <p:nvPr/>
        </p:nvSpPr>
        <p:spPr>
          <a:xfrm>
            <a:off x="6995160" y="2651760"/>
            <a:ext cx="1691640" cy="530352"/>
          </a:xfrm>
          <a:prstGeom prst="rect">
            <a:avLst/>
          </a:prstGeom>
          <a:solidFill>
            <a:srgbClr val="2A1D7A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26" name="Augmentation text"/>
          <p:cNvSpPr txBox="1"/>
          <p:nvPr/>
        </p:nvSpPr>
        <p:spPr>
          <a:xfrm>
            <a:off x="7068312" y="2651760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A9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Augmentation</a:t>
            </a:r>
            <a:endParaRPr lang="en-US" sz="8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HSV, Translation, Scaling &amp; Horizontal Flip</a:t>
            </a:r>
            <a:endParaRPr lang="en-US" sz="800" dirty="0"/>
          </a:p>
        </p:txBody>
      </p:sp>
      <p:sp>
        <p:nvSpPr>
          <p:cNvPr id="27" name="Loss heading"/>
          <p:cNvSpPr txBox="1"/>
          <p:nvPr/>
        </p:nvSpPr>
        <p:spPr>
          <a:xfrm>
            <a:off x="3383280" y="32918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Loss Functions</a:t>
            </a:r>
            <a:endParaRPr lang="en-US" sz="1300" dirty="0"/>
          </a:p>
        </p:txBody>
      </p:sp>
      <p:sp>
        <p:nvSpPr>
          <p:cNvPr id="28" name="Box Loss card"/>
          <p:cNvSpPr/>
          <p:nvPr/>
        </p:nvSpPr>
        <p:spPr>
          <a:xfrm>
            <a:off x="3383280" y="3630168"/>
            <a:ext cx="2606040" cy="493776"/>
          </a:xfrm>
          <a:prstGeom prst="rect">
            <a:avLst/>
          </a:prstGeom>
          <a:solidFill>
            <a:srgbClr val="2A1D7A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29" name="Box Loss text"/>
          <p:cNvSpPr txBox="1"/>
          <p:nvPr/>
        </p:nvSpPr>
        <p:spPr>
          <a:xfrm>
            <a:off x="3493008" y="3630168"/>
            <a:ext cx="23865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Box Loss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DDD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Bounding-box localization</a:t>
            </a:r>
            <a:endParaRPr lang="en-US" sz="950" dirty="0"/>
          </a:p>
        </p:txBody>
      </p:sp>
      <p:sp>
        <p:nvSpPr>
          <p:cNvPr id="30" name="Classification Loss card"/>
          <p:cNvSpPr/>
          <p:nvPr/>
        </p:nvSpPr>
        <p:spPr>
          <a:xfrm>
            <a:off x="6080760" y="3630168"/>
            <a:ext cx="2606040" cy="493776"/>
          </a:xfrm>
          <a:prstGeom prst="rect">
            <a:avLst/>
          </a:prstGeom>
          <a:solidFill>
            <a:srgbClr val="2A1D7A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31" name="Classification Loss text"/>
          <p:cNvSpPr txBox="1"/>
          <p:nvPr/>
        </p:nvSpPr>
        <p:spPr>
          <a:xfrm>
            <a:off x="6190488" y="3630168"/>
            <a:ext cx="23865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Classification Loss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DDD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Object class prediction</a:t>
            </a:r>
            <a:endParaRPr lang="en-US" sz="950" dirty="0"/>
          </a:p>
        </p:txBody>
      </p:sp>
      <p:sp>
        <p:nvSpPr>
          <p:cNvPr id="32" name="DFL (Distribution Focal Loss) card"/>
          <p:cNvSpPr/>
          <p:nvPr/>
        </p:nvSpPr>
        <p:spPr>
          <a:xfrm>
            <a:off x="3383280" y="4197096"/>
            <a:ext cx="2606040" cy="493776"/>
          </a:xfrm>
          <a:prstGeom prst="rect">
            <a:avLst/>
          </a:prstGeom>
          <a:solidFill>
            <a:srgbClr val="2A1D7A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33" name="DFL (Distribution Focal Loss) text"/>
          <p:cNvSpPr txBox="1"/>
          <p:nvPr/>
        </p:nvSpPr>
        <p:spPr>
          <a:xfrm>
            <a:off x="3493008" y="4197096"/>
            <a:ext cx="23865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DFL (Distribution Focal Loss)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DDD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Precise bounding-box localization</a:t>
            </a:r>
            <a:endParaRPr lang="en-US" sz="950" dirty="0"/>
          </a:p>
        </p:txBody>
      </p:sp>
      <p:sp>
        <p:nvSpPr>
          <p:cNvPr id="34" name="Optimized Weights card"/>
          <p:cNvSpPr/>
          <p:nvPr/>
        </p:nvSpPr>
        <p:spPr>
          <a:xfrm>
            <a:off x="6080760" y="4197096"/>
            <a:ext cx="2606040" cy="493776"/>
          </a:xfrm>
          <a:prstGeom prst="rect">
            <a:avLst/>
          </a:prstGeom>
          <a:solidFill>
            <a:srgbClr val="4B3BC4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35" name="Optimized Weights text"/>
          <p:cNvSpPr txBox="1"/>
          <p:nvPr/>
        </p:nvSpPr>
        <p:spPr>
          <a:xfrm>
            <a:off x="6190488" y="4197096"/>
            <a:ext cx="23865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Optimized Weights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DDD8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Box = 7.5, Class = 0.5, DFL = 1.5</a:t>
            </a:r>
            <a:endParaRPr lang="en-US" sz="950" dirty="0"/>
          </a:p>
        </p:txBody>
      </p:sp>
      <p:sp>
        <p:nvSpPr>
          <p:cNvPr id="36" name="Page number"/>
          <p:cNvSpPr txBox="1"/>
          <p:nvPr/>
        </p:nvSpPr>
        <p:spPr>
          <a:xfrm>
            <a:off x="777240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A9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Page 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20116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Performance Evaluation &amp; Metrics</a:t>
            </a:r>
            <a:endParaRPr lang="en-US" sz="2600" dirty="0"/>
          </a:p>
        </p:txBody>
      </p:sp>
      <p:pic>
        <p:nvPicPr>
          <p:cNvPr id="3" name="Logo" descr="/home/claude/logo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365760" cy="365760"/>
          </a:xfrm>
          <a:prstGeom prst="rect">
            <a:avLst/>
          </a:prstGeom>
        </p:spPr>
      </p:pic>
      <p:sp>
        <p:nvSpPr>
          <p:cNvPr id="4" name="Metrics heading"/>
          <p:cNvSpPr txBox="1"/>
          <p:nvPr/>
        </p:nvSpPr>
        <p:spPr>
          <a:xfrm>
            <a:off x="457200" y="8412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9B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Evaluation Metrics</a:t>
            </a:r>
            <a:endParaRPr lang="en-US" sz="1200" dirty="0"/>
          </a:p>
        </p:txBody>
      </p:sp>
      <p:sp>
        <p:nvSpPr>
          <p:cNvPr id="5" name="Precision tile"/>
          <p:cNvSpPr/>
          <p:nvPr/>
        </p:nvSpPr>
        <p:spPr>
          <a:xfrm>
            <a:off x="457200" y="1170432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4B3BC4"/>
          </a:solidFill>
          <a:ln w="12700">
            <a:solidFill>
              <a:srgbClr val="7B6CFF"/>
            </a:solidFill>
            <a:prstDash val="solid"/>
          </a:ln>
        </p:spPr>
      </p:sp>
      <p:pic>
        <p:nvPicPr>
          <p:cNvPr id="6" name="Precision icon" descr="/home/claude/ic_FaCrosshai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1271016"/>
            <a:ext cx="219456" cy="219456"/>
          </a:xfrm>
          <a:prstGeom prst="rect">
            <a:avLst/>
          </a:prstGeom>
        </p:spPr>
      </p:pic>
      <p:sp>
        <p:nvSpPr>
          <p:cNvPr id="7" name="Precision text"/>
          <p:cNvSpPr txBox="1"/>
          <p:nvPr/>
        </p:nvSpPr>
        <p:spPr>
          <a:xfrm>
            <a:off x="987552" y="117043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9B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Precision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Measures the accuracy of detected objects.</a:t>
            </a:r>
            <a:endParaRPr lang="en-US" sz="1050" dirty="0"/>
          </a:p>
        </p:txBody>
      </p:sp>
      <p:sp>
        <p:nvSpPr>
          <p:cNvPr id="8" name="Recall tile"/>
          <p:cNvSpPr/>
          <p:nvPr/>
        </p:nvSpPr>
        <p:spPr>
          <a:xfrm>
            <a:off x="4663440" y="1170432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4B3BC4"/>
          </a:solidFill>
          <a:ln w="12700">
            <a:solidFill>
              <a:srgbClr val="7B6CFF"/>
            </a:solidFill>
            <a:prstDash val="solid"/>
          </a:ln>
        </p:spPr>
      </p:sp>
      <p:pic>
        <p:nvPicPr>
          <p:cNvPr id="9" name="Recall icon" descr="/home/claude/ic_FaSear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024" y="1271016"/>
            <a:ext cx="219456" cy="219456"/>
          </a:xfrm>
          <a:prstGeom prst="rect">
            <a:avLst/>
          </a:prstGeom>
        </p:spPr>
      </p:pic>
      <p:sp>
        <p:nvSpPr>
          <p:cNvPr id="10" name="Recall text"/>
          <p:cNvSpPr txBox="1"/>
          <p:nvPr/>
        </p:nvSpPr>
        <p:spPr>
          <a:xfrm>
            <a:off x="5193792" y="117043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9B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Recall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Measures the ability to detect actual objects.</a:t>
            </a:r>
            <a:endParaRPr lang="en-US" sz="1050" dirty="0"/>
          </a:p>
        </p:txBody>
      </p:sp>
      <p:sp>
        <p:nvSpPr>
          <p:cNvPr id="11" name="mAP@0.5 tile"/>
          <p:cNvSpPr/>
          <p:nvPr/>
        </p:nvSpPr>
        <p:spPr>
          <a:xfrm>
            <a:off x="457200" y="173736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4B3BC4"/>
          </a:solidFill>
          <a:ln w="12700">
            <a:solidFill>
              <a:srgbClr val="7B6CFF"/>
            </a:solidFill>
            <a:prstDash val="solid"/>
          </a:ln>
        </p:spPr>
      </p:sp>
      <p:pic>
        <p:nvPicPr>
          <p:cNvPr id="12" name="mAP@0.5 icon" descr="/home/claude/ic_FaChartBa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" y="1837944"/>
            <a:ext cx="219456" cy="219456"/>
          </a:xfrm>
          <a:prstGeom prst="rect">
            <a:avLst/>
          </a:prstGeom>
        </p:spPr>
      </p:pic>
      <p:sp>
        <p:nvSpPr>
          <p:cNvPr id="13" name="mAP@0.5 text"/>
          <p:cNvSpPr txBox="1"/>
          <p:nvPr/>
        </p:nvSpPr>
        <p:spPr>
          <a:xfrm>
            <a:off x="987552" y="173736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9B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mAP@0.5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Detection accuracy at IoU threshold 0.5.</a:t>
            </a:r>
            <a:endParaRPr lang="en-US" sz="1050" dirty="0"/>
          </a:p>
        </p:txBody>
      </p:sp>
      <p:sp>
        <p:nvSpPr>
          <p:cNvPr id="14" name="mAP@0.5:0.95 tile"/>
          <p:cNvSpPr/>
          <p:nvPr/>
        </p:nvSpPr>
        <p:spPr>
          <a:xfrm>
            <a:off x="4663440" y="173736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4B3BC4"/>
          </a:solidFill>
          <a:ln w="12700">
            <a:solidFill>
              <a:srgbClr val="7B6CFF"/>
            </a:solidFill>
            <a:prstDash val="solid"/>
          </a:ln>
        </p:spPr>
      </p:sp>
      <p:pic>
        <p:nvPicPr>
          <p:cNvPr id="15" name="mAP@0.5:0.95 icon" descr="/home/claude/ic_FaLayerGrou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4024" y="1837944"/>
            <a:ext cx="219456" cy="219456"/>
          </a:xfrm>
          <a:prstGeom prst="rect">
            <a:avLst/>
          </a:prstGeom>
        </p:spPr>
      </p:pic>
      <p:sp>
        <p:nvSpPr>
          <p:cNvPr id="16" name="mAP@0.5:0.95 text"/>
          <p:cNvSpPr txBox="1"/>
          <p:nvPr/>
        </p:nvSpPr>
        <p:spPr>
          <a:xfrm>
            <a:off x="5193792" y="173736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9B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mAP@0.5:0.95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Detection performance across multiple IoU thresholds.</a:t>
            </a:r>
            <a:endParaRPr lang="en-US" sz="1050" dirty="0"/>
          </a:p>
        </p:txBody>
      </p:sp>
      <p:sp>
        <p:nvSpPr>
          <p:cNvPr id="17" name="Table heading"/>
          <p:cNvSpPr txBox="1"/>
          <p:nvPr/>
        </p:nvSpPr>
        <p:spPr>
          <a:xfrm>
            <a:off x="457200" y="23591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9B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 Comparison</a:t>
            </a:r>
            <a:endParaRPr lang="en-US" sz="1200" dirty="0"/>
          </a:p>
        </p:txBody>
      </p:sp>
      <p:graphicFrame>
        <p:nvGraphicFramePr>
          <p:cNvPr id="8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517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1371600"/>
                <a:gridCol w="1371600"/>
                <a:gridCol w="1371600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Model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B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Precision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B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Recall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B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mAP@0.5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B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mAP@0.5:0.95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BC4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YOLOv8s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76.40%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E08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92.90%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E08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92.60%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E08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72.70%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YOLO11s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8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83.89%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8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45.89%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8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61.11%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8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37.27%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869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YOLO11s – Training Optimization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84.61%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56.59%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64.52%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41.79%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YOLO26s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8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E08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86.49%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8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57.86%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8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70.21%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8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43.44%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869"/>
                    </a:solidFill>
                  </a:tcPr>
                </a:tc>
              </a:tr>
            </a:tbl>
          </a:graphicData>
        </a:graphic>
      </p:graphicFrame>
      <p:sp>
        <p:nvSpPr>
          <p:cNvPr id="19" name="Observation card"/>
          <p:cNvSpPr/>
          <p:nvPr/>
        </p:nvSpPr>
        <p:spPr>
          <a:xfrm>
            <a:off x="457200" y="4187952"/>
            <a:ext cx="8229600" cy="603504"/>
          </a:xfrm>
          <a:prstGeom prst="rect">
            <a:avLst/>
          </a:prstGeom>
          <a:solidFill>
            <a:srgbClr val="2A1D7A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20" name="Observation text"/>
          <p:cNvSpPr txBox="1"/>
          <p:nvPr/>
        </p:nvSpPr>
        <p:spPr>
          <a:xfrm>
            <a:off x="594360" y="4187952"/>
            <a:ext cx="7955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9B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Observation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YOLO26s achieved the highest overall precision and mAP among the compared YOLO models, while training optimization improved YOLO11s recall and mAP over its baseline.</a:t>
            </a:r>
            <a:endParaRPr lang="en-US" sz="1000" dirty="0"/>
          </a:p>
        </p:txBody>
      </p:sp>
      <p:sp>
        <p:nvSpPr>
          <p:cNvPr id="21" name="Page number"/>
          <p:cNvSpPr txBox="1"/>
          <p:nvPr/>
        </p:nvSpPr>
        <p:spPr>
          <a:xfrm>
            <a:off x="777240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A9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Page 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182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Per-Class Performance Metrics</a:t>
            </a:r>
            <a:endParaRPr lang="en-US" sz="2600" dirty="0"/>
          </a:p>
        </p:txBody>
      </p:sp>
      <p:pic>
        <p:nvPicPr>
          <p:cNvPr id="3" name="Logo" descr="/home/claude/logo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28600"/>
            <a:ext cx="365760" cy="365760"/>
          </a:xfrm>
          <a:prstGeom prst="rect">
            <a:avLst/>
          </a:prstGeom>
        </p:spPr>
      </p:pic>
      <p:sp>
        <p:nvSpPr>
          <p:cNvPr id="4" name="YOLOv8s heading"/>
          <p:cNvSpPr txBox="1"/>
          <p:nvPr/>
        </p:nvSpPr>
        <p:spPr>
          <a:xfrm>
            <a:off x="365760" y="868680"/>
            <a:ext cx="271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9B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YOLOv8s</a:t>
            </a:r>
            <a:endParaRPr lang="en-US" sz="1200" dirty="0"/>
          </a:p>
        </p:txBody>
      </p:sp>
      <p:graphicFrame>
        <p:nvGraphicFramePr>
          <p:cNvPr id="9" name="YOLOv8s per-clas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2715768" cy="914400"/>
        </p:xfrm>
        <a:graphic>
          <a:graphicData uri="http://schemas.openxmlformats.org/drawingml/2006/table">
            <a:tbl>
              <a:tblPr/>
              <a:tblGrid>
                <a:gridCol w="621792"/>
                <a:gridCol w="530352"/>
                <a:gridCol w="438912"/>
                <a:gridCol w="530352"/>
                <a:gridCol w="5943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Class</a:t>
                      </a:r>
                      <a:endParaRPr lang="en-US" sz="7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B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Precision</a:t>
                      </a:r>
                      <a:endParaRPr lang="en-US" sz="7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B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Recall</a:t>
                      </a:r>
                      <a:endParaRPr lang="en-US" sz="7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B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mAP@0.5</a:t>
                      </a:r>
                      <a:endParaRPr lang="en-US" sz="7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B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mAP@0.5:</a:t>
                      </a:r>
                      <a:endParaRPr lang="en-US" sz="7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0.95</a:t>
                      </a:r>
                      <a:endParaRPr lang="en-US" sz="7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BC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Person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66.90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91.70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91.90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65.90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Bicycle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8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77.90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8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80.00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8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75.50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8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53.90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86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Car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75.40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97.30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97.00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73.60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Motorcycle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8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68.40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8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94.10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8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92.10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8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65.70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86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Bus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81.40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96.00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98.20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85.90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Train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8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87.10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8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100.00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8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99.50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8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89.50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86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Truck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77.60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90.80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94.10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74.10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Overall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B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76.40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B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92.90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B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92.60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B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72.70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BC4"/>
                    </a:solidFill>
                  </a:tcPr>
                </a:tc>
              </a:tr>
            </a:tbl>
          </a:graphicData>
        </a:graphic>
      </p:graphicFrame>
      <p:sp>
        <p:nvSpPr>
          <p:cNvPr id="6" name="YOLO11s heading"/>
          <p:cNvSpPr txBox="1"/>
          <p:nvPr/>
        </p:nvSpPr>
        <p:spPr>
          <a:xfrm>
            <a:off x="3214116" y="868680"/>
            <a:ext cx="271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9B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YOLO11s</a:t>
            </a:r>
            <a:endParaRPr lang="en-US" sz="1200" dirty="0"/>
          </a:p>
        </p:txBody>
      </p:sp>
      <p:graphicFrame>
        <p:nvGraphicFramePr>
          <p:cNvPr id="17" name="YOLO11s per-clas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14116" y="1188720"/>
          <a:ext cx="2715768" cy="914400"/>
        </p:xfrm>
        <a:graphic>
          <a:graphicData uri="http://schemas.openxmlformats.org/drawingml/2006/table">
            <a:tbl>
              <a:tblPr/>
              <a:tblGrid>
                <a:gridCol w="621792"/>
                <a:gridCol w="530352"/>
                <a:gridCol w="438912"/>
                <a:gridCol w="530352"/>
                <a:gridCol w="5943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Class</a:t>
                      </a:r>
                      <a:endParaRPr lang="en-US" sz="7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B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Precision</a:t>
                      </a:r>
                      <a:endParaRPr lang="en-US" sz="7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B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Recall</a:t>
                      </a:r>
                      <a:endParaRPr lang="en-US" sz="7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B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mAP@0.5</a:t>
                      </a:r>
                      <a:endParaRPr lang="en-US" sz="7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B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mAP@0.5:</a:t>
                      </a:r>
                      <a:endParaRPr lang="en-US" sz="7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0.95</a:t>
                      </a:r>
                      <a:endParaRPr lang="en-US" sz="7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BC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Person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84.90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81.50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88.70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60.40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Bicycle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8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100.00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8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34.70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8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78.60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8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46.10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86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Car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94.30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87.40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96.10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70.50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Motorcycle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8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89.30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8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100.00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8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98.90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8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66.90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86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Bus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88.60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92.00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97.20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78.30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Train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8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100.00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8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0.00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8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99.50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8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89.50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86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Truck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89.50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81.00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91.30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68.70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Overall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B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92.40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B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68.10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B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92.90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B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68.60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BC4"/>
                    </a:solidFill>
                  </a:tcPr>
                </a:tc>
              </a:tr>
            </a:tbl>
          </a:graphicData>
        </a:graphic>
      </p:graphicFrame>
      <p:sp>
        <p:nvSpPr>
          <p:cNvPr id="8" name="YOLO26s heading"/>
          <p:cNvSpPr txBox="1"/>
          <p:nvPr/>
        </p:nvSpPr>
        <p:spPr>
          <a:xfrm>
            <a:off x="6062472" y="868680"/>
            <a:ext cx="271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9B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YOLO26s</a:t>
            </a:r>
            <a:endParaRPr lang="en-US" sz="1200" dirty="0"/>
          </a:p>
        </p:txBody>
      </p:sp>
      <p:graphicFrame>
        <p:nvGraphicFramePr>
          <p:cNvPr id="25" name="YOLO26s per-clas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62472" y="1188720"/>
          <a:ext cx="2715768" cy="914400"/>
        </p:xfrm>
        <a:graphic>
          <a:graphicData uri="http://schemas.openxmlformats.org/drawingml/2006/table">
            <a:tbl>
              <a:tblPr/>
              <a:tblGrid>
                <a:gridCol w="621792"/>
                <a:gridCol w="530352"/>
                <a:gridCol w="438912"/>
                <a:gridCol w="530352"/>
                <a:gridCol w="5943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Class</a:t>
                      </a:r>
                      <a:endParaRPr lang="en-US" sz="7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B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Precision</a:t>
                      </a:r>
                      <a:endParaRPr lang="en-US" sz="7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B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Recall</a:t>
                      </a:r>
                      <a:endParaRPr lang="en-US" sz="7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B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mAP@0.5</a:t>
                      </a:r>
                      <a:endParaRPr lang="en-US" sz="7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B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mAP@0.5:</a:t>
                      </a:r>
                      <a:endParaRPr lang="en-US" sz="7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0.95</a:t>
                      </a:r>
                      <a:endParaRPr lang="en-US" sz="7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BC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Person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98.80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78.70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95.40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66.70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Bicycle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8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92.10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8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60.00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8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81.80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8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45.70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86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Car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96.80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85.70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96.70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71.70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Motorcycle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8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100.00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8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85.40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8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93.30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8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66.00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86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Bus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99.30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100.00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99.50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81.00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Train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8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88.80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8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100.00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8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99.50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8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99.50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86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Truck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96.80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85.80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94.60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71.10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D7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Overall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B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96.10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B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85.10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B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94.40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B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71.70</a:t>
                      </a:r>
                      <a:endParaRPr lang="en-US" sz="7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36576" marR="18288" marT="0" marB="0" anchor="ctr">
                    <a:lnL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C5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BC4"/>
                    </a:solidFill>
                  </a:tcPr>
                </a:tc>
              </a:tr>
            </a:tbl>
          </a:graphicData>
        </a:graphic>
      </p:graphicFrame>
      <p:sp>
        <p:nvSpPr>
          <p:cNvPr id="10" name="Note"/>
          <p:cNvSpPr txBox="1"/>
          <p:nvPr/>
        </p:nvSpPr>
        <p:spPr>
          <a:xfrm>
            <a:off x="365760" y="43891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4E0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Values are percentages. Source: validation logs of each model.</a:t>
            </a:r>
            <a:endParaRPr lang="en-US" sz="900" dirty="0"/>
          </a:p>
        </p:txBody>
      </p:sp>
      <p:sp>
        <p:nvSpPr>
          <p:cNvPr id="11" name="Page number"/>
          <p:cNvSpPr txBox="1"/>
          <p:nvPr/>
        </p:nvSpPr>
        <p:spPr>
          <a:xfrm>
            <a:off x="7772400" y="4864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C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Page 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914400" y="137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Visual Results &amp; Inference</a:t>
            </a:r>
            <a:endParaRPr lang="en-US" sz="2400" dirty="0"/>
          </a:p>
        </p:txBody>
      </p:sp>
      <p:pic>
        <p:nvPicPr>
          <p:cNvPr id="3" name="Logo" descr="/home/claude/logo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"/>
            <a:ext cx="384048" cy="384048"/>
          </a:xfrm>
          <a:prstGeom prst="rect">
            <a:avLst/>
          </a:prstGeom>
        </p:spPr>
      </p:pic>
      <p:pic>
        <p:nvPicPr>
          <p:cNvPr id="4" name="Detection results image" descr="Detection results comparison for YOLOv8s, YOLO11s and YOLO26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996" y="694944"/>
            <a:ext cx="3783555" cy="1783080"/>
          </a:xfrm>
          <a:prstGeom prst="rect">
            <a:avLst/>
          </a:prstGeom>
        </p:spPr>
      </p:pic>
      <p:sp>
        <p:nvSpPr>
          <p:cNvPr id="5" name="Detection results border"/>
          <p:cNvSpPr/>
          <p:nvPr/>
        </p:nvSpPr>
        <p:spPr>
          <a:xfrm>
            <a:off x="1130996" y="694944"/>
            <a:ext cx="3783555" cy="1783080"/>
          </a:xfrm>
          <a:prstGeom prst="rect">
            <a:avLst/>
          </a:prstGeom>
          <a:ln w="12700">
            <a:solidFill>
              <a:srgbClr val="6C5CE7"/>
            </a:solidFill>
            <a:prstDash val="solid"/>
          </a:ln>
        </p:spPr>
      </p:sp>
      <p:pic>
        <p:nvPicPr>
          <p:cNvPr id="6" name="Dashboard image" descr="Smart Vision dashboard showing condition result, confidence gate and process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8871" y="694944"/>
            <a:ext cx="2824133" cy="1783080"/>
          </a:xfrm>
          <a:prstGeom prst="rect">
            <a:avLst/>
          </a:prstGeom>
        </p:spPr>
      </p:pic>
      <p:sp>
        <p:nvSpPr>
          <p:cNvPr id="7" name="Dashboard border"/>
          <p:cNvSpPr/>
          <p:nvPr/>
        </p:nvSpPr>
        <p:spPr>
          <a:xfrm>
            <a:off x="5188871" y="694944"/>
            <a:ext cx="2824133" cy="1783080"/>
          </a:xfrm>
          <a:prstGeom prst="rect">
            <a:avLst/>
          </a:prstGeom>
          <a:ln w="12700">
            <a:solidFill>
              <a:srgbClr val="6C5CE7"/>
            </a:solidFill>
            <a:prstDash val="solid"/>
          </a:ln>
        </p:spPr>
      </p:sp>
      <p:sp>
        <p:nvSpPr>
          <p:cNvPr id="8" name="Visual Results card"/>
          <p:cNvSpPr/>
          <p:nvPr/>
        </p:nvSpPr>
        <p:spPr>
          <a:xfrm>
            <a:off x="457200" y="2542032"/>
            <a:ext cx="4023360" cy="1280160"/>
          </a:xfrm>
          <a:prstGeom prst="rect">
            <a:avLst/>
          </a:prstGeom>
          <a:solidFill>
            <a:srgbClr val="2A1D7A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9" name="Visual Results icon circle"/>
          <p:cNvSpPr/>
          <p:nvPr/>
        </p:nvSpPr>
        <p:spPr>
          <a:xfrm>
            <a:off x="585216" y="2633472"/>
            <a:ext cx="384048" cy="365760"/>
          </a:xfrm>
          <a:prstGeom prst="ellipse">
            <a:avLst/>
          </a:prstGeom>
          <a:solidFill>
            <a:srgbClr val="4B3BC4"/>
          </a:solidFill>
          <a:ln w="12700">
            <a:solidFill>
              <a:srgbClr val="9D8CFF"/>
            </a:solidFill>
            <a:prstDash val="solid"/>
          </a:ln>
        </p:spPr>
      </p:sp>
      <p:pic>
        <p:nvPicPr>
          <p:cNvPr id="10" name="Visual Results icon" descr="/home/claude/ic_FaEy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734056"/>
            <a:ext cx="182880" cy="182880"/>
          </a:xfrm>
          <a:prstGeom prst="rect">
            <a:avLst/>
          </a:prstGeom>
        </p:spPr>
      </p:pic>
      <p:sp>
        <p:nvSpPr>
          <p:cNvPr id="11" name="Visual Results heading"/>
          <p:cNvSpPr txBox="1"/>
          <p:nvPr/>
        </p:nvSpPr>
        <p:spPr>
          <a:xfrm>
            <a:off x="1078992" y="263347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Visual Results</a:t>
            </a:r>
            <a:endParaRPr lang="en-US" sz="1200" dirty="0"/>
          </a:p>
        </p:txBody>
      </p:sp>
      <p:sp>
        <p:nvSpPr>
          <p:cNvPr id="12" name="Visual Results text"/>
          <p:cNvSpPr txBox="1"/>
          <p:nvPr/>
        </p:nvSpPr>
        <p:spPr>
          <a:xfrm>
            <a:off x="640080" y="3035808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E4E0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Tested under Fog, Rain, Snow, and other adverse conditions</a:t>
            </a:r>
            <a:endParaRPr lang="en-US" sz="8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E4E0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Compared YOLOv8s, YOLO11s, and YOLO26s</a:t>
            </a:r>
            <a:endParaRPr lang="en-US" sz="8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E4E0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Visualized bounding boxes, object classes, and confidence scores</a:t>
            </a:r>
            <a:endParaRPr lang="en-US" sz="8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E4E0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Condition-aware preprocessing improves image visibility before detection</a:t>
            </a:r>
            <a:endParaRPr lang="en-US" sz="850" dirty="0"/>
          </a:p>
        </p:txBody>
      </p:sp>
      <p:sp>
        <p:nvSpPr>
          <p:cNvPr id="13" name="Inference card"/>
          <p:cNvSpPr/>
          <p:nvPr/>
        </p:nvSpPr>
        <p:spPr>
          <a:xfrm>
            <a:off x="4663440" y="2542032"/>
            <a:ext cx="4023360" cy="1280160"/>
          </a:xfrm>
          <a:prstGeom prst="rect">
            <a:avLst/>
          </a:prstGeom>
          <a:solidFill>
            <a:srgbClr val="2A1D7A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4" name="Inference icon circle"/>
          <p:cNvSpPr/>
          <p:nvPr/>
        </p:nvSpPr>
        <p:spPr>
          <a:xfrm>
            <a:off x="4791456" y="2633472"/>
            <a:ext cx="384048" cy="365760"/>
          </a:xfrm>
          <a:prstGeom prst="ellipse">
            <a:avLst/>
          </a:prstGeom>
          <a:solidFill>
            <a:srgbClr val="4B3BC4"/>
          </a:solidFill>
          <a:ln w="12700">
            <a:solidFill>
              <a:srgbClr val="9D8CFF"/>
            </a:solidFill>
            <a:prstDash val="solid"/>
          </a:ln>
        </p:spPr>
      </p:sp>
      <p:pic>
        <p:nvPicPr>
          <p:cNvPr id="15" name="Inference icon" descr="/home/claude/ic_FaTachometerAl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734056"/>
            <a:ext cx="182880" cy="182880"/>
          </a:xfrm>
          <a:prstGeom prst="rect">
            <a:avLst/>
          </a:prstGeom>
        </p:spPr>
      </p:pic>
      <p:sp>
        <p:nvSpPr>
          <p:cNvPr id="16" name="Inference heading"/>
          <p:cNvSpPr txBox="1"/>
          <p:nvPr/>
        </p:nvSpPr>
        <p:spPr>
          <a:xfrm>
            <a:off x="5285232" y="263347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Inference</a:t>
            </a:r>
            <a:endParaRPr lang="en-US" sz="1200" dirty="0"/>
          </a:p>
        </p:txBody>
      </p:sp>
      <p:sp>
        <p:nvSpPr>
          <p:cNvPr id="17" name="Inference text"/>
          <p:cNvSpPr txBox="1"/>
          <p:nvPr/>
        </p:nvSpPr>
        <p:spPr>
          <a:xfrm>
            <a:off x="4846320" y="3035808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E4E0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Real-time image inference through the Smart Vision dashboard</a:t>
            </a:r>
            <a:endParaRPr lang="en-US" sz="8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E4E0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Reports detected objects, confidence scores, and inference time</a:t>
            </a:r>
            <a:endParaRPr lang="en-US" sz="8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E4E0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Supports side-by-side model comparison</a:t>
            </a:r>
            <a:endParaRPr lang="en-US" sz="850" dirty="0"/>
          </a:p>
        </p:txBody>
      </p:sp>
      <p:sp>
        <p:nvSpPr>
          <p:cNvPr id="18" name="Pipeline heading"/>
          <p:cNvSpPr txBox="1"/>
          <p:nvPr/>
        </p:nvSpPr>
        <p:spPr>
          <a:xfrm>
            <a:off x="457200" y="387705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Pipeline Output</a:t>
            </a:r>
            <a:endParaRPr lang="en-US" sz="1050" dirty="0"/>
          </a:p>
        </p:txBody>
      </p:sp>
      <p:sp>
        <p:nvSpPr>
          <p:cNvPr id="19" name="Step 1"/>
          <p:cNvSpPr/>
          <p:nvPr/>
        </p:nvSpPr>
        <p:spPr>
          <a:xfrm>
            <a:off x="457200" y="4114800"/>
            <a:ext cx="1417320" cy="365760"/>
          </a:xfrm>
          <a:prstGeom prst="rect">
            <a:avLst/>
          </a:prstGeom>
          <a:solidFill>
            <a:srgbClr val="6A58F0"/>
          </a:solidFill>
          <a:ln w="12700">
            <a:solidFill>
              <a:srgbClr val="9D8CFF"/>
            </a:solidFill>
            <a:prstDash val="solid"/>
          </a:ln>
        </p:spPr>
      </p:sp>
      <p:sp>
        <p:nvSpPr>
          <p:cNvPr id="20" name="Step 1 label"/>
          <p:cNvSpPr txBox="1"/>
          <p:nvPr/>
        </p:nvSpPr>
        <p:spPr>
          <a:xfrm>
            <a:off x="457200" y="4114800"/>
            <a:ext cx="14173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Input Image</a:t>
            </a:r>
            <a:endParaRPr lang="en-US" sz="800" dirty="0"/>
          </a:p>
        </p:txBody>
      </p:sp>
      <p:sp>
        <p:nvSpPr>
          <p:cNvPr id="21" name="Arrow 1"/>
          <p:cNvSpPr txBox="1"/>
          <p:nvPr/>
        </p:nvSpPr>
        <p:spPr>
          <a:xfrm>
            <a:off x="1874520" y="411480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C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Step 2"/>
          <p:cNvSpPr/>
          <p:nvPr/>
        </p:nvSpPr>
        <p:spPr>
          <a:xfrm>
            <a:off x="2148840" y="4114800"/>
            <a:ext cx="1417320" cy="365760"/>
          </a:xfrm>
          <a:prstGeom prst="rect">
            <a:avLst/>
          </a:prstGeom>
          <a:solidFill>
            <a:srgbClr val="4030B8"/>
          </a:solidFill>
          <a:ln w="12700">
            <a:solidFill>
              <a:srgbClr val="9D8CFF"/>
            </a:solidFill>
            <a:prstDash val="solid"/>
          </a:ln>
        </p:spPr>
      </p:sp>
      <p:sp>
        <p:nvSpPr>
          <p:cNvPr id="23" name="Step 2 label"/>
          <p:cNvSpPr txBox="1"/>
          <p:nvPr/>
        </p:nvSpPr>
        <p:spPr>
          <a:xfrm>
            <a:off x="2148840" y="4114800"/>
            <a:ext cx="14173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Condition</a:t>
            </a:r>
            <a:endParaRPr lang="en-US" sz="800" dirty="0"/>
          </a:p>
        </p:txBody>
      </p:sp>
      <p:sp>
        <p:nvSpPr>
          <p:cNvPr id="24" name="Arrow 2"/>
          <p:cNvSpPr txBox="1"/>
          <p:nvPr/>
        </p:nvSpPr>
        <p:spPr>
          <a:xfrm>
            <a:off x="3566160" y="411480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C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200" dirty="0"/>
          </a:p>
        </p:txBody>
      </p:sp>
      <p:sp>
        <p:nvSpPr>
          <p:cNvPr id="25" name="Step 3"/>
          <p:cNvSpPr/>
          <p:nvPr/>
        </p:nvSpPr>
        <p:spPr>
          <a:xfrm>
            <a:off x="3840480" y="4114800"/>
            <a:ext cx="1417320" cy="365760"/>
          </a:xfrm>
          <a:prstGeom prst="rect">
            <a:avLst/>
          </a:prstGeom>
          <a:solidFill>
            <a:srgbClr val="4030B8"/>
          </a:solidFill>
          <a:ln w="12700">
            <a:solidFill>
              <a:srgbClr val="9D8CFF"/>
            </a:solidFill>
            <a:prstDash val="solid"/>
          </a:ln>
        </p:spPr>
      </p:sp>
      <p:sp>
        <p:nvSpPr>
          <p:cNvPr id="26" name="Step 3 label"/>
          <p:cNvSpPr txBox="1"/>
          <p:nvPr/>
        </p:nvSpPr>
        <p:spPr>
          <a:xfrm>
            <a:off x="3840480" y="4114800"/>
            <a:ext cx="14173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Enhanced Image</a:t>
            </a:r>
            <a:endParaRPr lang="en-US" sz="800" dirty="0"/>
          </a:p>
        </p:txBody>
      </p:sp>
      <p:sp>
        <p:nvSpPr>
          <p:cNvPr id="27" name="Arrow 3"/>
          <p:cNvSpPr txBox="1"/>
          <p:nvPr/>
        </p:nvSpPr>
        <p:spPr>
          <a:xfrm>
            <a:off x="5257800" y="411480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C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Step 4"/>
          <p:cNvSpPr/>
          <p:nvPr/>
        </p:nvSpPr>
        <p:spPr>
          <a:xfrm>
            <a:off x="5532120" y="4114800"/>
            <a:ext cx="1417320" cy="365760"/>
          </a:xfrm>
          <a:prstGeom prst="rect">
            <a:avLst/>
          </a:prstGeom>
          <a:solidFill>
            <a:srgbClr val="4030B8"/>
          </a:solidFill>
          <a:ln w="12700">
            <a:solidFill>
              <a:srgbClr val="9D8CFF"/>
            </a:solidFill>
            <a:prstDash val="solid"/>
          </a:ln>
        </p:spPr>
      </p:sp>
      <p:sp>
        <p:nvSpPr>
          <p:cNvPr id="29" name="Step 4 label"/>
          <p:cNvSpPr txBox="1"/>
          <p:nvPr/>
        </p:nvSpPr>
        <p:spPr>
          <a:xfrm>
            <a:off x="5532120" y="4114800"/>
            <a:ext cx="14173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Detected Objects</a:t>
            </a:r>
            <a:endParaRPr lang="en-US" sz="800" dirty="0"/>
          </a:p>
        </p:txBody>
      </p:sp>
      <p:sp>
        <p:nvSpPr>
          <p:cNvPr id="30" name="Arrow 4"/>
          <p:cNvSpPr txBox="1"/>
          <p:nvPr/>
        </p:nvSpPr>
        <p:spPr>
          <a:xfrm>
            <a:off x="6949440" y="411480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C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200" dirty="0"/>
          </a:p>
        </p:txBody>
      </p:sp>
      <p:sp>
        <p:nvSpPr>
          <p:cNvPr id="31" name="Step 5"/>
          <p:cNvSpPr/>
          <p:nvPr/>
        </p:nvSpPr>
        <p:spPr>
          <a:xfrm>
            <a:off x="7223760" y="4114800"/>
            <a:ext cx="1417320" cy="365760"/>
          </a:xfrm>
          <a:prstGeom prst="rect">
            <a:avLst/>
          </a:prstGeom>
          <a:solidFill>
            <a:srgbClr val="6A58F0"/>
          </a:solidFill>
          <a:ln w="12700">
            <a:solidFill>
              <a:srgbClr val="9D8CFF"/>
            </a:solidFill>
            <a:prstDash val="solid"/>
          </a:ln>
        </p:spPr>
      </p:sp>
      <p:sp>
        <p:nvSpPr>
          <p:cNvPr id="32" name="Step 5 label"/>
          <p:cNvSpPr txBox="1"/>
          <p:nvPr/>
        </p:nvSpPr>
        <p:spPr>
          <a:xfrm>
            <a:off x="7223760" y="4114800"/>
            <a:ext cx="14173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Confidence Score + Inference Time</a:t>
            </a:r>
            <a:endParaRPr lang="en-US" sz="800" dirty="0"/>
          </a:p>
        </p:txBody>
      </p:sp>
      <p:sp>
        <p:nvSpPr>
          <p:cNvPr id="33" name="Closing statement"/>
          <p:cNvSpPr txBox="1"/>
          <p:nvPr/>
        </p:nvSpPr>
        <p:spPr>
          <a:xfrm>
            <a:off x="457200" y="454456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4E0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Visual evaluation demonstrates the practical behavior of the proposed condition-aware detection pipeline across challenging environmental conditions.</a:t>
            </a:r>
            <a:endParaRPr lang="en-US" sz="850" dirty="0"/>
          </a:p>
        </p:txBody>
      </p:sp>
      <p:sp>
        <p:nvSpPr>
          <p:cNvPr id="34" name="Page number"/>
          <p:cNvSpPr txBox="1"/>
          <p:nvPr/>
        </p:nvSpPr>
        <p:spPr>
          <a:xfrm>
            <a:off x="7772400" y="4864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C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Page 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743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Deployment &amp;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Future Scope</a:t>
            </a:r>
            <a:endParaRPr lang="en-US" sz="2400" dirty="0"/>
          </a:p>
        </p:txBody>
      </p:sp>
      <p:sp>
        <p:nvSpPr>
          <p:cNvPr id="3" name="Deployment heading"/>
          <p:cNvSpPr txBox="1"/>
          <p:nvPr/>
        </p:nvSpPr>
        <p:spPr>
          <a:xfrm>
            <a:off x="502920" y="12618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9B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4" name="Platform card"/>
          <p:cNvSpPr/>
          <p:nvPr/>
        </p:nvSpPr>
        <p:spPr>
          <a:xfrm>
            <a:off x="502920" y="1572768"/>
            <a:ext cx="3840480" cy="365760"/>
          </a:xfrm>
          <a:prstGeom prst="rect">
            <a:avLst/>
          </a:prstGeom>
          <a:solidFill>
            <a:srgbClr val="2A1D7A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5" name="Platform tag"/>
          <p:cNvSpPr/>
          <p:nvPr/>
        </p:nvSpPr>
        <p:spPr>
          <a:xfrm>
            <a:off x="502920" y="1572768"/>
            <a:ext cx="914400" cy="365760"/>
          </a:xfrm>
          <a:prstGeom prst="rect">
            <a:avLst/>
          </a:prstGeom>
          <a:solidFill>
            <a:srgbClr val="4B3BC4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6" name="Platform label"/>
          <p:cNvSpPr txBox="1"/>
          <p:nvPr/>
        </p:nvSpPr>
        <p:spPr>
          <a:xfrm>
            <a:off x="502920" y="1572768"/>
            <a:ext cx="9144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Platform</a:t>
            </a:r>
            <a:endParaRPr lang="en-US" sz="850" dirty="0"/>
          </a:p>
        </p:txBody>
      </p:sp>
      <p:sp>
        <p:nvSpPr>
          <p:cNvPr id="7" name="Platform text"/>
          <p:cNvSpPr txBox="1"/>
          <p:nvPr/>
        </p:nvSpPr>
        <p:spPr>
          <a:xfrm>
            <a:off x="1508760" y="1572768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Streamlit + VS Code</a:t>
            </a:r>
            <a:endParaRPr lang="en-US" sz="800" dirty="0"/>
          </a:p>
        </p:txBody>
      </p:sp>
      <p:sp>
        <p:nvSpPr>
          <p:cNvPr id="8" name="Input card"/>
          <p:cNvSpPr/>
          <p:nvPr/>
        </p:nvSpPr>
        <p:spPr>
          <a:xfrm>
            <a:off x="502920" y="1984248"/>
            <a:ext cx="3840480" cy="365760"/>
          </a:xfrm>
          <a:prstGeom prst="rect">
            <a:avLst/>
          </a:prstGeom>
          <a:solidFill>
            <a:srgbClr val="2A1D7A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9" name="Input tag"/>
          <p:cNvSpPr/>
          <p:nvPr/>
        </p:nvSpPr>
        <p:spPr>
          <a:xfrm>
            <a:off x="502920" y="1984248"/>
            <a:ext cx="914400" cy="365760"/>
          </a:xfrm>
          <a:prstGeom prst="rect">
            <a:avLst/>
          </a:prstGeom>
          <a:solidFill>
            <a:srgbClr val="4B3BC4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0" name="Input label"/>
          <p:cNvSpPr txBox="1"/>
          <p:nvPr/>
        </p:nvSpPr>
        <p:spPr>
          <a:xfrm>
            <a:off x="502920" y="1984248"/>
            <a:ext cx="9144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Input</a:t>
            </a:r>
            <a:endParaRPr lang="en-US" sz="850" dirty="0"/>
          </a:p>
        </p:txBody>
      </p:sp>
      <p:sp>
        <p:nvSpPr>
          <p:cNvPr id="11" name="Input text"/>
          <p:cNvSpPr txBox="1"/>
          <p:nvPr/>
        </p:nvSpPr>
        <p:spPr>
          <a:xfrm>
            <a:off x="1508760" y="1984248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Image upload</a:t>
            </a:r>
            <a:endParaRPr lang="en-US" sz="800" dirty="0"/>
          </a:p>
        </p:txBody>
      </p:sp>
      <p:sp>
        <p:nvSpPr>
          <p:cNvPr id="12" name="Pipeline card"/>
          <p:cNvSpPr/>
          <p:nvPr/>
        </p:nvSpPr>
        <p:spPr>
          <a:xfrm>
            <a:off x="502920" y="2395728"/>
            <a:ext cx="3840480" cy="365760"/>
          </a:xfrm>
          <a:prstGeom prst="rect">
            <a:avLst/>
          </a:prstGeom>
          <a:solidFill>
            <a:srgbClr val="2A1D7A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3" name="Pipeline tag"/>
          <p:cNvSpPr/>
          <p:nvPr/>
        </p:nvSpPr>
        <p:spPr>
          <a:xfrm>
            <a:off x="502920" y="2395728"/>
            <a:ext cx="914400" cy="365760"/>
          </a:xfrm>
          <a:prstGeom prst="rect">
            <a:avLst/>
          </a:prstGeom>
          <a:solidFill>
            <a:srgbClr val="4B3BC4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4" name="Pipeline label"/>
          <p:cNvSpPr txBox="1"/>
          <p:nvPr/>
        </p:nvSpPr>
        <p:spPr>
          <a:xfrm>
            <a:off x="502920" y="2395728"/>
            <a:ext cx="9144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Pipeline</a:t>
            </a:r>
            <a:endParaRPr lang="en-US" sz="850" dirty="0"/>
          </a:p>
        </p:txBody>
      </p:sp>
      <p:sp>
        <p:nvSpPr>
          <p:cNvPr id="15" name="Pipeline text"/>
          <p:cNvSpPr txBox="1"/>
          <p:nvPr/>
        </p:nvSpPr>
        <p:spPr>
          <a:xfrm>
            <a:off x="1508760" y="2395728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Classification → Gate → Preprocessing → ESRGAN → YOLO</a:t>
            </a:r>
            <a:endParaRPr lang="en-US" sz="800" dirty="0"/>
          </a:p>
        </p:txBody>
      </p:sp>
      <p:sp>
        <p:nvSpPr>
          <p:cNvPr id="16" name="Output card"/>
          <p:cNvSpPr/>
          <p:nvPr/>
        </p:nvSpPr>
        <p:spPr>
          <a:xfrm>
            <a:off x="502920" y="2807208"/>
            <a:ext cx="3840480" cy="365760"/>
          </a:xfrm>
          <a:prstGeom prst="rect">
            <a:avLst/>
          </a:prstGeom>
          <a:solidFill>
            <a:srgbClr val="2A1D7A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7" name="Output tag"/>
          <p:cNvSpPr/>
          <p:nvPr/>
        </p:nvSpPr>
        <p:spPr>
          <a:xfrm>
            <a:off x="502920" y="2807208"/>
            <a:ext cx="914400" cy="365760"/>
          </a:xfrm>
          <a:prstGeom prst="rect">
            <a:avLst/>
          </a:prstGeom>
          <a:solidFill>
            <a:srgbClr val="4B3BC4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8" name="Output label"/>
          <p:cNvSpPr txBox="1"/>
          <p:nvPr/>
        </p:nvSpPr>
        <p:spPr>
          <a:xfrm>
            <a:off x="502920" y="2807208"/>
            <a:ext cx="9144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Output</a:t>
            </a:r>
            <a:endParaRPr lang="en-US" sz="850" dirty="0"/>
          </a:p>
        </p:txBody>
      </p:sp>
      <p:sp>
        <p:nvSpPr>
          <p:cNvPr id="19" name="Output text"/>
          <p:cNvSpPr txBox="1"/>
          <p:nvPr/>
        </p:nvSpPr>
        <p:spPr>
          <a:xfrm>
            <a:off x="1508760" y="2807208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Condition, confidence, enhanced image &amp; detections</a:t>
            </a:r>
            <a:endParaRPr lang="en-US" sz="800" dirty="0"/>
          </a:p>
        </p:txBody>
      </p:sp>
      <p:sp>
        <p:nvSpPr>
          <p:cNvPr id="20" name="Dashboard card"/>
          <p:cNvSpPr/>
          <p:nvPr/>
        </p:nvSpPr>
        <p:spPr>
          <a:xfrm>
            <a:off x="502920" y="3218688"/>
            <a:ext cx="3840480" cy="365760"/>
          </a:xfrm>
          <a:prstGeom prst="rect">
            <a:avLst/>
          </a:prstGeom>
          <a:solidFill>
            <a:srgbClr val="2A1D7A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21" name="Dashboard tag"/>
          <p:cNvSpPr/>
          <p:nvPr/>
        </p:nvSpPr>
        <p:spPr>
          <a:xfrm>
            <a:off x="502920" y="3218688"/>
            <a:ext cx="914400" cy="365760"/>
          </a:xfrm>
          <a:prstGeom prst="rect">
            <a:avLst/>
          </a:prstGeom>
          <a:solidFill>
            <a:srgbClr val="4B3BC4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22" name="Dashboard label"/>
          <p:cNvSpPr txBox="1"/>
          <p:nvPr/>
        </p:nvSpPr>
        <p:spPr>
          <a:xfrm>
            <a:off x="502920" y="3218688"/>
            <a:ext cx="9144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</a:t>
            </a:r>
            <a:endParaRPr lang="en-US" sz="850" dirty="0"/>
          </a:p>
        </p:txBody>
      </p:sp>
      <p:sp>
        <p:nvSpPr>
          <p:cNvPr id="23" name="Dashboard text"/>
          <p:cNvSpPr txBox="1"/>
          <p:nvPr/>
        </p:nvSpPr>
        <p:spPr>
          <a:xfrm>
            <a:off x="1508760" y="3218688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Real-time visual results and model comparison</a:t>
            </a:r>
            <a:endParaRPr lang="en-US" sz="800" dirty="0"/>
          </a:p>
        </p:txBody>
      </p:sp>
      <p:sp>
        <p:nvSpPr>
          <p:cNvPr id="24" name="Future Scope heading"/>
          <p:cNvSpPr txBox="1"/>
          <p:nvPr/>
        </p:nvSpPr>
        <p:spPr>
          <a:xfrm>
            <a:off x="4846320" y="3474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Future Scope</a:t>
            </a:r>
            <a:endParaRPr lang="en-US" sz="2000" dirty="0"/>
          </a:p>
        </p:txBody>
      </p:sp>
      <p:sp>
        <p:nvSpPr>
          <p:cNvPr id="25" name="Future 1 card"/>
          <p:cNvSpPr/>
          <p:nvPr/>
        </p:nvSpPr>
        <p:spPr>
          <a:xfrm>
            <a:off x="4846320" y="896112"/>
            <a:ext cx="3840480" cy="475488"/>
          </a:xfrm>
          <a:prstGeom prst="rect">
            <a:avLst/>
          </a:prstGeom>
          <a:solidFill>
            <a:srgbClr val="4030B8"/>
          </a:solidFill>
          <a:ln w="12700">
            <a:solidFill>
              <a:srgbClr val="7B6CFF"/>
            </a:solidFill>
            <a:prstDash val="solid"/>
          </a:ln>
        </p:spPr>
      </p:sp>
      <p:sp>
        <p:nvSpPr>
          <p:cNvPr id="26" name="Future 1 number"/>
          <p:cNvSpPr txBox="1"/>
          <p:nvPr/>
        </p:nvSpPr>
        <p:spPr>
          <a:xfrm>
            <a:off x="4919472" y="89611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BE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500" dirty="0"/>
          </a:p>
        </p:txBody>
      </p:sp>
      <p:sp>
        <p:nvSpPr>
          <p:cNvPr id="27" name="Future 1 text"/>
          <p:cNvSpPr txBox="1"/>
          <p:nvPr/>
        </p:nvSpPr>
        <p:spPr>
          <a:xfrm>
            <a:off x="5440680" y="896112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Improve detection recall under severe weather conditions</a:t>
            </a:r>
            <a:endParaRPr lang="en-US" sz="850" dirty="0"/>
          </a:p>
        </p:txBody>
      </p:sp>
      <p:sp>
        <p:nvSpPr>
          <p:cNvPr id="28" name="Future 2 card"/>
          <p:cNvSpPr/>
          <p:nvPr/>
        </p:nvSpPr>
        <p:spPr>
          <a:xfrm>
            <a:off x="4846320" y="1444752"/>
            <a:ext cx="3840480" cy="475488"/>
          </a:xfrm>
          <a:prstGeom prst="rect">
            <a:avLst/>
          </a:prstGeom>
          <a:solidFill>
            <a:srgbClr val="4030B8"/>
          </a:solidFill>
          <a:ln w="12700">
            <a:solidFill>
              <a:srgbClr val="7B6CFF"/>
            </a:solidFill>
            <a:prstDash val="solid"/>
          </a:ln>
        </p:spPr>
      </p:sp>
      <p:sp>
        <p:nvSpPr>
          <p:cNvPr id="29" name="Future 2 number"/>
          <p:cNvSpPr txBox="1"/>
          <p:nvPr/>
        </p:nvSpPr>
        <p:spPr>
          <a:xfrm>
            <a:off x="4919472" y="144475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BE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500" dirty="0"/>
          </a:p>
        </p:txBody>
      </p:sp>
      <p:sp>
        <p:nvSpPr>
          <p:cNvPr id="30" name="Future 2 text"/>
          <p:cNvSpPr txBox="1"/>
          <p:nvPr/>
        </p:nvSpPr>
        <p:spPr>
          <a:xfrm>
            <a:off x="5440680" y="1444752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Optimize inference speed and computational efficiency</a:t>
            </a:r>
            <a:endParaRPr lang="en-US" sz="850" dirty="0"/>
          </a:p>
        </p:txBody>
      </p:sp>
      <p:sp>
        <p:nvSpPr>
          <p:cNvPr id="31" name="Future 3 card"/>
          <p:cNvSpPr/>
          <p:nvPr/>
        </p:nvSpPr>
        <p:spPr>
          <a:xfrm>
            <a:off x="4846320" y="1993392"/>
            <a:ext cx="3840480" cy="475488"/>
          </a:xfrm>
          <a:prstGeom prst="rect">
            <a:avLst/>
          </a:prstGeom>
          <a:solidFill>
            <a:srgbClr val="4030B8"/>
          </a:solidFill>
          <a:ln w="12700">
            <a:solidFill>
              <a:srgbClr val="7B6CFF"/>
            </a:solidFill>
            <a:prstDash val="solid"/>
          </a:ln>
        </p:spPr>
      </p:sp>
      <p:sp>
        <p:nvSpPr>
          <p:cNvPr id="32" name="Future 3 number"/>
          <p:cNvSpPr txBox="1"/>
          <p:nvPr/>
        </p:nvSpPr>
        <p:spPr>
          <a:xfrm>
            <a:off x="4919472" y="199339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BE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500" dirty="0"/>
          </a:p>
        </p:txBody>
      </p:sp>
      <p:sp>
        <p:nvSpPr>
          <p:cNvPr id="33" name="Future 3 text"/>
          <p:cNvSpPr txBox="1"/>
          <p:nvPr/>
        </p:nvSpPr>
        <p:spPr>
          <a:xfrm>
            <a:off x="5440680" y="1993392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Extend the system to video and real-time camera input</a:t>
            </a:r>
            <a:endParaRPr lang="en-US" sz="850" dirty="0"/>
          </a:p>
        </p:txBody>
      </p:sp>
      <p:sp>
        <p:nvSpPr>
          <p:cNvPr id="34" name="Future 4 card"/>
          <p:cNvSpPr/>
          <p:nvPr/>
        </p:nvSpPr>
        <p:spPr>
          <a:xfrm>
            <a:off x="4846320" y="2542032"/>
            <a:ext cx="3840480" cy="475488"/>
          </a:xfrm>
          <a:prstGeom prst="rect">
            <a:avLst/>
          </a:prstGeom>
          <a:solidFill>
            <a:srgbClr val="4030B8"/>
          </a:solidFill>
          <a:ln w="12700">
            <a:solidFill>
              <a:srgbClr val="7B6CFF"/>
            </a:solidFill>
            <a:prstDash val="solid"/>
          </a:ln>
        </p:spPr>
      </p:sp>
      <p:sp>
        <p:nvSpPr>
          <p:cNvPr id="35" name="Future 4 number"/>
          <p:cNvSpPr txBox="1"/>
          <p:nvPr/>
        </p:nvSpPr>
        <p:spPr>
          <a:xfrm>
            <a:off x="4919472" y="254203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BE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1500" dirty="0"/>
          </a:p>
        </p:txBody>
      </p:sp>
      <p:sp>
        <p:nvSpPr>
          <p:cNvPr id="36" name="Future 4 text"/>
          <p:cNvSpPr txBox="1"/>
          <p:nvPr/>
        </p:nvSpPr>
        <p:spPr>
          <a:xfrm>
            <a:off x="5440680" y="2542032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Evaluate on larger and diverse adverse-weather datasets</a:t>
            </a:r>
            <a:endParaRPr lang="en-US" sz="850" dirty="0"/>
          </a:p>
        </p:txBody>
      </p:sp>
      <p:sp>
        <p:nvSpPr>
          <p:cNvPr id="37" name="Future 5 card"/>
          <p:cNvSpPr/>
          <p:nvPr/>
        </p:nvSpPr>
        <p:spPr>
          <a:xfrm>
            <a:off x="4846320" y="3090672"/>
            <a:ext cx="3840480" cy="475488"/>
          </a:xfrm>
          <a:prstGeom prst="rect">
            <a:avLst/>
          </a:prstGeom>
          <a:solidFill>
            <a:srgbClr val="4030B8"/>
          </a:solidFill>
          <a:ln w="12700">
            <a:solidFill>
              <a:srgbClr val="7B6CFF"/>
            </a:solidFill>
            <a:prstDash val="solid"/>
          </a:ln>
        </p:spPr>
      </p:sp>
      <p:sp>
        <p:nvSpPr>
          <p:cNvPr id="38" name="Future 5 number"/>
          <p:cNvSpPr txBox="1"/>
          <p:nvPr/>
        </p:nvSpPr>
        <p:spPr>
          <a:xfrm>
            <a:off x="4919472" y="309067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BE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1500" dirty="0"/>
          </a:p>
        </p:txBody>
      </p:sp>
      <p:sp>
        <p:nvSpPr>
          <p:cNvPr id="39" name="Future 5 text"/>
          <p:cNvSpPr txBox="1"/>
          <p:nvPr/>
        </p:nvSpPr>
        <p:spPr>
          <a:xfrm>
            <a:off x="5440680" y="3090672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Further optimize the YOLO11 architecture and preprocessing pipeline</a:t>
            </a:r>
            <a:endParaRPr lang="en-US" sz="850" dirty="0"/>
          </a:p>
        </p:txBody>
      </p:sp>
      <p:sp>
        <p:nvSpPr>
          <p:cNvPr id="40" name="Flow heading"/>
          <p:cNvSpPr txBox="1"/>
          <p:nvPr/>
        </p:nvSpPr>
        <p:spPr>
          <a:xfrm>
            <a:off x="502920" y="374904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Deployment Flow</a:t>
            </a:r>
            <a:endParaRPr lang="en-US" sz="1050" dirty="0"/>
          </a:p>
        </p:txBody>
      </p:sp>
      <p:sp>
        <p:nvSpPr>
          <p:cNvPr id="41" name="Step 1"/>
          <p:cNvSpPr/>
          <p:nvPr/>
        </p:nvSpPr>
        <p:spPr>
          <a:xfrm>
            <a:off x="502920" y="4005072"/>
            <a:ext cx="1828800" cy="384048"/>
          </a:xfrm>
          <a:prstGeom prst="rect">
            <a:avLst/>
          </a:prstGeom>
          <a:solidFill>
            <a:srgbClr val="6A58F0"/>
          </a:solidFill>
          <a:ln w="12700">
            <a:solidFill>
              <a:srgbClr val="9D8CFF"/>
            </a:solidFill>
            <a:prstDash val="solid"/>
          </a:ln>
        </p:spPr>
      </p:sp>
      <p:sp>
        <p:nvSpPr>
          <p:cNvPr id="42" name="Step 1 label"/>
          <p:cNvSpPr txBox="1"/>
          <p:nvPr/>
        </p:nvSpPr>
        <p:spPr>
          <a:xfrm>
            <a:off x="502920" y="4005072"/>
            <a:ext cx="18288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 Image</a:t>
            </a:r>
            <a:endParaRPr lang="en-US" sz="850" dirty="0"/>
          </a:p>
        </p:txBody>
      </p:sp>
      <p:sp>
        <p:nvSpPr>
          <p:cNvPr id="43" name="Arrow 1"/>
          <p:cNvSpPr txBox="1"/>
          <p:nvPr/>
        </p:nvSpPr>
        <p:spPr>
          <a:xfrm>
            <a:off x="2331720" y="4005072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C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200" dirty="0"/>
          </a:p>
        </p:txBody>
      </p:sp>
      <p:sp>
        <p:nvSpPr>
          <p:cNvPr id="44" name="Step 2"/>
          <p:cNvSpPr/>
          <p:nvPr/>
        </p:nvSpPr>
        <p:spPr>
          <a:xfrm>
            <a:off x="2606040" y="4005072"/>
            <a:ext cx="1828800" cy="384048"/>
          </a:xfrm>
          <a:prstGeom prst="rect">
            <a:avLst/>
          </a:prstGeom>
          <a:solidFill>
            <a:srgbClr val="4030B8"/>
          </a:solidFill>
          <a:ln w="12700">
            <a:solidFill>
              <a:srgbClr val="9D8CFF"/>
            </a:solidFill>
            <a:prstDash val="solid"/>
          </a:ln>
        </p:spPr>
      </p:sp>
      <p:sp>
        <p:nvSpPr>
          <p:cNvPr id="45" name="Step 2 label"/>
          <p:cNvSpPr txBox="1"/>
          <p:nvPr/>
        </p:nvSpPr>
        <p:spPr>
          <a:xfrm>
            <a:off x="2606040" y="4005072"/>
            <a:ext cx="18288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Smart Vision Dashboard</a:t>
            </a:r>
            <a:endParaRPr lang="en-US" sz="850" dirty="0"/>
          </a:p>
        </p:txBody>
      </p:sp>
      <p:sp>
        <p:nvSpPr>
          <p:cNvPr id="46" name="Arrow 2"/>
          <p:cNvSpPr txBox="1"/>
          <p:nvPr/>
        </p:nvSpPr>
        <p:spPr>
          <a:xfrm>
            <a:off x="4434840" y="4005072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C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200" dirty="0"/>
          </a:p>
        </p:txBody>
      </p:sp>
      <p:sp>
        <p:nvSpPr>
          <p:cNvPr id="47" name="Step 3"/>
          <p:cNvSpPr/>
          <p:nvPr/>
        </p:nvSpPr>
        <p:spPr>
          <a:xfrm>
            <a:off x="4709160" y="4005072"/>
            <a:ext cx="1828800" cy="384048"/>
          </a:xfrm>
          <a:prstGeom prst="rect">
            <a:avLst/>
          </a:prstGeom>
          <a:solidFill>
            <a:srgbClr val="4030B8"/>
          </a:solidFill>
          <a:ln w="12700">
            <a:solidFill>
              <a:srgbClr val="9D8CFF"/>
            </a:solidFill>
            <a:prstDash val="solid"/>
          </a:ln>
        </p:spPr>
      </p:sp>
      <p:sp>
        <p:nvSpPr>
          <p:cNvPr id="48" name="Step 3 label"/>
          <p:cNvSpPr txBox="1"/>
          <p:nvPr/>
        </p:nvSpPr>
        <p:spPr>
          <a:xfrm>
            <a:off x="4709160" y="4005072"/>
            <a:ext cx="18288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Adaptive Pipeline</a:t>
            </a:r>
            <a:endParaRPr lang="en-US" sz="850" dirty="0"/>
          </a:p>
        </p:txBody>
      </p:sp>
      <p:sp>
        <p:nvSpPr>
          <p:cNvPr id="49" name="Arrow 3"/>
          <p:cNvSpPr txBox="1"/>
          <p:nvPr/>
        </p:nvSpPr>
        <p:spPr>
          <a:xfrm>
            <a:off x="6537960" y="4005072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C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200" dirty="0"/>
          </a:p>
        </p:txBody>
      </p:sp>
      <p:sp>
        <p:nvSpPr>
          <p:cNvPr id="50" name="Step 4"/>
          <p:cNvSpPr/>
          <p:nvPr/>
        </p:nvSpPr>
        <p:spPr>
          <a:xfrm>
            <a:off x="6812280" y="4005072"/>
            <a:ext cx="1828800" cy="384048"/>
          </a:xfrm>
          <a:prstGeom prst="rect">
            <a:avLst/>
          </a:prstGeom>
          <a:solidFill>
            <a:srgbClr val="6A58F0"/>
          </a:solidFill>
          <a:ln w="12700">
            <a:solidFill>
              <a:srgbClr val="9D8CFF"/>
            </a:solidFill>
            <a:prstDash val="solid"/>
          </a:ln>
        </p:spPr>
      </p:sp>
      <p:sp>
        <p:nvSpPr>
          <p:cNvPr id="51" name="Step 4 label"/>
          <p:cNvSpPr txBox="1"/>
          <p:nvPr/>
        </p:nvSpPr>
        <p:spPr>
          <a:xfrm>
            <a:off x="6812280" y="4005072"/>
            <a:ext cx="18288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Detection Results</a:t>
            </a:r>
            <a:endParaRPr lang="en-US" sz="850" dirty="0"/>
          </a:p>
        </p:txBody>
      </p:sp>
      <p:sp>
        <p:nvSpPr>
          <p:cNvPr id="52" name="Closing statement"/>
          <p:cNvSpPr txBox="1"/>
          <p:nvPr/>
        </p:nvSpPr>
        <p:spPr>
          <a:xfrm>
            <a:off x="502920" y="4498848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4E0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Future work focuses on improving robustness, efficiency, and real-time deployment in challenging visual environments.</a:t>
            </a:r>
            <a:endParaRPr lang="en-US" sz="850" dirty="0"/>
          </a:p>
        </p:txBody>
      </p:sp>
      <p:sp>
        <p:nvSpPr>
          <p:cNvPr id="53" name="Page number"/>
          <p:cNvSpPr txBox="1"/>
          <p:nvPr/>
        </p:nvSpPr>
        <p:spPr>
          <a:xfrm>
            <a:off x="7772400" y="4864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C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Page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/home/claude/logo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685800"/>
            <a:ext cx="548640" cy="54864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914400" y="13258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Project name"/>
          <p:cNvSpPr txBox="1"/>
          <p:nvPr/>
        </p:nvSpPr>
        <p:spPr>
          <a:xfrm>
            <a:off x="91440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A89B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SMART VISION</a:t>
            </a:r>
            <a:endParaRPr lang="en-US" sz="1600" dirty="0"/>
          </a:p>
        </p:txBody>
      </p:sp>
      <p:sp>
        <p:nvSpPr>
          <p:cNvPr id="5" name="Subtitle"/>
          <p:cNvSpPr txBox="1"/>
          <p:nvPr/>
        </p:nvSpPr>
        <p:spPr>
          <a:xfrm>
            <a:off x="914400" y="2651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4E0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Condition-Aware Object Detection for Adverse Weather</a:t>
            </a:r>
            <a:endParaRPr lang="en-US" sz="1200" dirty="0"/>
          </a:p>
        </p:txBody>
      </p:sp>
      <p:sp>
        <p:nvSpPr>
          <p:cNvPr id="6" name="Divider"/>
          <p:cNvSpPr/>
          <p:nvPr/>
        </p:nvSpPr>
        <p:spPr>
          <a:xfrm>
            <a:off x="3474720" y="3200400"/>
            <a:ext cx="2194560" cy="0"/>
          </a:xfrm>
          <a:prstGeom prst="line">
            <a:avLst/>
          </a:prstGeom>
          <a:noFill/>
          <a:ln w="19050">
            <a:solidFill>
              <a:srgbClr val="8A7BFF"/>
            </a:solidFill>
            <a:prstDash val="solid"/>
          </a:ln>
        </p:spPr>
      </p:sp>
      <p:sp>
        <p:nvSpPr>
          <p:cNvPr id="7" name="Team details"/>
          <p:cNvSpPr txBox="1"/>
          <p:nvPr/>
        </p:nvSpPr>
        <p:spPr>
          <a:xfrm>
            <a:off x="914400" y="3383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Janani R S, Lakshanadevi M</a:t>
            </a:r>
            <a:endParaRPr lang="en-US" sz="11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Department of AIDS  |  SJIT</a:t>
            </a:r>
            <a:endParaRPr lang="en-US" sz="11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Guide / Mentor: Dr. S. Sumathi</a:t>
            </a:r>
            <a:endParaRPr lang="en-US" sz="1100" dirty="0"/>
          </a:p>
        </p:txBody>
      </p:sp>
      <p:sp>
        <p:nvSpPr>
          <p:cNvPr id="8" name="Questions pill"/>
          <p:cNvSpPr/>
          <p:nvPr/>
        </p:nvSpPr>
        <p:spPr>
          <a:xfrm>
            <a:off x="3383280" y="4297680"/>
            <a:ext cx="2377440" cy="384048"/>
          </a:xfrm>
          <a:prstGeom prst="roundRect">
            <a:avLst>
              <a:gd name="adj" fmla="val 47619"/>
            </a:avLst>
          </a:prstGeom>
          <a:solidFill>
            <a:srgbClr val="4B3BC4"/>
          </a:solidFill>
          <a:ln w="12700">
            <a:solidFill>
              <a:srgbClr val="9D8CFF"/>
            </a:solidFill>
            <a:prstDash val="solid"/>
          </a:ln>
        </p:spPr>
      </p:sp>
      <p:sp>
        <p:nvSpPr>
          <p:cNvPr id="9" name="Questions label"/>
          <p:cNvSpPr txBox="1"/>
          <p:nvPr/>
        </p:nvSpPr>
        <p:spPr>
          <a:xfrm>
            <a:off x="3383280" y="42976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Questions &amp; Discussion</a:t>
            </a:r>
            <a:endParaRPr lang="en-US" sz="1050" dirty="0"/>
          </a:p>
        </p:txBody>
      </p:sp>
      <p:sp>
        <p:nvSpPr>
          <p:cNvPr id="10" name="Page number"/>
          <p:cNvSpPr txBox="1"/>
          <p:nvPr/>
        </p:nvSpPr>
        <p:spPr>
          <a:xfrm>
            <a:off x="7772400" y="4864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C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Page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Vision - Condition-Aware Object Detection for Adverse Weather</dc:title>
  <dc:subject>PptxGenJS Presentation</dc:subject>
  <dc:creator>Janani R S, Lakshanadevi M</dc:creator>
  <cp:lastModifiedBy>Janani R S, Lakshanadevi M</cp:lastModifiedBy>
  <cp:revision>1</cp:revision>
  <dcterms:created xsi:type="dcterms:W3CDTF">2026-10-09T05:44:51Z</dcterms:created>
  <dcterms:modified xsi:type="dcterms:W3CDTF">2026-10-09T05:44:51Z</dcterms:modified>
</cp:coreProperties>
</file>