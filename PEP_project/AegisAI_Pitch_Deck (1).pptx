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Confidence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21A4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Reasoning</c:v>
                  </c:pt>
                  <c:pt idx="1">
                    <c:v>Coding</c:v>
                  </c:pt>
                  <c:pt idx="2">
                    <c:v>General</c:v>
                  </c:pt>
                  <c:pt idx="3">
                    <c:v>Math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0.91</c:v>
                </c:pt>
                <c:pt idx="1">
                  <c:v>0.18</c:v>
                </c:pt>
                <c:pt idx="2">
                  <c:v>0.07</c:v>
                </c:pt>
                <c:pt idx="3">
                  <c:v>0.02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21A4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4F7FC"/>
        </a:solidFill>
        <a:ln>
          <a:noFill/>
        </a:ln>
        <a:effectLst/>
      </c:spPr>
    </c:plotArea>
    <c:plotVisOnly val="1"/>
    <c:dispBlanksAs val="span"/>
  </c:chart>
  <c:spPr>
    <a:solidFill>
      <a:srgbClr val="F4F7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21A4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Llama 3.1 8B</c:v>
                  </c:pt>
                  <c:pt idx="1">
                    <c:v>GPT OSS</c:v>
                  </c:pt>
                  <c:pt idx="2">
                    <c:v>Scout</c:v>
                  </c:pt>
                  <c:pt idx="3">
                    <c:v>Qwen</c:v>
                  </c:pt>
                  <c:pt idx="4">
                    <c:v>Llama 70B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0.87</c:v>
                </c:pt>
                <c:pt idx="1">
                  <c:v>0.71</c:v>
                </c:pt>
                <c:pt idx="2">
                  <c:v>0.69</c:v>
                </c:pt>
                <c:pt idx="3">
                  <c:v>0.63</c:v>
                </c:pt>
                <c:pt idx="4">
                  <c:v>0.52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21A4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 per Query (USD)</c:v>
                </c:pt>
              </c:strCache>
            </c:strRef>
          </c:tx>
          <c:spPr>
            <a:solidFill>
              <a:srgbClr val="D64545"/>
            </a:solidFill>
            <a:effectLst/>
          </c:spPr>
          <c:invertIfNegative val="0"/>
          <c:dLbls>
            <c:numFmt formatCode="&quot;$&quot;0.00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21A4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6454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F9D6B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Baseline (Always 70B)</c:v>
                  </c:pt>
                  <c:pt idx="1">
                    <c:v>AegisAI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0.0018</c:v>
                </c:pt>
                <c:pt idx="1">
                  <c:v>0.00024</c:v>
                </c:pt>
              </c:numCache>
            </c:numRef>
          </c:val>
        </c:ser>
        <c:dLbls>
          <c:numFmt formatCode="&quot;$&quot;0.00000" sourceLinked="0"/>
          <c:txPr>
            <a:bodyPr/>
            <a:lstStyle/>
            <a:p>
              <a:pPr>
                <a:defRPr b="0" i="0" strike="noStrike" sz="1100" u="none">
                  <a:solidFill>
                    <a:srgbClr val="121A4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chart" Target="/ppt/charts/chart1.xml"/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chart" Target="/ppt/charts/chart3.xml"/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8" Type="http://schemas.openxmlformats.org/officeDocument/2006/relationships/image" Target="../media/image-5-7.png"/><Relationship Id="rId9" Type="http://schemas.openxmlformats.org/officeDocument/2006/relationships/image" Target="../media/image-5-8.png"/><Relationship Id="rId10" Type="http://schemas.openxmlformats.org/officeDocument/2006/relationships/image" Target="../media/image-5-9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548640"/>
            <a:ext cx="82296" cy="82296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960120"/>
            <a:ext cx="82296" cy="82296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9966960" y="1417320"/>
            <a:ext cx="82296" cy="82296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5" name="Shape 3"/>
          <p:cNvSpPr/>
          <p:nvPr/>
        </p:nvSpPr>
        <p:spPr>
          <a:xfrm>
            <a:off x="10698480" y="822960"/>
            <a:ext cx="82296" cy="82296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6" name="Shape 4"/>
          <p:cNvSpPr/>
          <p:nvPr/>
        </p:nvSpPr>
        <p:spPr>
          <a:xfrm>
            <a:off x="11247120" y="1280160"/>
            <a:ext cx="82296" cy="82296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7" name="Shape 5"/>
          <p:cNvSpPr/>
          <p:nvPr/>
        </p:nvSpPr>
        <p:spPr>
          <a:xfrm>
            <a:off x="10881360" y="457200"/>
            <a:ext cx="82296" cy="82296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HackIndia 2026  ·  Track 03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82296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AegisAI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640080" y="169164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AI Orchestration Engine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10312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Multi-Model Routing for Cost Optimization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2697480"/>
            <a:ext cx="5852160" cy="1783080"/>
          </a:xfrm>
          <a:prstGeom prst="roundRect">
            <a:avLst>
              <a:gd name="adj" fmla="val 4103"/>
            </a:avLst>
          </a:prstGeom>
          <a:solidFill>
            <a:srgbClr val="161E4A"/>
          </a:solidFill>
          <a:ln w="12700">
            <a:solidFill>
              <a:srgbClr val="2630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834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3108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Riderz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14400" y="352044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Manickavel Palani   ·   Rakesh D   ·   Krish Roshan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Lakshmi Narayanan R   ·   Lakshanadevi M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903720" y="502920"/>
            <a:ext cx="4709160" cy="5806440"/>
          </a:xfrm>
          <a:prstGeom prst="roundRect">
            <a:avLst>
              <a:gd name="adj" fmla="val 1748"/>
            </a:avLst>
          </a:prstGeom>
          <a:solidFill>
            <a:srgbClr val="141B4D"/>
          </a:solidFill>
          <a:ln/>
        </p:spPr>
      </p:sp>
      <p:sp>
        <p:nvSpPr>
          <p:cNvPr id="17" name="Text 15"/>
          <p:cNvSpPr/>
          <p:nvPr/>
        </p:nvSpPr>
        <p:spPr>
          <a:xfrm>
            <a:off x="7269480" y="777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269480" y="10972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query hits the same large model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269480" y="1691640"/>
            <a:ext cx="402336" cy="402336"/>
          </a:xfrm>
          <a:prstGeom prst="ellipse">
            <a:avLst/>
          </a:prstGeom>
          <a:solidFill>
            <a:srgbClr val="2A3378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4087" y="1796247"/>
            <a:ext cx="193121" cy="193121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7818120" y="167335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inference cost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818120" y="19385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A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billed at the biggest model's rate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7269480" y="2468880"/>
            <a:ext cx="402336" cy="402336"/>
          </a:xfrm>
          <a:prstGeom prst="ellipse">
            <a:avLst/>
          </a:prstGeom>
          <a:solidFill>
            <a:srgbClr val="2A3378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4087" y="2573487"/>
            <a:ext cx="193121" cy="193121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7818120" y="245059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latency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7818120" y="2715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A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Oversized models slow down simple queries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7269480" y="3246120"/>
            <a:ext cx="402336" cy="402336"/>
          </a:xfrm>
          <a:prstGeom prst="ellipse">
            <a:avLst/>
          </a:prstGeom>
          <a:solidFill>
            <a:srgbClr val="2A3378"/>
          </a:solidFill>
          <a:ln/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4087" y="3350727"/>
            <a:ext cx="193121" cy="193121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7818120" y="322783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resource utilization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7818120" y="349300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A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differentiation between easy and hard tasks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7269480" y="4023360"/>
            <a:ext cx="402336" cy="402336"/>
          </a:xfrm>
          <a:prstGeom prst="ellipse">
            <a:avLst/>
          </a:prstGeom>
          <a:solidFill>
            <a:srgbClr val="2A3378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4087" y="4127967"/>
            <a:ext cx="193121" cy="193121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818120" y="400507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routing intelligence</a:t>
            </a:r>
            <a:endParaRPr lang="en-US" sz="1300" dirty="0"/>
          </a:p>
        </p:txBody>
      </p:sp>
      <p:sp>
        <p:nvSpPr>
          <p:cNvPr id="34" name="Text 28"/>
          <p:cNvSpPr/>
          <p:nvPr/>
        </p:nvSpPr>
        <p:spPr>
          <a:xfrm>
            <a:off x="7818120" y="42702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A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Static, one-size-fits-all model selection</a:t>
            </a:r>
            <a:endParaRPr lang="en-US" sz="1050" dirty="0"/>
          </a:p>
        </p:txBody>
      </p:sp>
      <p:sp>
        <p:nvSpPr>
          <p:cNvPr id="35" name="Shape 29"/>
          <p:cNvSpPr/>
          <p:nvPr/>
        </p:nvSpPr>
        <p:spPr>
          <a:xfrm>
            <a:off x="7269480" y="4800600"/>
            <a:ext cx="402336" cy="402336"/>
          </a:xfrm>
          <a:prstGeom prst="ellipse">
            <a:avLst/>
          </a:prstGeom>
          <a:solidFill>
            <a:srgbClr val="2A3378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4087" y="4905207"/>
            <a:ext cx="193121" cy="193121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7818120" y="478231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observability</a:t>
            </a:r>
            <a:endParaRPr lang="en-US" sz="1300" dirty="0"/>
          </a:p>
        </p:txBody>
      </p:sp>
      <p:sp>
        <p:nvSpPr>
          <p:cNvPr id="38" name="Text 31"/>
          <p:cNvSpPr/>
          <p:nvPr/>
        </p:nvSpPr>
        <p:spPr>
          <a:xfrm>
            <a:off x="7818120" y="50474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A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into why a model was chosen</a:t>
            </a:r>
            <a:endParaRPr lang="en-US" sz="1050" dirty="0"/>
          </a:p>
        </p:txBody>
      </p:sp>
      <p:sp>
        <p:nvSpPr>
          <p:cNvPr id="39" name="Text 3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AegisAI  |  Code Riderz  |  HackIndia 2026</a:t>
            </a:r>
            <a:endParaRPr lang="en-US" sz="900" dirty="0"/>
          </a:p>
        </p:txBody>
      </p:sp>
      <p:sp>
        <p:nvSpPr>
          <p:cNvPr id="40" name="Text 33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AegisAI replaces the single-model approach with an adaptive orchestration pipeline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847088"/>
            <a:ext cx="512064" cy="512064"/>
          </a:xfrm>
          <a:prstGeom prst="ellipse">
            <a:avLst/>
          </a:prstGeom>
          <a:solidFill>
            <a:srgbClr val="121A4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3852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2743200"/>
            <a:ext cx="6949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298448" y="1417320"/>
            <a:ext cx="1371600" cy="1371600"/>
          </a:xfrm>
          <a:prstGeom prst="roundRect">
            <a:avLst>
              <a:gd name="adj" fmla="val 4667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1B235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728216" y="1581912"/>
            <a:ext cx="512064" cy="512064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1353" y="1715049"/>
            <a:ext cx="245791" cy="24579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53312" y="2194560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1353312" y="2441448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2670048" y="1874520"/>
            <a:ext cx="1234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2793492" y="1417320"/>
            <a:ext cx="1371600" cy="1371600"/>
          </a:xfrm>
          <a:prstGeom prst="roundRect">
            <a:avLst>
              <a:gd name="adj" fmla="val 4667"/>
            </a:avLst>
          </a:prstGeom>
          <a:solidFill>
            <a:srgbClr val="E0F7FA"/>
          </a:solidFill>
          <a:ln/>
          <a:effectLst>
            <a:outerShdw sx="100000" sy="100000" kx="0" ky="0" algn="bl" rotWithShape="0" blurRad="101600" dist="38100" dir="5400000">
              <a:srgbClr val="1B235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223260" y="1581912"/>
            <a:ext cx="512064" cy="512064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6397" y="1715049"/>
            <a:ext cx="245791" cy="24579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848356" y="2194560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2848356" y="2441448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4165092" y="1874520"/>
            <a:ext cx="1234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4288536" y="1417320"/>
            <a:ext cx="1371600" cy="1371600"/>
          </a:xfrm>
          <a:prstGeom prst="roundRect">
            <a:avLst>
              <a:gd name="adj" fmla="val 4667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1B235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18304" y="1581912"/>
            <a:ext cx="512064" cy="512064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1441" y="1715049"/>
            <a:ext cx="245791" cy="24579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343400" y="2194560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Multi-Model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4343400" y="2441448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5660136" y="1874520"/>
            <a:ext cx="1234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5783580" y="1417320"/>
            <a:ext cx="1371600" cy="1371600"/>
          </a:xfrm>
          <a:prstGeom prst="roundRect">
            <a:avLst>
              <a:gd name="adj" fmla="val 4667"/>
            </a:avLst>
          </a:prstGeom>
          <a:solidFill>
            <a:srgbClr val="E0F7FA"/>
          </a:solidFill>
          <a:ln/>
          <a:effectLst>
            <a:outerShdw sx="100000" sy="100000" kx="0" ky="0" algn="bl" rotWithShape="0" blurRad="101600" dist="38100" dir="5400000">
              <a:srgbClr val="1B235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6213348" y="1581912"/>
            <a:ext cx="512064" cy="512064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6485" y="1715049"/>
            <a:ext cx="245791" cy="245791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838444" y="2194560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5838444" y="2441448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7155180" y="1874520"/>
            <a:ext cx="1234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4"/>
          <p:cNvSpPr/>
          <p:nvPr/>
        </p:nvSpPr>
        <p:spPr>
          <a:xfrm>
            <a:off x="7278624" y="1417320"/>
            <a:ext cx="1371600" cy="1371600"/>
          </a:xfrm>
          <a:prstGeom prst="roundRect">
            <a:avLst>
              <a:gd name="adj" fmla="val 4667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1B2350">
                <a:alpha val="12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7708392" y="1581912"/>
            <a:ext cx="512064" cy="512064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1529" y="1715049"/>
            <a:ext cx="245791" cy="245791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7333488" y="2194560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7333488" y="2441448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</a:t>
            </a:r>
            <a:endParaRPr lang="en-US" sz="1100" dirty="0"/>
          </a:p>
        </p:txBody>
      </p:sp>
      <p:sp>
        <p:nvSpPr>
          <p:cNvPr id="36" name="Text 28"/>
          <p:cNvSpPr/>
          <p:nvPr/>
        </p:nvSpPr>
        <p:spPr>
          <a:xfrm>
            <a:off x="8650224" y="1874520"/>
            <a:ext cx="1234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7" name="Shape 29"/>
          <p:cNvSpPr/>
          <p:nvPr/>
        </p:nvSpPr>
        <p:spPr>
          <a:xfrm>
            <a:off x="8773668" y="1417320"/>
            <a:ext cx="1371600" cy="1371600"/>
          </a:xfrm>
          <a:prstGeom prst="roundRect">
            <a:avLst>
              <a:gd name="adj" fmla="val 4667"/>
            </a:avLst>
          </a:prstGeom>
          <a:solidFill>
            <a:srgbClr val="E0F7FA"/>
          </a:solidFill>
          <a:ln/>
          <a:effectLst>
            <a:outerShdw sx="100000" sy="100000" kx="0" ky="0" algn="bl" rotWithShape="0" blurRad="101600" dist="38100" dir="5400000">
              <a:srgbClr val="1B2350">
                <a:alpha val="12000"/>
              </a:srgbClr>
            </a:outerShdw>
          </a:effectLst>
        </p:spPr>
      </p:sp>
      <p:sp>
        <p:nvSpPr>
          <p:cNvPr id="38" name="Shape 30"/>
          <p:cNvSpPr/>
          <p:nvPr/>
        </p:nvSpPr>
        <p:spPr>
          <a:xfrm>
            <a:off x="9203436" y="1581912"/>
            <a:ext cx="512064" cy="512064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6573" y="1715049"/>
            <a:ext cx="245791" cy="245791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8828532" y="2194560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100" dirty="0"/>
          </a:p>
        </p:txBody>
      </p:sp>
      <p:sp>
        <p:nvSpPr>
          <p:cNvPr id="41" name="Text 32"/>
          <p:cNvSpPr/>
          <p:nvPr/>
        </p:nvSpPr>
        <p:spPr>
          <a:xfrm>
            <a:off x="8828532" y="2441448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100" dirty="0"/>
          </a:p>
        </p:txBody>
      </p:sp>
      <p:sp>
        <p:nvSpPr>
          <p:cNvPr id="42" name="Text 33"/>
          <p:cNvSpPr/>
          <p:nvPr/>
        </p:nvSpPr>
        <p:spPr>
          <a:xfrm>
            <a:off x="10145268" y="1874520"/>
            <a:ext cx="1234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43" name="Shape 34"/>
          <p:cNvSpPr/>
          <p:nvPr/>
        </p:nvSpPr>
        <p:spPr>
          <a:xfrm>
            <a:off x="10268712" y="1417320"/>
            <a:ext cx="1371600" cy="1371600"/>
          </a:xfrm>
          <a:prstGeom prst="roundRect">
            <a:avLst>
              <a:gd name="adj" fmla="val 4667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1B2350">
                <a:alpha val="12000"/>
              </a:srgbClr>
            </a:outerShdw>
          </a:effectLst>
        </p:spPr>
      </p:sp>
      <p:sp>
        <p:nvSpPr>
          <p:cNvPr id="44" name="Shape 35"/>
          <p:cNvSpPr/>
          <p:nvPr/>
        </p:nvSpPr>
        <p:spPr>
          <a:xfrm>
            <a:off x="10698480" y="1581912"/>
            <a:ext cx="512064" cy="512064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4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31617" y="1715049"/>
            <a:ext cx="245791" cy="245791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10323576" y="2194560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100" dirty="0"/>
          </a:p>
        </p:txBody>
      </p:sp>
      <p:sp>
        <p:nvSpPr>
          <p:cNvPr id="47" name="Text 37"/>
          <p:cNvSpPr/>
          <p:nvPr/>
        </p:nvSpPr>
        <p:spPr>
          <a:xfrm>
            <a:off x="10323576" y="2441448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</a:t>
            </a:r>
            <a:endParaRPr lang="en-US" sz="1100" dirty="0"/>
          </a:p>
        </p:txBody>
      </p:sp>
      <p:sp>
        <p:nvSpPr>
          <p:cNvPr id="48" name="Text 38"/>
          <p:cNvSpPr/>
          <p:nvPr/>
        </p:nvSpPr>
        <p:spPr>
          <a:xfrm>
            <a:off x="969264" y="1874520"/>
            <a:ext cx="329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49" name="Text 39"/>
          <p:cNvSpPr/>
          <p:nvPr/>
        </p:nvSpPr>
        <p:spPr>
          <a:xfrm>
            <a:off x="548640" y="3108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Features</a:t>
            </a:r>
            <a:endParaRPr lang="en-US" sz="1600" dirty="0"/>
          </a:p>
        </p:txBody>
      </p:sp>
      <p:sp>
        <p:nvSpPr>
          <p:cNvPr id="50" name="Shape 40"/>
          <p:cNvSpPr/>
          <p:nvPr/>
        </p:nvSpPr>
        <p:spPr>
          <a:xfrm>
            <a:off x="548640" y="3611880"/>
            <a:ext cx="3611880" cy="868680"/>
          </a:xfrm>
          <a:prstGeom prst="roundRect">
            <a:avLst>
              <a:gd name="adj" fmla="val 7368"/>
            </a:avLst>
          </a:prstGeom>
          <a:solidFill>
            <a:srgbClr val="F4F7FC"/>
          </a:solidFill>
          <a:ln/>
        </p:spPr>
      </p:sp>
      <p:sp>
        <p:nvSpPr>
          <p:cNvPr id="51" name="Shape 41"/>
          <p:cNvSpPr/>
          <p:nvPr/>
        </p:nvSpPr>
        <p:spPr>
          <a:xfrm>
            <a:off x="713232" y="3845052"/>
            <a:ext cx="402336" cy="402336"/>
          </a:xfrm>
          <a:prstGeom prst="ellipse">
            <a:avLst/>
          </a:prstGeom>
          <a:solidFill>
            <a:srgbClr val="121A42"/>
          </a:solidFill>
          <a:ln/>
        </p:spPr>
      </p:sp>
      <p:pic>
        <p:nvPicPr>
          <p:cNvPr id="5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7839" y="3949659"/>
            <a:ext cx="193121" cy="193121"/>
          </a:xfrm>
          <a:prstGeom prst="rect">
            <a:avLst/>
          </a:prstGeom>
        </p:spPr>
      </p:pic>
      <p:sp>
        <p:nvSpPr>
          <p:cNvPr id="53" name="Text 42"/>
          <p:cNvSpPr/>
          <p:nvPr/>
        </p:nvSpPr>
        <p:spPr>
          <a:xfrm>
            <a:off x="1234440" y="3611880"/>
            <a:ext cx="2788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Query Understanding</a:t>
            </a:r>
            <a:endParaRPr lang="en-US" sz="1250" dirty="0"/>
          </a:p>
        </p:txBody>
      </p:sp>
      <p:sp>
        <p:nvSpPr>
          <p:cNvPr id="54" name="Shape 43"/>
          <p:cNvSpPr/>
          <p:nvPr/>
        </p:nvSpPr>
        <p:spPr>
          <a:xfrm>
            <a:off x="4297680" y="3611880"/>
            <a:ext cx="3611880" cy="868680"/>
          </a:xfrm>
          <a:prstGeom prst="roundRect">
            <a:avLst>
              <a:gd name="adj" fmla="val 7368"/>
            </a:avLst>
          </a:prstGeom>
          <a:solidFill>
            <a:srgbClr val="F4F7FC"/>
          </a:solidFill>
          <a:ln/>
        </p:spPr>
      </p:sp>
      <p:sp>
        <p:nvSpPr>
          <p:cNvPr id="55" name="Shape 44"/>
          <p:cNvSpPr/>
          <p:nvPr/>
        </p:nvSpPr>
        <p:spPr>
          <a:xfrm>
            <a:off x="4462272" y="3845052"/>
            <a:ext cx="402336" cy="402336"/>
          </a:xfrm>
          <a:prstGeom prst="ellipse">
            <a:avLst/>
          </a:prstGeom>
          <a:solidFill>
            <a:srgbClr val="121A42"/>
          </a:solidFill>
          <a:ln/>
        </p:spPr>
      </p:sp>
      <p:pic>
        <p:nvPicPr>
          <p:cNvPr id="5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66879" y="3949659"/>
            <a:ext cx="193121" cy="193121"/>
          </a:xfrm>
          <a:prstGeom prst="rect">
            <a:avLst/>
          </a:prstGeom>
        </p:spPr>
      </p:pic>
      <p:sp>
        <p:nvSpPr>
          <p:cNvPr id="57" name="Text 45"/>
          <p:cNvSpPr/>
          <p:nvPr/>
        </p:nvSpPr>
        <p:spPr>
          <a:xfrm>
            <a:off x="4983480" y="3611880"/>
            <a:ext cx="2788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Multi-Model Routing</a:t>
            </a:r>
            <a:endParaRPr lang="en-US" sz="1250" dirty="0"/>
          </a:p>
        </p:txBody>
      </p:sp>
      <p:sp>
        <p:nvSpPr>
          <p:cNvPr id="58" name="Shape 46"/>
          <p:cNvSpPr/>
          <p:nvPr/>
        </p:nvSpPr>
        <p:spPr>
          <a:xfrm>
            <a:off x="8046720" y="3611880"/>
            <a:ext cx="3611880" cy="868680"/>
          </a:xfrm>
          <a:prstGeom prst="roundRect">
            <a:avLst>
              <a:gd name="adj" fmla="val 7368"/>
            </a:avLst>
          </a:prstGeom>
          <a:solidFill>
            <a:srgbClr val="F4F7FC"/>
          </a:solidFill>
          <a:ln/>
        </p:spPr>
      </p:sp>
      <p:sp>
        <p:nvSpPr>
          <p:cNvPr id="59" name="Shape 47"/>
          <p:cNvSpPr/>
          <p:nvPr/>
        </p:nvSpPr>
        <p:spPr>
          <a:xfrm>
            <a:off x="8211312" y="3845052"/>
            <a:ext cx="402336" cy="402336"/>
          </a:xfrm>
          <a:prstGeom prst="ellipse">
            <a:avLst/>
          </a:prstGeom>
          <a:solidFill>
            <a:srgbClr val="121A42"/>
          </a:solidFill>
          <a:ln/>
        </p:spPr>
      </p:sp>
      <p:pic>
        <p:nvPicPr>
          <p:cNvPr id="6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15919" y="3949659"/>
            <a:ext cx="193121" cy="193121"/>
          </a:xfrm>
          <a:prstGeom prst="rect">
            <a:avLst/>
          </a:prstGeom>
        </p:spPr>
      </p:pic>
      <p:sp>
        <p:nvSpPr>
          <p:cNvPr id="61" name="Text 48"/>
          <p:cNvSpPr/>
          <p:nvPr/>
        </p:nvSpPr>
        <p:spPr>
          <a:xfrm>
            <a:off x="8732520" y="3611880"/>
            <a:ext cx="2788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Optimization</a:t>
            </a:r>
            <a:endParaRPr lang="en-US" sz="1250" dirty="0"/>
          </a:p>
        </p:txBody>
      </p:sp>
      <p:sp>
        <p:nvSpPr>
          <p:cNvPr id="62" name="Shape 49"/>
          <p:cNvSpPr/>
          <p:nvPr/>
        </p:nvSpPr>
        <p:spPr>
          <a:xfrm>
            <a:off x="548640" y="4645152"/>
            <a:ext cx="3611880" cy="868680"/>
          </a:xfrm>
          <a:prstGeom prst="roundRect">
            <a:avLst>
              <a:gd name="adj" fmla="val 7368"/>
            </a:avLst>
          </a:prstGeom>
          <a:solidFill>
            <a:srgbClr val="F4F7FC"/>
          </a:solidFill>
          <a:ln/>
        </p:spPr>
      </p:sp>
      <p:sp>
        <p:nvSpPr>
          <p:cNvPr id="63" name="Shape 50"/>
          <p:cNvSpPr/>
          <p:nvPr/>
        </p:nvSpPr>
        <p:spPr>
          <a:xfrm>
            <a:off x="713232" y="4878324"/>
            <a:ext cx="402336" cy="402336"/>
          </a:xfrm>
          <a:prstGeom prst="ellipse">
            <a:avLst/>
          </a:prstGeom>
          <a:solidFill>
            <a:srgbClr val="121A42"/>
          </a:solidFill>
          <a:ln/>
        </p:spPr>
      </p:sp>
      <p:pic>
        <p:nvPicPr>
          <p:cNvPr id="6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7839" y="4982931"/>
            <a:ext cx="193121" cy="193121"/>
          </a:xfrm>
          <a:prstGeom prst="rect">
            <a:avLst/>
          </a:prstGeom>
        </p:spPr>
      </p:pic>
      <p:sp>
        <p:nvSpPr>
          <p:cNvPr id="65" name="Text 51"/>
          <p:cNvSpPr/>
          <p:nvPr/>
        </p:nvSpPr>
        <p:spPr>
          <a:xfrm>
            <a:off x="1234440" y="4645152"/>
            <a:ext cx="2788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Economy</a:t>
            </a:r>
            <a:endParaRPr lang="en-US" sz="1250" dirty="0"/>
          </a:p>
        </p:txBody>
      </p:sp>
      <p:sp>
        <p:nvSpPr>
          <p:cNvPr id="66" name="Shape 52"/>
          <p:cNvSpPr/>
          <p:nvPr/>
        </p:nvSpPr>
        <p:spPr>
          <a:xfrm>
            <a:off x="4297680" y="4645152"/>
            <a:ext cx="3611880" cy="868680"/>
          </a:xfrm>
          <a:prstGeom prst="roundRect">
            <a:avLst>
              <a:gd name="adj" fmla="val 7368"/>
            </a:avLst>
          </a:prstGeom>
          <a:solidFill>
            <a:srgbClr val="F4F7FC"/>
          </a:solidFill>
          <a:ln/>
        </p:spPr>
      </p:sp>
      <p:sp>
        <p:nvSpPr>
          <p:cNvPr id="67" name="Shape 53"/>
          <p:cNvSpPr/>
          <p:nvPr/>
        </p:nvSpPr>
        <p:spPr>
          <a:xfrm>
            <a:off x="4462272" y="4878324"/>
            <a:ext cx="402336" cy="402336"/>
          </a:xfrm>
          <a:prstGeom prst="ellipse">
            <a:avLst/>
          </a:prstGeom>
          <a:solidFill>
            <a:srgbClr val="121A42"/>
          </a:solidFill>
          <a:ln/>
        </p:spPr>
      </p:sp>
      <p:pic>
        <p:nvPicPr>
          <p:cNvPr id="6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66879" y="4982931"/>
            <a:ext cx="193121" cy="193121"/>
          </a:xfrm>
          <a:prstGeom prst="rect">
            <a:avLst/>
          </a:prstGeom>
        </p:spPr>
      </p:pic>
      <p:sp>
        <p:nvSpPr>
          <p:cNvPr id="69" name="Text 54"/>
          <p:cNvSpPr/>
          <p:nvPr/>
        </p:nvSpPr>
        <p:spPr>
          <a:xfrm>
            <a:off x="4983480" y="4645152"/>
            <a:ext cx="2788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Observability</a:t>
            </a:r>
            <a:endParaRPr lang="en-US" sz="1250" dirty="0"/>
          </a:p>
        </p:txBody>
      </p:sp>
      <p:sp>
        <p:nvSpPr>
          <p:cNvPr id="70" name="Shape 55"/>
          <p:cNvSpPr/>
          <p:nvPr/>
        </p:nvSpPr>
        <p:spPr>
          <a:xfrm>
            <a:off x="8046720" y="4645152"/>
            <a:ext cx="3611880" cy="868680"/>
          </a:xfrm>
          <a:prstGeom prst="roundRect">
            <a:avLst>
              <a:gd name="adj" fmla="val 7368"/>
            </a:avLst>
          </a:prstGeom>
          <a:solidFill>
            <a:srgbClr val="F4F7FC"/>
          </a:solidFill>
          <a:ln/>
        </p:spPr>
      </p:sp>
      <p:sp>
        <p:nvSpPr>
          <p:cNvPr id="71" name="Shape 56"/>
          <p:cNvSpPr/>
          <p:nvPr/>
        </p:nvSpPr>
        <p:spPr>
          <a:xfrm>
            <a:off x="8211312" y="4878324"/>
            <a:ext cx="402336" cy="402336"/>
          </a:xfrm>
          <a:prstGeom prst="ellipse">
            <a:avLst/>
          </a:prstGeom>
          <a:solidFill>
            <a:srgbClr val="121A42"/>
          </a:solidFill>
          <a:ln/>
        </p:spPr>
      </p:sp>
      <p:pic>
        <p:nvPicPr>
          <p:cNvPr id="7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15919" y="4982931"/>
            <a:ext cx="193121" cy="193121"/>
          </a:xfrm>
          <a:prstGeom prst="rect">
            <a:avLst/>
          </a:prstGeom>
        </p:spPr>
      </p:pic>
      <p:sp>
        <p:nvSpPr>
          <p:cNvPr id="73" name="Text 57"/>
          <p:cNvSpPr/>
          <p:nvPr/>
        </p:nvSpPr>
        <p:spPr>
          <a:xfrm>
            <a:off x="8732520" y="4645152"/>
            <a:ext cx="2788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Model Ranking</a:t>
            </a:r>
            <a:endParaRPr lang="en-US" sz="1250" dirty="0"/>
          </a:p>
        </p:txBody>
      </p:sp>
      <p:sp>
        <p:nvSpPr>
          <p:cNvPr id="74" name="Text 5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AegisAI  |  Code Riderz  |  HackIndia 2026</a:t>
            </a:r>
            <a:endParaRPr lang="en-US" sz="900" dirty="0"/>
          </a:p>
        </p:txBody>
      </p:sp>
      <p:sp>
        <p:nvSpPr>
          <p:cNvPr id="75" name="Text 59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#1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Zero-Shot Query Classification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383280" cy="4846320"/>
          </a:xfrm>
          <a:prstGeom prst="roundRect">
            <a:avLst>
              <a:gd name="adj" fmla="val 2162"/>
            </a:avLst>
          </a:prstGeom>
          <a:solidFill>
            <a:srgbClr val="FCEAE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Keyword Matching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286000"/>
            <a:ext cx="2834640" cy="685800"/>
          </a:xfrm>
          <a:prstGeom prst="roundRect">
            <a:avLst>
              <a:gd name="adj" fmla="val 6667"/>
            </a:avLst>
          </a:prstGeom>
          <a:solidFill>
            <a:srgbClr val="0A0F2C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35915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"compare" in query: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reasoning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320040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038" y="3276478"/>
            <a:ext cx="140452" cy="14045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07008" y="322783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on unseen queries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22960" y="3767328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038" y="3843406"/>
            <a:ext cx="140452" cy="14045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07008" y="37947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entirely on keywords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22960" y="4334256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038" y="4410334"/>
            <a:ext cx="140452" cy="1404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07008" y="436168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sense of query semantics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114800" y="1371600"/>
            <a:ext cx="3566160" cy="4846320"/>
          </a:xfrm>
          <a:prstGeom prst="roundRect">
            <a:avLst>
              <a:gd name="adj" fmla="val 2051"/>
            </a:avLst>
          </a:prstGeom>
          <a:solidFill>
            <a:srgbClr val="E0F7FA"/>
          </a:solidFill>
          <a:ln/>
        </p:spPr>
      </p:sp>
      <p:sp>
        <p:nvSpPr>
          <p:cNvPr id="19" name="Text 14"/>
          <p:cNvSpPr/>
          <p:nvPr/>
        </p:nvSpPr>
        <p:spPr>
          <a:xfrm>
            <a:off x="4389120" y="1554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4389120" y="18288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Zero-Shot Classification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4389120" y="221284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MoritzLaurer/deberta-v3-base-zeroshot-v2.0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4389120" y="2788920"/>
            <a:ext cx="3017520" cy="868680"/>
          </a:xfrm>
          <a:prstGeom prst="roundRect">
            <a:avLst>
              <a:gd name="adj" fmla="val 6316"/>
            </a:avLst>
          </a:prstGeom>
          <a:solidFill>
            <a:srgbClr val="121A42"/>
          </a:solidFill>
          <a:ln/>
        </p:spPr>
      </p:sp>
      <p:sp>
        <p:nvSpPr>
          <p:cNvPr id="23" name="Text 18"/>
          <p:cNvSpPr/>
          <p:nvPr/>
        </p:nvSpPr>
        <p:spPr>
          <a:xfrm>
            <a:off x="4526280" y="28803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Reasoning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4526280" y="3154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91%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4526280" y="34015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A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Runner-up: Coding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4389120" y="388620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198" y="3962278"/>
            <a:ext cx="140452" cy="14045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4773168" y="391363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unseen queries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4389120" y="4453128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5198" y="4529206"/>
            <a:ext cx="140452" cy="14045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4773168" y="44805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semantics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4389120" y="5020056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5198" y="5096134"/>
            <a:ext cx="140452" cy="14045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4773168" y="504748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keyword upkeep</a:t>
            </a:r>
            <a:endParaRPr lang="en-US" sz="1200" dirty="0"/>
          </a:p>
        </p:txBody>
      </p:sp>
      <p:sp>
        <p:nvSpPr>
          <p:cNvPr id="35" name="Shape 27"/>
          <p:cNvSpPr/>
          <p:nvPr/>
        </p:nvSpPr>
        <p:spPr>
          <a:xfrm>
            <a:off x="7909560" y="1371600"/>
            <a:ext cx="3749040" cy="4846320"/>
          </a:xfrm>
          <a:prstGeom prst="roundRect">
            <a:avLst>
              <a:gd name="adj" fmla="val 1951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1B2350">
                <a:alpha val="12000"/>
              </a:srgbClr>
            </a:outerShdw>
          </a:effectLst>
        </p:spPr>
      </p:sp>
      <p:sp>
        <p:nvSpPr>
          <p:cNvPr id="36" name="Text 28"/>
          <p:cNvSpPr/>
          <p:nvPr/>
        </p:nvSpPr>
        <p:spPr>
          <a:xfrm>
            <a:off x="8138160" y="153619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Confidence</a:t>
            </a:r>
            <a:endParaRPr lang="en-US" sz="1300" dirty="0"/>
          </a:p>
        </p:txBody>
      </p:sp>
      <p:graphicFrame>
        <p:nvGraphicFramePr>
          <p:cNvPr id="37" name="Chart 0" descr=""/>
          <p:cNvGraphicFramePr/>
          <p:nvPr/>
        </p:nvGraphicFramePr>
        <p:xfrm>
          <a:off x="8092440" y="1920240"/>
          <a:ext cx="338328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38" name="Text 2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AegisAI  |  Code Riderz  |  HackIndia 2026</a:t>
            </a:r>
            <a:endParaRPr lang="en-US" sz="900" dirty="0"/>
          </a:p>
        </p:txBody>
      </p:sp>
      <p:sp>
        <p:nvSpPr>
          <p:cNvPr id="39" name="Text 30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#2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 Multi-Model Routing Engine (AMRE)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4114800" cy="1691640"/>
          </a:xfrm>
          <a:prstGeom prst="roundRect">
            <a:avLst>
              <a:gd name="adj" fmla="val 4324"/>
            </a:avLst>
          </a:prstGeom>
          <a:solidFill>
            <a:srgbClr val="FCEAE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OLD: Rule-Based Routing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77240" y="1874520"/>
            <a:ext cx="3657600" cy="1097280"/>
          </a:xfrm>
          <a:prstGeom prst="roundRect">
            <a:avLst>
              <a:gd name="adj" fmla="val 4167"/>
            </a:avLst>
          </a:prstGeom>
          <a:solidFill>
            <a:srgbClr val="0A0F2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947672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simple: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use 8B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use 70B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246120"/>
            <a:ext cx="4114800" cy="2971800"/>
          </a:xfrm>
          <a:prstGeom prst="roundRect">
            <a:avLst>
              <a:gd name="adj" fmla="val 2462"/>
            </a:avLst>
          </a:prstGeom>
          <a:solidFill>
            <a:srgbClr val="E0F7F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401568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APPROACH: Every model gets a routing score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3977640"/>
            <a:ext cx="182880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9776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Type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0" y="3977640"/>
            <a:ext cx="182880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0" y="39776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7240" y="4636008"/>
            <a:ext cx="182880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63600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Cost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0" y="4636008"/>
            <a:ext cx="182880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0" y="463600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77240" y="5294376"/>
            <a:ext cx="182880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5294376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Requirement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0" y="5294376"/>
            <a:ext cx="182880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0" y="5294376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Count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937760" y="1417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Routing Score Example</a:t>
            </a:r>
            <a:endParaRPr lang="en-US" sz="150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4892040" y="1828800"/>
          <a:ext cx="667512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4" name="Shape 21"/>
          <p:cNvSpPr/>
          <p:nvPr/>
        </p:nvSpPr>
        <p:spPr>
          <a:xfrm>
            <a:off x="4892040" y="5349240"/>
            <a:ext cx="6675120" cy="594360"/>
          </a:xfrm>
          <a:prstGeom prst="roundRect">
            <a:avLst>
              <a:gd name="adj" fmla="val 9231"/>
            </a:avLst>
          </a:prstGeom>
          <a:solidFill>
            <a:srgbClr val="121A42"/>
          </a:solidFill>
          <a:ln/>
        </p:spPr>
      </p:sp>
      <p:sp>
        <p:nvSpPr>
          <p:cNvPr id="25" name="Shape 22"/>
          <p:cNvSpPr/>
          <p:nvPr/>
        </p:nvSpPr>
        <p:spPr>
          <a:xfrm>
            <a:off x="5029200" y="5440680"/>
            <a:ext cx="411480" cy="41148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6185" y="5547665"/>
            <a:ext cx="197510" cy="19751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577840" y="5349240"/>
            <a:ext cx="5852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3.1 8B wins with the highest routing score (0.87)</a:t>
            </a:r>
            <a:endParaRPr lang="en-US" sz="1250" dirty="0"/>
          </a:p>
        </p:txBody>
      </p:sp>
      <p:sp>
        <p:nvSpPr>
          <p:cNvPr id="28" name="Text 2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AegisAI  |  Code Riderz  |  HackIndia 2026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#3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 Economy &amp; Cost Optimization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 Economy Pipeline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212080" cy="566928"/>
          </a:xfrm>
          <a:prstGeom prst="roundRect">
            <a:avLst>
              <a:gd name="adj" fmla="val 9677"/>
            </a:avLst>
          </a:prstGeom>
          <a:solidFill>
            <a:srgbClr val="F4F7FC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911096"/>
            <a:ext cx="402336" cy="402336"/>
          </a:xfrm>
          <a:prstGeom prst="ellipse">
            <a:avLst/>
          </a:prstGeom>
          <a:solidFill>
            <a:srgbClr val="121A4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975" y="2015703"/>
            <a:ext cx="193121" cy="19312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828800"/>
            <a:ext cx="4480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uploaded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237744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2487168"/>
            <a:ext cx="5212080" cy="566928"/>
          </a:xfrm>
          <a:prstGeom prst="roundRect">
            <a:avLst>
              <a:gd name="adj" fmla="val 9677"/>
            </a:avLst>
          </a:prstGeom>
          <a:solidFill>
            <a:srgbClr val="F4F7FC"/>
          </a:solidFill>
          <a:ln/>
        </p:spPr>
      </p:sp>
      <p:sp>
        <p:nvSpPr>
          <p:cNvPr id="11" name="Shape 8"/>
          <p:cNvSpPr/>
          <p:nvPr/>
        </p:nvSpPr>
        <p:spPr>
          <a:xfrm>
            <a:off x="658368" y="2569464"/>
            <a:ext cx="402336" cy="402336"/>
          </a:xfrm>
          <a:prstGeom prst="ellipse">
            <a:avLst/>
          </a:prstGeom>
          <a:solidFill>
            <a:srgbClr val="121A4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975" y="2674071"/>
            <a:ext cx="193121" cy="19312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88720" y="2487168"/>
            <a:ext cx="4480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777240" y="303580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3145536"/>
            <a:ext cx="5212080" cy="566928"/>
          </a:xfrm>
          <a:prstGeom prst="roundRect">
            <a:avLst>
              <a:gd name="adj" fmla="val 9677"/>
            </a:avLst>
          </a:prstGeom>
          <a:solidFill>
            <a:srgbClr val="F4F7FC"/>
          </a:solidFill>
          <a:ln/>
        </p:spPr>
      </p:sp>
      <p:sp>
        <p:nvSpPr>
          <p:cNvPr id="16" name="Shape 12"/>
          <p:cNvSpPr/>
          <p:nvPr/>
        </p:nvSpPr>
        <p:spPr>
          <a:xfrm>
            <a:off x="658368" y="3227832"/>
            <a:ext cx="402336" cy="402336"/>
          </a:xfrm>
          <a:prstGeom prst="ellipse">
            <a:avLst/>
          </a:prstGeom>
          <a:solidFill>
            <a:srgbClr val="121A4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975" y="3332439"/>
            <a:ext cx="193121" cy="19312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88720" y="3145536"/>
            <a:ext cx="4480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Removal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777240" y="3694176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48640" y="3803904"/>
            <a:ext cx="5212080" cy="566928"/>
          </a:xfrm>
          <a:prstGeom prst="roundRect">
            <a:avLst>
              <a:gd name="adj" fmla="val 9677"/>
            </a:avLst>
          </a:prstGeom>
          <a:solidFill>
            <a:srgbClr val="F4F7FC"/>
          </a:solidFill>
          <a:ln/>
        </p:spPr>
      </p:sp>
      <p:sp>
        <p:nvSpPr>
          <p:cNvPr id="21" name="Shape 16"/>
          <p:cNvSpPr/>
          <p:nvPr/>
        </p:nvSpPr>
        <p:spPr>
          <a:xfrm>
            <a:off x="658368" y="3886200"/>
            <a:ext cx="402336" cy="402336"/>
          </a:xfrm>
          <a:prstGeom prst="ellipse">
            <a:avLst/>
          </a:prstGeom>
          <a:solidFill>
            <a:srgbClr val="121A42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975" y="3990807"/>
            <a:ext cx="193121" cy="19312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188720" y="3803904"/>
            <a:ext cx="4480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Ranking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777240" y="4352544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548640" y="4462272"/>
            <a:ext cx="5212080" cy="566928"/>
          </a:xfrm>
          <a:prstGeom prst="roundRect">
            <a:avLst>
              <a:gd name="adj" fmla="val 9677"/>
            </a:avLst>
          </a:prstGeom>
          <a:solidFill>
            <a:srgbClr val="F4F7FC"/>
          </a:solidFill>
          <a:ln/>
        </p:spPr>
      </p:sp>
      <p:sp>
        <p:nvSpPr>
          <p:cNvPr id="26" name="Shape 20"/>
          <p:cNvSpPr/>
          <p:nvPr/>
        </p:nvSpPr>
        <p:spPr>
          <a:xfrm>
            <a:off x="658368" y="4544568"/>
            <a:ext cx="402336" cy="402336"/>
          </a:xfrm>
          <a:prstGeom prst="ellipse">
            <a:avLst/>
          </a:prstGeom>
          <a:solidFill>
            <a:srgbClr val="121A42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975" y="4649175"/>
            <a:ext cx="193121" cy="193121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188720" y="4462272"/>
            <a:ext cx="4480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777240" y="5010912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548640" y="5120640"/>
            <a:ext cx="5212080" cy="566928"/>
          </a:xfrm>
          <a:prstGeom prst="roundRect">
            <a:avLst>
              <a:gd name="adj" fmla="val 9677"/>
            </a:avLst>
          </a:prstGeom>
          <a:solidFill>
            <a:srgbClr val="E4F7EF"/>
          </a:solidFill>
          <a:ln/>
        </p:spPr>
      </p:sp>
      <p:sp>
        <p:nvSpPr>
          <p:cNvPr id="31" name="Shape 24"/>
          <p:cNvSpPr/>
          <p:nvPr/>
        </p:nvSpPr>
        <p:spPr>
          <a:xfrm>
            <a:off x="658368" y="5202936"/>
            <a:ext cx="402336" cy="402336"/>
          </a:xfrm>
          <a:prstGeom prst="ellipse">
            <a:avLst/>
          </a:prstGeom>
          <a:solidFill>
            <a:srgbClr val="0F9D6B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975" y="5307543"/>
            <a:ext cx="193121" cy="193121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188720" y="5120640"/>
            <a:ext cx="4480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Context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6126480" y="1371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Optimization</a:t>
            </a:r>
            <a:endParaRPr lang="en-US" sz="1500" dirty="0"/>
          </a:p>
        </p:txBody>
      </p:sp>
      <p:graphicFrame>
        <p:nvGraphicFramePr>
          <p:cNvPr id="35" name="Chart 0" descr=""/>
          <p:cNvGraphicFramePr/>
          <p:nvPr/>
        </p:nvGraphicFramePr>
        <p:xfrm>
          <a:off x="6126480" y="1783080"/>
          <a:ext cx="548640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36" name="Shape 27"/>
          <p:cNvSpPr/>
          <p:nvPr/>
        </p:nvSpPr>
        <p:spPr>
          <a:xfrm>
            <a:off x="6126480" y="443484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E4F7EF"/>
          </a:solidFill>
          <a:ln/>
        </p:spPr>
      </p:sp>
      <p:sp>
        <p:nvSpPr>
          <p:cNvPr id="37" name="Text 28"/>
          <p:cNvSpPr/>
          <p:nvPr/>
        </p:nvSpPr>
        <p:spPr>
          <a:xfrm>
            <a:off x="6126480" y="457200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F9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86%</a:t>
            </a:r>
            <a:endParaRPr lang="en-US" sz="4600" dirty="0"/>
          </a:p>
        </p:txBody>
      </p:sp>
      <p:sp>
        <p:nvSpPr>
          <p:cNvPr id="38" name="Text 29"/>
          <p:cNvSpPr/>
          <p:nvPr/>
        </p:nvSpPr>
        <p:spPr>
          <a:xfrm>
            <a:off x="6126480" y="53492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Savings</a:t>
            </a:r>
            <a:endParaRPr lang="en-US" sz="1300" dirty="0"/>
          </a:p>
        </p:txBody>
      </p:sp>
      <p:sp>
        <p:nvSpPr>
          <p:cNvPr id="39" name="Shape 30"/>
          <p:cNvSpPr/>
          <p:nvPr/>
        </p:nvSpPr>
        <p:spPr>
          <a:xfrm>
            <a:off x="9006840" y="4480560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87673" y="4561393"/>
            <a:ext cx="149230" cy="149230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9400032" y="449884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Cost</a:t>
            </a:r>
            <a:endParaRPr lang="en-US" sz="1250" dirty="0"/>
          </a:p>
        </p:txBody>
      </p:sp>
      <p:sp>
        <p:nvSpPr>
          <p:cNvPr id="42" name="Shape 32"/>
          <p:cNvSpPr/>
          <p:nvPr/>
        </p:nvSpPr>
        <p:spPr>
          <a:xfrm>
            <a:off x="9006840" y="5047488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87673" y="5128321"/>
            <a:ext cx="149230" cy="149230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9400032" y="5065776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Latency</a:t>
            </a:r>
            <a:endParaRPr lang="en-US" sz="1250" dirty="0"/>
          </a:p>
        </p:txBody>
      </p:sp>
      <p:sp>
        <p:nvSpPr>
          <p:cNvPr id="45" name="Shape 34"/>
          <p:cNvSpPr/>
          <p:nvPr/>
        </p:nvSpPr>
        <p:spPr>
          <a:xfrm>
            <a:off x="9006840" y="5614416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87673" y="5695249"/>
            <a:ext cx="149230" cy="149230"/>
          </a:xfrm>
          <a:prstGeom prst="rect">
            <a:avLst/>
          </a:prstGeom>
        </p:spPr>
      </p:pic>
      <p:sp>
        <p:nvSpPr>
          <p:cNvPr id="47" name="Text 35"/>
          <p:cNvSpPr/>
          <p:nvPr/>
        </p:nvSpPr>
        <p:spPr>
          <a:xfrm>
            <a:off x="9400032" y="5632704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Maintained Quality</a:t>
            </a:r>
            <a:endParaRPr lang="en-US" sz="1250" dirty="0"/>
          </a:p>
        </p:txBody>
      </p:sp>
      <p:sp>
        <p:nvSpPr>
          <p:cNvPr id="48" name="Text 3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AegisAI  |  Code Riderz  |  HackIndia 2026</a:t>
            </a:r>
            <a:endParaRPr lang="en-US" sz="900" dirty="0"/>
          </a:p>
        </p:txBody>
      </p:sp>
      <p:sp>
        <p:nvSpPr>
          <p:cNvPr id="49" name="Text 37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#4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Execution Trace &amp; Observability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A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Production-level observability makes every routing decision explainable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490472" cy="1417320"/>
          </a:xfrm>
          <a:prstGeom prst="roundRect">
            <a:avLst>
              <a:gd name="adj" fmla="val 4516"/>
            </a:avLst>
          </a:prstGeom>
          <a:solidFill>
            <a:srgbClr val="161E4A"/>
          </a:solidFill>
          <a:ln/>
        </p:spPr>
      </p:sp>
      <p:sp>
        <p:nvSpPr>
          <p:cNvPr id="6" name="Shape 4"/>
          <p:cNvSpPr/>
          <p:nvPr/>
        </p:nvSpPr>
        <p:spPr>
          <a:xfrm>
            <a:off x="1056132" y="1837944"/>
            <a:ext cx="475488" cy="475488"/>
          </a:xfrm>
          <a:prstGeom prst="ellipse">
            <a:avLst/>
          </a:prstGeom>
          <a:solidFill>
            <a:srgbClr val="22315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759" y="1961571"/>
            <a:ext cx="228234" cy="22823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2441448"/>
            <a:ext cx="1399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039112" y="2199132"/>
            <a:ext cx="137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176272" y="1691640"/>
            <a:ext cx="1490472" cy="1417320"/>
          </a:xfrm>
          <a:prstGeom prst="roundRect">
            <a:avLst>
              <a:gd name="adj" fmla="val 4516"/>
            </a:avLst>
          </a:prstGeom>
          <a:solidFill>
            <a:srgbClr val="161E4A"/>
          </a:solidFill>
          <a:ln/>
        </p:spPr>
      </p:sp>
      <p:sp>
        <p:nvSpPr>
          <p:cNvPr id="11" name="Shape 8"/>
          <p:cNvSpPr/>
          <p:nvPr/>
        </p:nvSpPr>
        <p:spPr>
          <a:xfrm>
            <a:off x="2683764" y="1837944"/>
            <a:ext cx="475488" cy="475488"/>
          </a:xfrm>
          <a:prstGeom prst="ellipse">
            <a:avLst/>
          </a:prstGeom>
          <a:solidFill>
            <a:srgbClr val="22315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7391" y="1961571"/>
            <a:ext cx="228234" cy="22823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221992" y="2441448"/>
            <a:ext cx="1399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3666744" y="2199132"/>
            <a:ext cx="137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3803904" y="1691640"/>
            <a:ext cx="1490472" cy="1417320"/>
          </a:xfrm>
          <a:prstGeom prst="roundRect">
            <a:avLst>
              <a:gd name="adj" fmla="val 4516"/>
            </a:avLst>
          </a:prstGeom>
          <a:solidFill>
            <a:srgbClr val="161E4A"/>
          </a:solidFill>
          <a:ln/>
        </p:spPr>
      </p:sp>
      <p:sp>
        <p:nvSpPr>
          <p:cNvPr id="16" name="Shape 12"/>
          <p:cNvSpPr/>
          <p:nvPr/>
        </p:nvSpPr>
        <p:spPr>
          <a:xfrm>
            <a:off x="4311396" y="1837944"/>
            <a:ext cx="475488" cy="475488"/>
          </a:xfrm>
          <a:prstGeom prst="ellipse">
            <a:avLst/>
          </a:prstGeom>
          <a:solidFill>
            <a:srgbClr val="22315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5023" y="1961571"/>
            <a:ext cx="228234" cy="22823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849624" y="2441448"/>
            <a:ext cx="1399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5294376" y="2199132"/>
            <a:ext cx="137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5431536" y="1691640"/>
            <a:ext cx="1490472" cy="1417320"/>
          </a:xfrm>
          <a:prstGeom prst="roundRect">
            <a:avLst>
              <a:gd name="adj" fmla="val 4516"/>
            </a:avLst>
          </a:prstGeom>
          <a:solidFill>
            <a:srgbClr val="161E4A"/>
          </a:solidFill>
          <a:ln/>
        </p:spPr>
      </p:sp>
      <p:sp>
        <p:nvSpPr>
          <p:cNvPr id="21" name="Shape 16"/>
          <p:cNvSpPr/>
          <p:nvPr/>
        </p:nvSpPr>
        <p:spPr>
          <a:xfrm>
            <a:off x="5939028" y="1837944"/>
            <a:ext cx="475488" cy="475488"/>
          </a:xfrm>
          <a:prstGeom prst="ellipse">
            <a:avLst/>
          </a:prstGeom>
          <a:solidFill>
            <a:srgbClr val="22315E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2655" y="1961571"/>
            <a:ext cx="228234" cy="22823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77256" y="2441448"/>
            <a:ext cx="1399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6922008" y="2199132"/>
            <a:ext cx="137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7059168" y="1691640"/>
            <a:ext cx="1490472" cy="1417320"/>
          </a:xfrm>
          <a:prstGeom prst="roundRect">
            <a:avLst>
              <a:gd name="adj" fmla="val 4516"/>
            </a:avLst>
          </a:prstGeom>
          <a:solidFill>
            <a:srgbClr val="161E4A"/>
          </a:solidFill>
          <a:ln/>
        </p:spPr>
      </p:sp>
      <p:sp>
        <p:nvSpPr>
          <p:cNvPr id="26" name="Shape 20"/>
          <p:cNvSpPr/>
          <p:nvPr/>
        </p:nvSpPr>
        <p:spPr>
          <a:xfrm>
            <a:off x="7566660" y="1837944"/>
            <a:ext cx="475488" cy="475488"/>
          </a:xfrm>
          <a:prstGeom prst="ellipse">
            <a:avLst/>
          </a:prstGeom>
          <a:solidFill>
            <a:srgbClr val="22315E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0287" y="1961571"/>
            <a:ext cx="228234" cy="22823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104888" y="2441448"/>
            <a:ext cx="1399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8549640" y="2199132"/>
            <a:ext cx="137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8686800" y="1691640"/>
            <a:ext cx="1490472" cy="1417320"/>
          </a:xfrm>
          <a:prstGeom prst="roundRect">
            <a:avLst>
              <a:gd name="adj" fmla="val 4516"/>
            </a:avLst>
          </a:prstGeom>
          <a:solidFill>
            <a:srgbClr val="161E4A"/>
          </a:solidFill>
          <a:ln/>
        </p:spPr>
      </p:sp>
      <p:sp>
        <p:nvSpPr>
          <p:cNvPr id="31" name="Shape 24"/>
          <p:cNvSpPr/>
          <p:nvPr/>
        </p:nvSpPr>
        <p:spPr>
          <a:xfrm>
            <a:off x="9194292" y="1837944"/>
            <a:ext cx="475488" cy="475488"/>
          </a:xfrm>
          <a:prstGeom prst="ellipse">
            <a:avLst/>
          </a:prstGeom>
          <a:solidFill>
            <a:srgbClr val="22315E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17919" y="1961571"/>
            <a:ext cx="228234" cy="22823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732520" y="2441448"/>
            <a:ext cx="1399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10177272" y="2199132"/>
            <a:ext cx="137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5" name="Shape 27"/>
          <p:cNvSpPr/>
          <p:nvPr/>
        </p:nvSpPr>
        <p:spPr>
          <a:xfrm>
            <a:off x="10314432" y="1691640"/>
            <a:ext cx="1490472" cy="1417320"/>
          </a:xfrm>
          <a:prstGeom prst="roundRect">
            <a:avLst>
              <a:gd name="adj" fmla="val 4516"/>
            </a:avLst>
          </a:prstGeom>
          <a:solidFill>
            <a:srgbClr val="161E4A"/>
          </a:solidFill>
          <a:ln/>
        </p:spPr>
      </p:sp>
      <p:sp>
        <p:nvSpPr>
          <p:cNvPr id="36" name="Shape 28"/>
          <p:cNvSpPr/>
          <p:nvPr/>
        </p:nvSpPr>
        <p:spPr>
          <a:xfrm>
            <a:off x="10821924" y="1837944"/>
            <a:ext cx="475488" cy="475488"/>
          </a:xfrm>
          <a:prstGeom prst="ellipse">
            <a:avLst/>
          </a:prstGeom>
          <a:solidFill>
            <a:srgbClr val="22315E"/>
          </a:solidFill>
          <a:ln/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45551" y="1961571"/>
            <a:ext cx="228234" cy="228234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10360152" y="2441448"/>
            <a:ext cx="1399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</a:t>
            </a:r>
            <a:endParaRPr lang="en-US" sz="1050" dirty="0"/>
          </a:p>
        </p:txBody>
      </p:sp>
      <p:sp>
        <p:nvSpPr>
          <p:cNvPr id="39" name="Text 30"/>
          <p:cNvSpPr/>
          <p:nvPr/>
        </p:nvSpPr>
        <p:spPr>
          <a:xfrm>
            <a:off x="548640" y="3520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Stage Logs</a:t>
            </a:r>
            <a:endParaRPr lang="en-US" sz="1600" dirty="0"/>
          </a:p>
        </p:txBody>
      </p:sp>
      <p:sp>
        <p:nvSpPr>
          <p:cNvPr id="40" name="Shape 31"/>
          <p:cNvSpPr/>
          <p:nvPr/>
        </p:nvSpPr>
        <p:spPr>
          <a:xfrm>
            <a:off x="548640" y="3977640"/>
            <a:ext cx="3611880" cy="868680"/>
          </a:xfrm>
          <a:prstGeom prst="roundRect">
            <a:avLst>
              <a:gd name="adj" fmla="val 7368"/>
            </a:avLst>
          </a:prstGeom>
          <a:solidFill>
            <a:srgbClr val="161E4A"/>
          </a:solidFill>
          <a:ln/>
        </p:spPr>
      </p:sp>
      <p:sp>
        <p:nvSpPr>
          <p:cNvPr id="41" name="Shape 32"/>
          <p:cNvSpPr/>
          <p:nvPr/>
        </p:nvSpPr>
        <p:spPr>
          <a:xfrm>
            <a:off x="713232" y="4210812"/>
            <a:ext cx="402336" cy="402336"/>
          </a:xfrm>
          <a:prstGeom prst="ellipse">
            <a:avLst/>
          </a:prstGeom>
          <a:solidFill>
            <a:srgbClr val="22315E"/>
          </a:solidFill>
          <a:ln/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7839" y="4315419"/>
            <a:ext cx="193121" cy="193121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1234440" y="3977640"/>
            <a:ext cx="2788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Time</a:t>
            </a:r>
            <a:endParaRPr lang="en-US" sz="1300" dirty="0"/>
          </a:p>
        </p:txBody>
      </p:sp>
      <p:sp>
        <p:nvSpPr>
          <p:cNvPr id="44" name="Shape 34"/>
          <p:cNvSpPr/>
          <p:nvPr/>
        </p:nvSpPr>
        <p:spPr>
          <a:xfrm>
            <a:off x="4297680" y="3977640"/>
            <a:ext cx="3611880" cy="868680"/>
          </a:xfrm>
          <a:prstGeom prst="roundRect">
            <a:avLst>
              <a:gd name="adj" fmla="val 7368"/>
            </a:avLst>
          </a:prstGeom>
          <a:solidFill>
            <a:srgbClr val="161E4A"/>
          </a:solidFill>
          <a:ln/>
        </p:spPr>
      </p:sp>
      <p:sp>
        <p:nvSpPr>
          <p:cNvPr id="45" name="Shape 35"/>
          <p:cNvSpPr/>
          <p:nvPr/>
        </p:nvSpPr>
        <p:spPr>
          <a:xfrm>
            <a:off x="4462272" y="4210812"/>
            <a:ext cx="402336" cy="402336"/>
          </a:xfrm>
          <a:prstGeom prst="ellipse">
            <a:avLst/>
          </a:prstGeom>
          <a:solidFill>
            <a:srgbClr val="22315E"/>
          </a:solidFill>
          <a:ln/>
        </p:spPr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66879" y="4315419"/>
            <a:ext cx="193121" cy="193121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4983480" y="3977640"/>
            <a:ext cx="2788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300" dirty="0"/>
          </a:p>
        </p:txBody>
      </p:sp>
      <p:sp>
        <p:nvSpPr>
          <p:cNvPr id="48" name="Shape 37"/>
          <p:cNvSpPr/>
          <p:nvPr/>
        </p:nvSpPr>
        <p:spPr>
          <a:xfrm>
            <a:off x="8046720" y="3977640"/>
            <a:ext cx="3611880" cy="868680"/>
          </a:xfrm>
          <a:prstGeom prst="roundRect">
            <a:avLst>
              <a:gd name="adj" fmla="val 7368"/>
            </a:avLst>
          </a:prstGeom>
          <a:solidFill>
            <a:srgbClr val="161E4A"/>
          </a:solidFill>
          <a:ln/>
        </p:spPr>
      </p:sp>
      <p:sp>
        <p:nvSpPr>
          <p:cNvPr id="49" name="Shape 38"/>
          <p:cNvSpPr/>
          <p:nvPr/>
        </p:nvSpPr>
        <p:spPr>
          <a:xfrm>
            <a:off x="8211312" y="4210812"/>
            <a:ext cx="402336" cy="402336"/>
          </a:xfrm>
          <a:prstGeom prst="ellipse">
            <a:avLst/>
          </a:prstGeom>
          <a:solidFill>
            <a:srgbClr val="22315E"/>
          </a:solidFill>
          <a:ln/>
        </p:spPr>
      </p:sp>
      <p:pic>
        <p:nvPicPr>
          <p:cNvPr id="5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15919" y="4315419"/>
            <a:ext cx="193121" cy="193121"/>
          </a:xfrm>
          <a:prstGeom prst="rect">
            <a:avLst/>
          </a:prstGeom>
        </p:spPr>
      </p:pic>
      <p:sp>
        <p:nvSpPr>
          <p:cNvPr id="51" name="Text 39"/>
          <p:cNvSpPr/>
          <p:nvPr/>
        </p:nvSpPr>
        <p:spPr>
          <a:xfrm>
            <a:off x="8732520" y="3977640"/>
            <a:ext cx="2788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Model</a:t>
            </a:r>
            <a:endParaRPr lang="en-US" sz="1300" dirty="0"/>
          </a:p>
        </p:txBody>
      </p:sp>
      <p:sp>
        <p:nvSpPr>
          <p:cNvPr id="52" name="Shape 40"/>
          <p:cNvSpPr/>
          <p:nvPr/>
        </p:nvSpPr>
        <p:spPr>
          <a:xfrm>
            <a:off x="548640" y="5010912"/>
            <a:ext cx="3611880" cy="868680"/>
          </a:xfrm>
          <a:prstGeom prst="roundRect">
            <a:avLst>
              <a:gd name="adj" fmla="val 7368"/>
            </a:avLst>
          </a:prstGeom>
          <a:solidFill>
            <a:srgbClr val="161E4A"/>
          </a:solidFill>
          <a:ln/>
        </p:spPr>
      </p:sp>
      <p:sp>
        <p:nvSpPr>
          <p:cNvPr id="53" name="Shape 41"/>
          <p:cNvSpPr/>
          <p:nvPr/>
        </p:nvSpPr>
        <p:spPr>
          <a:xfrm>
            <a:off x="713232" y="5244084"/>
            <a:ext cx="402336" cy="402336"/>
          </a:xfrm>
          <a:prstGeom prst="ellipse">
            <a:avLst/>
          </a:prstGeom>
          <a:solidFill>
            <a:srgbClr val="22315E"/>
          </a:solidFill>
          <a:ln/>
        </p:spPr>
      </p:sp>
      <p:pic>
        <p:nvPicPr>
          <p:cNvPr id="5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7839" y="5348691"/>
            <a:ext cx="193121" cy="193121"/>
          </a:xfrm>
          <a:prstGeom prst="rect">
            <a:avLst/>
          </a:prstGeom>
        </p:spPr>
      </p:pic>
      <p:sp>
        <p:nvSpPr>
          <p:cNvPr id="55" name="Text 42"/>
          <p:cNvSpPr/>
          <p:nvPr/>
        </p:nvSpPr>
        <p:spPr>
          <a:xfrm>
            <a:off x="1234440" y="5010912"/>
            <a:ext cx="2788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300" dirty="0"/>
          </a:p>
        </p:txBody>
      </p:sp>
      <p:sp>
        <p:nvSpPr>
          <p:cNvPr id="56" name="Shape 43"/>
          <p:cNvSpPr/>
          <p:nvPr/>
        </p:nvSpPr>
        <p:spPr>
          <a:xfrm>
            <a:off x="4297680" y="5010912"/>
            <a:ext cx="3611880" cy="868680"/>
          </a:xfrm>
          <a:prstGeom prst="roundRect">
            <a:avLst>
              <a:gd name="adj" fmla="val 7368"/>
            </a:avLst>
          </a:prstGeom>
          <a:solidFill>
            <a:srgbClr val="161E4A"/>
          </a:solidFill>
          <a:ln/>
        </p:spPr>
      </p:sp>
      <p:sp>
        <p:nvSpPr>
          <p:cNvPr id="57" name="Shape 44"/>
          <p:cNvSpPr/>
          <p:nvPr/>
        </p:nvSpPr>
        <p:spPr>
          <a:xfrm>
            <a:off x="4462272" y="5244084"/>
            <a:ext cx="402336" cy="402336"/>
          </a:xfrm>
          <a:prstGeom prst="ellipse">
            <a:avLst/>
          </a:prstGeom>
          <a:solidFill>
            <a:srgbClr val="22315E"/>
          </a:solidFill>
          <a:ln/>
        </p:spPr>
      </p:sp>
      <p:pic>
        <p:nvPicPr>
          <p:cNvPr id="5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66879" y="5348691"/>
            <a:ext cx="193121" cy="193121"/>
          </a:xfrm>
          <a:prstGeom prst="rect">
            <a:avLst/>
          </a:prstGeom>
        </p:spPr>
      </p:pic>
      <p:sp>
        <p:nvSpPr>
          <p:cNvPr id="59" name="Text 45"/>
          <p:cNvSpPr/>
          <p:nvPr/>
        </p:nvSpPr>
        <p:spPr>
          <a:xfrm>
            <a:off x="4983480" y="5010912"/>
            <a:ext cx="2788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</a:t>
            </a:r>
            <a:endParaRPr lang="en-US" sz="1300" dirty="0"/>
          </a:p>
        </p:txBody>
      </p:sp>
      <p:sp>
        <p:nvSpPr>
          <p:cNvPr id="60" name="Shape 46"/>
          <p:cNvSpPr/>
          <p:nvPr/>
        </p:nvSpPr>
        <p:spPr>
          <a:xfrm>
            <a:off x="8046720" y="5010912"/>
            <a:ext cx="3611880" cy="868680"/>
          </a:xfrm>
          <a:prstGeom prst="roundRect">
            <a:avLst>
              <a:gd name="adj" fmla="val 7368"/>
            </a:avLst>
          </a:prstGeom>
          <a:solidFill>
            <a:srgbClr val="161E4A"/>
          </a:solidFill>
          <a:ln/>
        </p:spPr>
      </p:sp>
      <p:sp>
        <p:nvSpPr>
          <p:cNvPr id="61" name="Shape 47"/>
          <p:cNvSpPr/>
          <p:nvPr/>
        </p:nvSpPr>
        <p:spPr>
          <a:xfrm>
            <a:off x="8211312" y="5244084"/>
            <a:ext cx="402336" cy="402336"/>
          </a:xfrm>
          <a:prstGeom prst="ellipse">
            <a:avLst/>
          </a:prstGeom>
          <a:solidFill>
            <a:srgbClr val="22315E"/>
          </a:solidFill>
          <a:ln/>
        </p:spPr>
      </p:sp>
      <p:pic>
        <p:nvPicPr>
          <p:cNvPr id="6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15919" y="5348691"/>
            <a:ext cx="193121" cy="193121"/>
          </a:xfrm>
          <a:prstGeom prst="rect">
            <a:avLst/>
          </a:prstGeom>
        </p:spPr>
      </p:pic>
      <p:sp>
        <p:nvSpPr>
          <p:cNvPr id="63" name="Text 48"/>
          <p:cNvSpPr/>
          <p:nvPr/>
        </p:nvSpPr>
        <p:spPr>
          <a:xfrm>
            <a:off x="8732520" y="5010912"/>
            <a:ext cx="2788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300" dirty="0"/>
          </a:p>
        </p:txBody>
      </p:sp>
      <p:sp>
        <p:nvSpPr>
          <p:cNvPr id="64" name="Text 4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AegisAI  |  Code Riderz  |  HackIndia 2026</a:t>
            </a:r>
            <a:endParaRPr lang="en-US" sz="900" dirty="0"/>
          </a:p>
        </p:txBody>
      </p:sp>
      <p:sp>
        <p:nvSpPr>
          <p:cNvPr id="65" name="Text 50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Workflow Example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4572000" cy="640080"/>
          </a:xfrm>
          <a:prstGeom prst="roundRect">
            <a:avLst>
              <a:gd name="adj" fmla="val 50000"/>
            </a:avLst>
          </a:prstGeom>
          <a:solidFill>
            <a:srgbClr val="121A4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344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"Compare CNN and Vision Transformers"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4572000" cy="475488"/>
          </a:xfrm>
          <a:prstGeom prst="roundRect">
            <a:avLst>
              <a:gd name="adj" fmla="val 11538"/>
            </a:avLst>
          </a:prstGeom>
          <a:solidFill>
            <a:srgbClr val="F4F7FC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157984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78" y="2253082"/>
            <a:ext cx="175565" cy="17556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210312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Zero-Shot: Task = Reasoning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13232" y="2560320"/>
            <a:ext cx="274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2651760"/>
            <a:ext cx="4572000" cy="475488"/>
          </a:xfrm>
          <a:prstGeom prst="roundRect">
            <a:avLst>
              <a:gd name="adj" fmla="val 11538"/>
            </a:avLst>
          </a:prstGeom>
          <a:solidFill>
            <a:srgbClr val="F4F7FC"/>
          </a:solidFill>
          <a:ln/>
        </p:spPr>
      </p:sp>
      <p:sp>
        <p:nvSpPr>
          <p:cNvPr id="12" name="Shape 9"/>
          <p:cNvSpPr/>
          <p:nvPr/>
        </p:nvSpPr>
        <p:spPr>
          <a:xfrm>
            <a:off x="640080" y="2706624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8" y="2801722"/>
            <a:ext cx="175565" cy="17556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43000" y="265176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= High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713232" y="3108960"/>
            <a:ext cx="274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48640" y="3200400"/>
            <a:ext cx="4572000" cy="475488"/>
          </a:xfrm>
          <a:prstGeom prst="roundRect">
            <a:avLst>
              <a:gd name="adj" fmla="val 11538"/>
            </a:avLst>
          </a:prstGeom>
          <a:solidFill>
            <a:srgbClr val="F4F7FC"/>
          </a:solidFill>
          <a:ln/>
        </p:spPr>
      </p:sp>
      <p:sp>
        <p:nvSpPr>
          <p:cNvPr id="17" name="Shape 13"/>
          <p:cNvSpPr/>
          <p:nvPr/>
        </p:nvSpPr>
        <p:spPr>
          <a:xfrm>
            <a:off x="640080" y="3255264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178" y="3350362"/>
            <a:ext cx="175565" cy="17556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43000" y="320040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Ranking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713232" y="3657600"/>
            <a:ext cx="274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548640" y="3749040"/>
            <a:ext cx="4572000" cy="475488"/>
          </a:xfrm>
          <a:prstGeom prst="roundRect">
            <a:avLst>
              <a:gd name="adj" fmla="val 11538"/>
            </a:avLst>
          </a:prstGeom>
          <a:solidFill>
            <a:srgbClr val="F4F7FC"/>
          </a:solidFill>
          <a:ln/>
        </p:spPr>
      </p:sp>
      <p:sp>
        <p:nvSpPr>
          <p:cNvPr id="22" name="Shape 17"/>
          <p:cNvSpPr/>
          <p:nvPr/>
        </p:nvSpPr>
        <p:spPr>
          <a:xfrm>
            <a:off x="640080" y="3803904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178" y="3899002"/>
            <a:ext cx="175565" cy="175565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143000" y="374904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OSS Selected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713232" y="4206240"/>
            <a:ext cx="274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548640" y="4297680"/>
            <a:ext cx="4572000" cy="475488"/>
          </a:xfrm>
          <a:prstGeom prst="roundRect">
            <a:avLst>
              <a:gd name="adj" fmla="val 11538"/>
            </a:avLst>
          </a:prstGeom>
          <a:solidFill>
            <a:srgbClr val="F4F7FC"/>
          </a:solidFill>
          <a:ln/>
        </p:spPr>
      </p:sp>
      <p:sp>
        <p:nvSpPr>
          <p:cNvPr id="27" name="Shape 21"/>
          <p:cNvSpPr/>
          <p:nvPr/>
        </p:nvSpPr>
        <p:spPr>
          <a:xfrm>
            <a:off x="640080" y="4352544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178" y="4447642"/>
            <a:ext cx="175565" cy="175565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143000" y="429768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Optimization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713232" y="4754880"/>
            <a:ext cx="274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548640" y="4846320"/>
            <a:ext cx="4572000" cy="475488"/>
          </a:xfrm>
          <a:prstGeom prst="roundRect">
            <a:avLst>
              <a:gd name="adj" fmla="val 11538"/>
            </a:avLst>
          </a:prstGeom>
          <a:solidFill>
            <a:srgbClr val="F4F7FC"/>
          </a:solidFill>
          <a:ln/>
        </p:spPr>
      </p:sp>
      <p:sp>
        <p:nvSpPr>
          <p:cNvPr id="32" name="Shape 25"/>
          <p:cNvSpPr/>
          <p:nvPr/>
        </p:nvSpPr>
        <p:spPr>
          <a:xfrm>
            <a:off x="640080" y="4901184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178" y="4996282"/>
            <a:ext cx="175565" cy="175565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1143000" y="484632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Response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713232" y="5303520"/>
            <a:ext cx="274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100" dirty="0"/>
          </a:p>
        </p:txBody>
      </p:sp>
      <p:sp>
        <p:nvSpPr>
          <p:cNvPr id="36" name="Shape 28"/>
          <p:cNvSpPr/>
          <p:nvPr/>
        </p:nvSpPr>
        <p:spPr>
          <a:xfrm>
            <a:off x="548640" y="5394960"/>
            <a:ext cx="4572000" cy="475488"/>
          </a:xfrm>
          <a:prstGeom prst="roundRect">
            <a:avLst>
              <a:gd name="adj" fmla="val 11538"/>
            </a:avLst>
          </a:prstGeom>
          <a:solidFill>
            <a:srgbClr val="F4F7FC"/>
          </a:solidFill>
          <a:ln/>
        </p:spPr>
      </p:sp>
      <p:sp>
        <p:nvSpPr>
          <p:cNvPr id="37" name="Shape 29"/>
          <p:cNvSpPr/>
          <p:nvPr/>
        </p:nvSpPr>
        <p:spPr>
          <a:xfrm>
            <a:off x="640080" y="5449824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5178" y="5544922"/>
            <a:ext cx="175565" cy="175565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1143000" y="539496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Trace Logged</a:t>
            </a:r>
            <a:endParaRPr lang="en-US" sz="1200" dirty="0"/>
          </a:p>
        </p:txBody>
      </p:sp>
      <p:sp>
        <p:nvSpPr>
          <p:cNvPr id="40" name="Text 31"/>
          <p:cNvSpPr/>
          <p:nvPr/>
        </p:nvSpPr>
        <p:spPr>
          <a:xfrm>
            <a:off x="5577840" y="1234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Preview</a:t>
            </a:r>
            <a:endParaRPr lang="en-US" sz="1500" dirty="0"/>
          </a:p>
        </p:txBody>
      </p:sp>
      <p:sp>
        <p:nvSpPr>
          <p:cNvPr id="41" name="Shape 32"/>
          <p:cNvSpPr/>
          <p:nvPr/>
        </p:nvSpPr>
        <p:spPr>
          <a:xfrm>
            <a:off x="5577840" y="1691640"/>
            <a:ext cx="2880360" cy="1828800"/>
          </a:xfrm>
          <a:prstGeom prst="roundRect">
            <a:avLst>
              <a:gd name="adj" fmla="val 4000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1B2350">
                <a:alpha val="12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5806440" y="1920240"/>
            <a:ext cx="502920" cy="502920"/>
          </a:xfrm>
          <a:prstGeom prst="ellipse">
            <a:avLst/>
          </a:prstGeom>
          <a:solidFill>
            <a:srgbClr val="E0F7FA"/>
          </a:solidFill>
          <a:ln/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7199" y="2050999"/>
            <a:ext cx="241402" cy="241402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5806440" y="25603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Card</a:t>
            </a:r>
            <a:endParaRPr lang="en-US" sz="1350" dirty="0"/>
          </a:p>
        </p:txBody>
      </p:sp>
      <p:sp>
        <p:nvSpPr>
          <p:cNvPr id="45" name="Text 35"/>
          <p:cNvSpPr/>
          <p:nvPr/>
        </p:nvSpPr>
        <p:spPr>
          <a:xfrm>
            <a:off x="5806440" y="2862072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classification &amp; routing decision</a:t>
            </a:r>
            <a:endParaRPr lang="en-US" sz="1050" dirty="0"/>
          </a:p>
        </p:txBody>
      </p:sp>
      <p:sp>
        <p:nvSpPr>
          <p:cNvPr id="46" name="Shape 36"/>
          <p:cNvSpPr/>
          <p:nvPr/>
        </p:nvSpPr>
        <p:spPr>
          <a:xfrm>
            <a:off x="8641080" y="1691640"/>
            <a:ext cx="2880360" cy="1828800"/>
          </a:xfrm>
          <a:prstGeom prst="roundRect">
            <a:avLst>
              <a:gd name="adj" fmla="val 4000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1B2350">
                <a:alpha val="12000"/>
              </a:srgbClr>
            </a:outerShdw>
          </a:effectLst>
        </p:spPr>
      </p:sp>
      <p:sp>
        <p:nvSpPr>
          <p:cNvPr id="47" name="Shape 37"/>
          <p:cNvSpPr/>
          <p:nvPr/>
        </p:nvSpPr>
        <p:spPr>
          <a:xfrm>
            <a:off x="8869680" y="1920240"/>
            <a:ext cx="502920" cy="502920"/>
          </a:xfrm>
          <a:prstGeom prst="ellipse">
            <a:avLst/>
          </a:prstGeom>
          <a:solidFill>
            <a:srgbClr val="E0F7FA"/>
          </a:solidFill>
          <a:ln/>
        </p:spPr>
      </p:sp>
      <p:pic>
        <p:nvPicPr>
          <p:cNvPr id="4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00439" y="2050999"/>
            <a:ext cx="241402" cy="241402"/>
          </a:xfrm>
          <a:prstGeom prst="rect">
            <a:avLst/>
          </a:prstGeom>
        </p:spPr>
      </p:pic>
      <p:sp>
        <p:nvSpPr>
          <p:cNvPr id="49" name="Text 38"/>
          <p:cNvSpPr/>
          <p:nvPr/>
        </p:nvSpPr>
        <p:spPr>
          <a:xfrm>
            <a:off x="8869680" y="25603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Rankings</a:t>
            </a:r>
            <a:endParaRPr lang="en-US" sz="1350" dirty="0"/>
          </a:p>
        </p:txBody>
      </p:sp>
      <p:sp>
        <p:nvSpPr>
          <p:cNvPr id="50" name="Text 39"/>
          <p:cNvSpPr/>
          <p:nvPr/>
        </p:nvSpPr>
        <p:spPr>
          <a:xfrm>
            <a:off x="8869680" y="2862072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score comparison across models</a:t>
            </a:r>
            <a:endParaRPr lang="en-US" sz="1050" dirty="0"/>
          </a:p>
        </p:txBody>
      </p:sp>
      <p:sp>
        <p:nvSpPr>
          <p:cNvPr id="51" name="Shape 40"/>
          <p:cNvSpPr/>
          <p:nvPr/>
        </p:nvSpPr>
        <p:spPr>
          <a:xfrm>
            <a:off x="5577840" y="3703320"/>
            <a:ext cx="2880360" cy="1828800"/>
          </a:xfrm>
          <a:prstGeom prst="roundRect">
            <a:avLst>
              <a:gd name="adj" fmla="val 4000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1B2350">
                <a:alpha val="12000"/>
              </a:srgbClr>
            </a:outerShdw>
          </a:effectLst>
        </p:spPr>
      </p:sp>
      <p:sp>
        <p:nvSpPr>
          <p:cNvPr id="52" name="Shape 41"/>
          <p:cNvSpPr/>
          <p:nvPr/>
        </p:nvSpPr>
        <p:spPr>
          <a:xfrm>
            <a:off x="5806440" y="3931920"/>
            <a:ext cx="502920" cy="502920"/>
          </a:xfrm>
          <a:prstGeom prst="ellipse">
            <a:avLst/>
          </a:prstGeom>
          <a:solidFill>
            <a:srgbClr val="E0F7FA"/>
          </a:solidFill>
          <a:ln/>
        </p:spPr>
      </p:sp>
      <p:pic>
        <p:nvPicPr>
          <p:cNvPr id="5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37199" y="4062679"/>
            <a:ext cx="241402" cy="241402"/>
          </a:xfrm>
          <a:prstGeom prst="rect">
            <a:avLst/>
          </a:prstGeom>
        </p:spPr>
      </p:pic>
      <p:sp>
        <p:nvSpPr>
          <p:cNvPr id="54" name="Text 42"/>
          <p:cNvSpPr/>
          <p:nvPr/>
        </p:nvSpPr>
        <p:spPr>
          <a:xfrm>
            <a:off x="5806440" y="45720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Savings</a:t>
            </a:r>
            <a:endParaRPr lang="en-US" sz="1350" dirty="0"/>
          </a:p>
        </p:txBody>
      </p:sp>
      <p:sp>
        <p:nvSpPr>
          <p:cNvPr id="55" name="Text 43"/>
          <p:cNvSpPr/>
          <p:nvPr/>
        </p:nvSpPr>
        <p:spPr>
          <a:xfrm>
            <a:off x="5806440" y="4873752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vs. AegisAI spend per query</a:t>
            </a:r>
            <a:endParaRPr lang="en-US" sz="1050" dirty="0"/>
          </a:p>
        </p:txBody>
      </p:sp>
      <p:sp>
        <p:nvSpPr>
          <p:cNvPr id="56" name="Shape 44"/>
          <p:cNvSpPr/>
          <p:nvPr/>
        </p:nvSpPr>
        <p:spPr>
          <a:xfrm>
            <a:off x="8641080" y="3703320"/>
            <a:ext cx="2880360" cy="1828800"/>
          </a:xfrm>
          <a:prstGeom prst="roundRect">
            <a:avLst>
              <a:gd name="adj" fmla="val 4000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1B2350">
                <a:alpha val="12000"/>
              </a:srgbClr>
            </a:outerShdw>
          </a:effectLst>
        </p:spPr>
      </p:sp>
      <p:sp>
        <p:nvSpPr>
          <p:cNvPr id="57" name="Shape 45"/>
          <p:cNvSpPr/>
          <p:nvPr/>
        </p:nvSpPr>
        <p:spPr>
          <a:xfrm>
            <a:off x="8869680" y="3931920"/>
            <a:ext cx="502920" cy="502920"/>
          </a:xfrm>
          <a:prstGeom prst="ellipse">
            <a:avLst/>
          </a:prstGeom>
          <a:solidFill>
            <a:srgbClr val="E0F7FA"/>
          </a:solidFill>
          <a:ln/>
        </p:spPr>
      </p:sp>
      <p:pic>
        <p:nvPicPr>
          <p:cNvPr id="5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00439" y="4062679"/>
            <a:ext cx="241402" cy="241402"/>
          </a:xfrm>
          <a:prstGeom prst="rect">
            <a:avLst/>
          </a:prstGeom>
        </p:spPr>
      </p:pic>
      <p:sp>
        <p:nvSpPr>
          <p:cNvPr id="59" name="Text 46"/>
          <p:cNvSpPr/>
          <p:nvPr/>
        </p:nvSpPr>
        <p:spPr>
          <a:xfrm>
            <a:off x="8869680" y="45720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Trace</a:t>
            </a:r>
            <a:endParaRPr lang="en-US" sz="1350" dirty="0"/>
          </a:p>
        </p:txBody>
      </p:sp>
      <p:sp>
        <p:nvSpPr>
          <p:cNvPr id="60" name="Text 47"/>
          <p:cNvSpPr/>
          <p:nvPr/>
        </p:nvSpPr>
        <p:spPr>
          <a:xfrm>
            <a:off x="8869680" y="4873752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latency &amp; decision log</a:t>
            </a:r>
            <a:endParaRPr lang="en-US" sz="1050" dirty="0"/>
          </a:p>
        </p:txBody>
      </p:sp>
      <p:sp>
        <p:nvSpPr>
          <p:cNvPr id="61" name="Text 4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AegisAI  |  Code Riderz  |  HackIndia 2026</a:t>
            </a:r>
            <a:endParaRPr lang="en-US" sz="900" dirty="0"/>
          </a:p>
        </p:txBody>
      </p:sp>
      <p:sp>
        <p:nvSpPr>
          <p:cNvPr id="62" name="Text 49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Future Scope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473" y="1498153"/>
            <a:ext cx="149230" cy="1492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50976" y="142646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Multi-Model Routing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3337560" y="1417320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8393" y="1498153"/>
            <a:ext cx="149230" cy="1492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739896" y="142646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Query Classification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548640" y="1920240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473" y="2001073"/>
            <a:ext cx="149230" cy="14923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50976" y="192938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Model Ranking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3337560" y="1920240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8393" y="2001073"/>
            <a:ext cx="149230" cy="14923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739896" y="192938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Fallback</a:t>
            </a:r>
            <a:endParaRPr lang="en-US" sz="1150" dirty="0"/>
          </a:p>
        </p:txBody>
      </p:sp>
      <p:sp>
        <p:nvSpPr>
          <p:cNvPr id="16" name="Shape 10"/>
          <p:cNvSpPr/>
          <p:nvPr/>
        </p:nvSpPr>
        <p:spPr>
          <a:xfrm>
            <a:off x="548640" y="2423160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473" y="2503993"/>
            <a:ext cx="149230" cy="14923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50976" y="243230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Economy</a:t>
            </a:r>
            <a:endParaRPr lang="en-US" sz="1150" dirty="0"/>
          </a:p>
        </p:txBody>
      </p:sp>
      <p:sp>
        <p:nvSpPr>
          <p:cNvPr id="19" name="Shape 12"/>
          <p:cNvSpPr/>
          <p:nvPr/>
        </p:nvSpPr>
        <p:spPr>
          <a:xfrm>
            <a:off x="3337560" y="2423160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8393" y="2503993"/>
            <a:ext cx="149230" cy="14923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3739896" y="243230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Optimization</a:t>
            </a:r>
            <a:endParaRPr lang="en-US" sz="1150" dirty="0"/>
          </a:p>
        </p:txBody>
      </p:sp>
      <p:sp>
        <p:nvSpPr>
          <p:cNvPr id="22" name="Shape 14"/>
          <p:cNvSpPr/>
          <p:nvPr/>
        </p:nvSpPr>
        <p:spPr>
          <a:xfrm>
            <a:off x="548640" y="2926080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473" y="3006913"/>
            <a:ext cx="149230" cy="14923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950976" y="293522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Trace</a:t>
            </a:r>
            <a:endParaRPr lang="en-US" sz="1150" dirty="0"/>
          </a:p>
        </p:txBody>
      </p:sp>
      <p:sp>
        <p:nvSpPr>
          <p:cNvPr id="25" name="Shape 16"/>
          <p:cNvSpPr/>
          <p:nvPr/>
        </p:nvSpPr>
        <p:spPr>
          <a:xfrm>
            <a:off x="3337560" y="2926080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18393" y="3006913"/>
            <a:ext cx="149230" cy="14923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3739896" y="293522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Observability</a:t>
            </a:r>
            <a:endParaRPr lang="en-US" sz="1150" dirty="0"/>
          </a:p>
        </p:txBody>
      </p:sp>
      <p:sp>
        <p:nvSpPr>
          <p:cNvPr id="28" name="Text 18"/>
          <p:cNvSpPr/>
          <p:nvPr/>
        </p:nvSpPr>
        <p:spPr>
          <a:xfrm>
            <a:off x="6309360" y="1051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29" name="Shape 19"/>
          <p:cNvSpPr/>
          <p:nvPr/>
        </p:nvSpPr>
        <p:spPr>
          <a:xfrm>
            <a:off x="6309360" y="1417320"/>
            <a:ext cx="365760" cy="365760"/>
          </a:xfrm>
          <a:prstGeom prst="ellipse">
            <a:avLst/>
          </a:prstGeom>
          <a:solidFill>
            <a:srgbClr val="22315E"/>
          </a:solidFill>
          <a:ln/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4458" y="1512418"/>
            <a:ext cx="175565" cy="175565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6784848" y="143560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Learning-based Routing</a:t>
            </a:r>
            <a:endParaRPr lang="en-US" sz="1200" dirty="0"/>
          </a:p>
        </p:txBody>
      </p:sp>
      <p:sp>
        <p:nvSpPr>
          <p:cNvPr id="32" name="Shape 21"/>
          <p:cNvSpPr/>
          <p:nvPr/>
        </p:nvSpPr>
        <p:spPr>
          <a:xfrm>
            <a:off x="6309360" y="1947672"/>
            <a:ext cx="365760" cy="365760"/>
          </a:xfrm>
          <a:prstGeom prst="ellipse">
            <a:avLst/>
          </a:prstGeom>
          <a:solidFill>
            <a:srgbClr val="22315E"/>
          </a:solidFill>
          <a:ln/>
        </p:spPr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4458" y="2042770"/>
            <a:ext cx="175565" cy="175565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6784848" y="196596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Performance-based Self-Learning Router</a:t>
            </a:r>
            <a:endParaRPr lang="en-US" sz="1200" dirty="0"/>
          </a:p>
        </p:txBody>
      </p:sp>
      <p:sp>
        <p:nvSpPr>
          <p:cNvPr id="35" name="Shape 23"/>
          <p:cNvSpPr/>
          <p:nvPr/>
        </p:nvSpPr>
        <p:spPr>
          <a:xfrm>
            <a:off x="6309360" y="2478024"/>
            <a:ext cx="365760" cy="365760"/>
          </a:xfrm>
          <a:prstGeom prst="ellipse">
            <a:avLst/>
          </a:prstGeom>
          <a:solidFill>
            <a:srgbClr val="22315E"/>
          </a:solidFill>
          <a:ln/>
        </p:spPr>
      </p:sp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4458" y="2573122"/>
            <a:ext cx="175565" cy="175565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6784848" y="2496312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/ GPU Inference Optimization</a:t>
            </a:r>
            <a:endParaRPr lang="en-US" sz="1200" dirty="0"/>
          </a:p>
        </p:txBody>
      </p:sp>
      <p:sp>
        <p:nvSpPr>
          <p:cNvPr id="38" name="Shape 25"/>
          <p:cNvSpPr/>
          <p:nvPr/>
        </p:nvSpPr>
        <p:spPr>
          <a:xfrm>
            <a:off x="6309360" y="3008376"/>
            <a:ext cx="365760" cy="365760"/>
          </a:xfrm>
          <a:prstGeom prst="ellipse">
            <a:avLst/>
          </a:prstGeom>
          <a:solidFill>
            <a:srgbClr val="22315E"/>
          </a:solidFill>
          <a:ln/>
        </p:spPr>
      </p:sp>
      <p:pic>
        <p:nvPicPr>
          <p:cNvPr id="3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4458" y="3103474"/>
            <a:ext cx="175565" cy="175565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6784848" y="3026664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Multi-Agent Orchestration</a:t>
            </a:r>
            <a:endParaRPr lang="en-US" sz="1200" dirty="0"/>
          </a:p>
        </p:txBody>
      </p:sp>
      <p:sp>
        <p:nvSpPr>
          <p:cNvPr id="41" name="Shape 27"/>
          <p:cNvSpPr/>
          <p:nvPr/>
        </p:nvSpPr>
        <p:spPr>
          <a:xfrm>
            <a:off x="6309360" y="3538728"/>
            <a:ext cx="365760" cy="365760"/>
          </a:xfrm>
          <a:prstGeom prst="ellipse">
            <a:avLst/>
          </a:prstGeom>
          <a:solidFill>
            <a:srgbClr val="22315E"/>
          </a:solidFill>
          <a:ln/>
        </p:spPr>
      </p:sp>
      <p:pic>
        <p:nvPicPr>
          <p:cNvPr id="4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04458" y="3633826"/>
            <a:ext cx="175565" cy="175565"/>
          </a:xfrm>
          <a:prstGeom prst="rect">
            <a:avLst/>
          </a:prstGeom>
        </p:spPr>
      </p:pic>
      <p:sp>
        <p:nvSpPr>
          <p:cNvPr id="43" name="Text 28"/>
          <p:cNvSpPr/>
          <p:nvPr/>
        </p:nvSpPr>
        <p:spPr>
          <a:xfrm>
            <a:off x="6784848" y="3557016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Domain-Specific Routing Policies</a:t>
            </a:r>
            <a:endParaRPr lang="en-US" sz="1200" dirty="0"/>
          </a:p>
        </p:txBody>
      </p:sp>
      <p:sp>
        <p:nvSpPr>
          <p:cNvPr id="44" name="Shape 29"/>
          <p:cNvSpPr/>
          <p:nvPr/>
        </p:nvSpPr>
        <p:spPr>
          <a:xfrm>
            <a:off x="548640" y="5074920"/>
            <a:ext cx="11109960" cy="1188720"/>
          </a:xfrm>
          <a:prstGeom prst="roundRect">
            <a:avLst>
              <a:gd name="adj" fmla="val 6923"/>
            </a:avLst>
          </a:prstGeom>
          <a:solidFill>
            <a:srgbClr val="141B4D"/>
          </a:solidFill>
          <a:ln/>
        </p:spPr>
      </p:sp>
      <p:sp>
        <p:nvSpPr>
          <p:cNvPr id="45" name="Text 30"/>
          <p:cNvSpPr/>
          <p:nvPr/>
        </p:nvSpPr>
        <p:spPr>
          <a:xfrm>
            <a:off x="868680" y="50749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AegisAI transforms traditional single-model AI systems into an intelligent orchestration engine — dynamically selecting the optimal model, minimizing cost, and delivering complete execution transparency.</a:t>
            </a:r>
            <a:endParaRPr lang="en-US" sz="1350" dirty="0"/>
          </a:p>
        </p:txBody>
      </p:sp>
      <p:sp>
        <p:nvSpPr>
          <p:cNvPr id="46" name="Text 3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AegisAI  |  Code Riderz  |  HackIndia 2026</a:t>
            </a:r>
            <a:endParaRPr lang="en-US" sz="900" dirty="0"/>
          </a:p>
        </p:txBody>
      </p:sp>
      <p:sp>
        <p:nvSpPr>
          <p:cNvPr id="47" name="Text 32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AegisAI - Intelligent AI Orchestration Engine</dc:title>
  <dc:subject>PptxGenJS Presentation</dc:subject>
  <dc:creator>Code Riderz</dc:creator>
  <cp:lastModifiedBy>Code Riderz</cp:lastModifiedBy>
  <cp:revision>1</cp:revision>
  <dcterms:created xsi:type="dcterms:W3CDTF">2026-07-04T16:55:51Z</dcterms:created>
  <dcterms:modified xsi:type="dcterms:W3CDTF">2026-07-04T16:55:51Z</dcterms:modified>
</cp:coreProperties>
</file>