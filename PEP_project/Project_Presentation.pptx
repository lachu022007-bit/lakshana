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3.svg" ContentType="image/svg+xml"/>
  <Override PartName="/ppt/media/image15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5143500" cy="9144000"/>
  <p:embeddedFontLst>
    <p:embeddedFont>
      <p:font typeface="Unbounded" pitchFamily="34" charset="0"/>
      <p:regular r:id="rId18"/>
    </p:embeddedFont>
    <p:embeddedFont>
      <p:font typeface="Unbounded" pitchFamily="34" charset="-122"/>
      <p:regular r:id="rId19"/>
    </p:embeddedFont>
    <p:embeddedFont>
      <p:font typeface="Unbounded" pitchFamily="34" charset="-120"/>
      <p:regular r:id="rId20"/>
    </p:embeddedFont>
    <p:embeddedFont>
      <p:font typeface="Cabin" pitchFamily="34" charset="-122"/>
      <p:regular r:id="rId21"/>
    </p:embeddedFont>
    <p:embeddedFont>
      <p:font typeface="Cabin" pitchFamily="34" charset="0"/>
      <p:regular r:id="rId22"/>
    </p:embeddedFont>
    <p:embeddedFont>
      <p:font typeface="Cabin" pitchFamily="34" charset="-120"/>
      <p:regular r:id="rId23"/>
    </p:embeddedFont>
    <p:embeddedFont>
      <p:font typeface="Cabin Bold" pitchFamily="34" charset="0"/>
      <p:bold r:id="rId24"/>
    </p:embeddedFont>
    <p:embeddedFont>
      <p:font typeface="Cabin Bold" pitchFamily="34" charset="-122"/>
      <p:bold r:id="rId25"/>
    </p:embeddedFont>
    <p:embeddedFont>
      <p:font typeface="Cabin Bold" pitchFamily="34" charset="-120"/>
      <p:bold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56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>
              <a:alpha val="80000"/>
            </a:srgbClr>
          </a:solid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svg"/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2" Type="http://schemas.openxmlformats.org/officeDocument/2006/relationships/notesSlide" Target="../notesSlides/notesSlide10.xml"/><Relationship Id="rId11" Type="http://schemas.openxmlformats.org/officeDocument/2006/relationships/slideLayout" Target="../slideLayouts/slideLayout3.xml"/><Relationship Id="rId10" Type="http://schemas.openxmlformats.org/officeDocument/2006/relationships/image" Target="../media/image21.sv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634282"/>
            <a:ext cx="8096845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CampusFlow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2215530"/>
            <a:ext cx="8096845" cy="5313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dirty="0">
                <a:solidFill>
                  <a:srgbClr val="0A988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Predict. Protect. Personalize.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23577" y="2943150"/>
            <a:ext cx="8096845" cy="165270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CAD6DE"/>
                </a:solidFill>
                <a:latin typeface="Times New Roman" panose="02020603050405020304" pitchFamily="18" charset="0"/>
                <a:ea typeface="Cabin" pitchFamily="34" charset="-122"/>
                <a:cs typeface="Times New Roman" panose="02020603050405020304" pitchFamily="18" charset="0"/>
              </a:rPr>
              <a:t>St. Joseph's Institute of Technology, Dept. of ADS B (3rd Year)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600" dirty="0">
                <a:solidFill>
                  <a:srgbClr val="CAD6DE"/>
                </a:solidFill>
                <a:latin typeface="Times New Roman" panose="02020603050405020304" pitchFamily="18" charset="0"/>
                <a:ea typeface="Cabin" pitchFamily="34" charset="-122"/>
                <a:cs typeface="Times New Roman" panose="02020603050405020304" pitchFamily="18" charset="0"/>
              </a:rPr>
              <a:t>Team : TECHIES</a:t>
            </a:r>
            <a:endParaRPr lang="en-US" sz="1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 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Keerthanadevi Baskaran, Lakshmi Tharani MS, Lakshanadevi M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24384"/>
            <a:ext cx="8096845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 — Real Numbers, Real Campus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671117"/>
            <a:ext cx="855404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is not a technology gap.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It's a data utilization gap.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027783"/>
            <a:ext cx="3982938" cy="9801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5909" y="2172965"/>
            <a:ext cx="3635425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988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2,000+ Students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— Zero Real-Time Info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25909" y="2443981"/>
            <a:ext cx="3635425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Students wait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40+ minutes daily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at [Gate 2] with no visibility into bus location, estimated arrival, or route status.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7410" y="2027783"/>
            <a:ext cx="3983013" cy="98018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39742" y="2172965"/>
            <a:ext cx="3635499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988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Parents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— No Safety Confirmation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839742" y="2443981"/>
            <a:ext cx="3635499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confirmation when their child boards or reaches home safely. Parents rely on phone calls and guesswork.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3138860"/>
            <a:ext cx="3982938" cy="98018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5909" y="3284041"/>
            <a:ext cx="3635425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988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College Admin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— No Route Intelligence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25909" y="3555057"/>
            <a:ext cx="3635425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Fuel-wasting routes run at full cost regardless of actual ridership. No data-driven mechanism to optimize scheduling.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7410" y="3138860"/>
            <a:ext cx="3983013" cy="9801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839742" y="3284041"/>
            <a:ext cx="3635499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A988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Zero Complaint Intelligence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839742" y="3555057"/>
            <a:ext cx="3635499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 grievances are collected but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never systematically analyzed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. Recurring patterns go unnoticed and unresolved.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80926"/>
            <a:ext cx="8096845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Why Existing Solutions Fall Short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9882" y="1174924"/>
            <a:ext cx="8357741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"GPS-only tracking apps tell you where the bus is — not when to leave, whether it'll be full, or that you got home safe."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1027658"/>
            <a:ext cx="14288" cy="503932"/>
          </a:xfrm>
          <a:prstGeom prst="roundRect">
            <a:avLst>
              <a:gd name="adj" fmla="val 59998"/>
            </a:avLst>
          </a:prstGeom>
          <a:solidFill>
            <a:srgbClr val="0A988B"/>
          </a:solidFill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23577" y="1678856"/>
            <a:ext cx="8096845" cy="3083719"/>
          </a:xfrm>
          <a:prstGeom prst="roundRect">
            <a:avLst>
              <a:gd name="adj" fmla="val 637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23577" y="2061939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3577" y="2447404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23577" y="2832869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23577" y="3218334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3577" y="3603799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23577" y="3989263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3577" y="4374728"/>
            <a:ext cx="8096845" cy="8182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8414" y="1683618"/>
            <a:ext cx="2749674" cy="378321"/>
          </a:xfrm>
          <a:prstGeom prst="rect">
            <a:avLst/>
          </a:prstGeom>
          <a:solidFill>
            <a:srgbClr val="1C3645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9309" y="1766888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78088" y="1683618"/>
            <a:ext cx="2668786" cy="378321"/>
          </a:xfrm>
          <a:prstGeom prst="rect">
            <a:avLst/>
          </a:prstGeom>
          <a:solidFill>
            <a:srgbClr val="1C3645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08983" y="1766888"/>
            <a:ext cx="2864197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Basic GPS Tracking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6874" y="1683618"/>
            <a:ext cx="2668786" cy="378321"/>
          </a:xfrm>
          <a:prstGeom prst="rect">
            <a:avLst/>
          </a:prstGeom>
          <a:solidFill>
            <a:srgbClr val="0A988B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77769" y="1766888"/>
            <a:ext cx="2864197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CampusFlow 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9309" y="2147590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bus location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8983" y="2147590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Yes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77769" y="2147590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Yes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9309" y="2533055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Personalized departure alert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8983" y="2533055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❌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77769" y="2533055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Leave in 9 min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9309" y="2918520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Crowd forecast (tomorrow)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08983" y="2918520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❌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77769" y="2918520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LSTM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9309" y="3303984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Parent safety confirmation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08983" y="3303984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❌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77769" y="3303984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Smart Buddy Mode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9309" y="3689449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Complaint intelligence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08983" y="3689449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❌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77769" y="3689449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NLP auto-clustering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9309" y="4074914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optimization 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08983" y="4074914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❌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77769" y="4074914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Green Mobility Score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9309" y="4460379"/>
            <a:ext cx="2945085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Natural language queries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08983" y="4460379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❌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No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77769" y="4460379"/>
            <a:ext cx="2864197" cy="2141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✅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GenAI Chatbot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65894"/>
            <a:ext cx="8096845" cy="2165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System Architecture — Software-First, No New Hardware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915" y="665262"/>
            <a:ext cx="8030096" cy="3462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35" y="3478077"/>
            <a:ext cx="1846439" cy="2141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Output Interfaces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35" y="2676499"/>
            <a:ext cx="1714487" cy="214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AI/ML Layer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97235" y="1883017"/>
            <a:ext cx="1714487" cy="21418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 Layer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97235" y="1081438"/>
            <a:ext cx="1714487" cy="2141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Sources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174629"/>
            <a:ext cx="8554045" cy="92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 IR sensors. No RFID hardware. Entirely app-data-driven.</a:t>
            </a:r>
            <a:endParaRPr lang="en-US" sz="550" dirty="0"/>
          </a:p>
        </p:txBody>
      </p:sp>
      <p:sp>
        <p:nvSpPr>
          <p:cNvPr id="9" name="Shape 6"/>
          <p:cNvSpPr/>
          <p:nvPr/>
        </p:nvSpPr>
        <p:spPr>
          <a:xfrm>
            <a:off x="523577" y="4313262"/>
            <a:ext cx="1993181" cy="464344"/>
          </a:xfrm>
          <a:prstGeom prst="roundRect">
            <a:avLst>
              <a:gd name="adj" fmla="val 2379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97173" y="4386858"/>
            <a:ext cx="1845990" cy="108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Sources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597173" y="4519910"/>
            <a:ext cx="1845990" cy="184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Driver phone GPS · Student app check-ins · Historical boarding logs · Complaint submissions</a:t>
            </a:r>
            <a:endParaRPr lang="en-US" sz="550" dirty="0"/>
          </a:p>
        </p:txBody>
      </p:sp>
      <p:sp>
        <p:nvSpPr>
          <p:cNvPr id="12" name="Shape 9"/>
          <p:cNvSpPr/>
          <p:nvPr/>
        </p:nvSpPr>
        <p:spPr>
          <a:xfrm>
            <a:off x="2558132" y="4313262"/>
            <a:ext cx="1993181" cy="464344"/>
          </a:xfrm>
          <a:prstGeom prst="roundRect">
            <a:avLst>
              <a:gd name="adj" fmla="val 2379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2631728" y="4386858"/>
            <a:ext cx="1845990" cy="108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Cloud Layer</a:t>
            </a:r>
            <a:endParaRPr lang="en-US" sz="650" dirty="0"/>
          </a:p>
        </p:txBody>
      </p:sp>
      <p:sp>
        <p:nvSpPr>
          <p:cNvPr id="14" name="Text 11"/>
          <p:cNvSpPr/>
          <p:nvPr/>
        </p:nvSpPr>
        <p:spPr>
          <a:xfrm>
            <a:off x="2631728" y="4519910"/>
            <a:ext cx="1845990" cy="184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Firebase Realtime DB — live GPS sync, check-in events, push notifications</a:t>
            </a:r>
            <a:endParaRPr lang="en-US" sz="550" dirty="0"/>
          </a:p>
        </p:txBody>
      </p:sp>
      <p:sp>
        <p:nvSpPr>
          <p:cNvPr id="15" name="Shape 12"/>
          <p:cNvSpPr/>
          <p:nvPr/>
        </p:nvSpPr>
        <p:spPr>
          <a:xfrm>
            <a:off x="4592687" y="4313262"/>
            <a:ext cx="1993181" cy="464344"/>
          </a:xfrm>
          <a:prstGeom prst="roundRect">
            <a:avLst>
              <a:gd name="adj" fmla="val 2379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4666283" y="4386858"/>
            <a:ext cx="1845990" cy="108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/ ML Layer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4666283" y="4519910"/>
            <a:ext cx="1845990" cy="184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LSTM + SARIMA · sentence-transformers · LangChain + Groq Llama-3.3-70B</a:t>
            </a:r>
            <a:endParaRPr lang="en-US" sz="550" dirty="0"/>
          </a:p>
        </p:txBody>
      </p:sp>
      <p:sp>
        <p:nvSpPr>
          <p:cNvPr id="18" name="Shape 15"/>
          <p:cNvSpPr/>
          <p:nvPr/>
        </p:nvSpPr>
        <p:spPr>
          <a:xfrm>
            <a:off x="6627242" y="4313262"/>
            <a:ext cx="1993181" cy="464344"/>
          </a:xfrm>
          <a:prstGeom prst="roundRect">
            <a:avLst>
              <a:gd name="adj" fmla="val 2379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6700838" y="4386858"/>
            <a:ext cx="1845990" cy="108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Output Interfaces</a:t>
            </a:r>
            <a:endParaRPr lang="en-US" sz="650" dirty="0"/>
          </a:p>
        </p:txBody>
      </p:sp>
      <p:sp>
        <p:nvSpPr>
          <p:cNvPr id="20" name="Text 17"/>
          <p:cNvSpPr/>
          <p:nvPr/>
        </p:nvSpPr>
        <p:spPr>
          <a:xfrm>
            <a:off x="6700838" y="4519910"/>
            <a:ext cx="1845990" cy="184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5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 App · Admin Dashboard · Parent Alert Module — all on one pipeline</a:t>
            </a:r>
            <a:endParaRPr lang="en-US" sz="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370954"/>
            <a:ext cx="8096845" cy="36693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1 — AI Smart Departure Assistant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33760" y="916260"/>
            <a:ext cx="4075881" cy="3856211"/>
          </a:xfrm>
          <a:prstGeom prst="roundRect">
            <a:avLst>
              <a:gd name="adj" fmla="val 485"/>
            </a:avLst>
          </a:prstGeom>
          <a:solidFill>
            <a:srgbClr val="1C3645"/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58478" y="1035174"/>
            <a:ext cx="3826446" cy="18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It Does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58478" y="1337593"/>
            <a:ext cx="3826446" cy="10818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Not just "bus arriving" — calculates a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personalized "Leave in 9 minutes" alert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using live ETA combined with the student's registered walk time to their specific stop.</a:t>
            </a:r>
            <a:endParaRPr lang="en-US" sz="9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Output: Push notification timed so the student arrives at the stop with a </a:t>
            </a:r>
            <a:r>
              <a:rPr lang="en-US" sz="95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2–3 minute buffer</a:t>
            </a: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never too early, never too late.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728939" y="1035174"/>
            <a:ext cx="3896246" cy="18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28939" y="1352401"/>
            <a:ext cx="280690" cy="280690"/>
          </a:xfrm>
          <a:prstGeom prst="roundRect">
            <a:avLst>
              <a:gd name="adj" fmla="val 6668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781215" y="1382688"/>
            <a:ext cx="176138" cy="2201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128543" y="1395264"/>
            <a:ext cx="3496642" cy="18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Live Bus Position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128543" y="1697682"/>
            <a:ext cx="3496642" cy="3899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Real-time GPS coordinates streamed from the driver's phone to Firebase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28939" y="2325439"/>
            <a:ext cx="280690" cy="280690"/>
          </a:xfrm>
          <a:prstGeom prst="roundRect">
            <a:avLst>
              <a:gd name="adj" fmla="val 6668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781215" y="2355726"/>
            <a:ext cx="176138" cy="2201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128543" y="2368302"/>
            <a:ext cx="3496642" cy="18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Student's Registered Stop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128543" y="2670721"/>
            <a:ext cx="3496642" cy="19496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Walk-time profile stored at registration — no manual entry per trip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28939" y="3103513"/>
            <a:ext cx="280690" cy="280690"/>
          </a:xfrm>
          <a:prstGeom prst="roundRect">
            <a:avLst>
              <a:gd name="adj" fmla="val 6668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81215" y="3133799"/>
            <a:ext cx="176138" cy="220117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28543" y="3146375"/>
            <a:ext cx="3496642" cy="1835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Historical Delay Buffer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128543" y="3448794"/>
            <a:ext cx="3496642" cy="3899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Route-specific and time-slot-specific delay patterns applied as margin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28939" y="3972446"/>
            <a:ext cx="3896246" cy="666304"/>
          </a:xfrm>
          <a:prstGeom prst="roundRect">
            <a:avLst>
              <a:gd name="adj" fmla="val 2809"/>
            </a:avLst>
          </a:prstGeom>
          <a:solidFill>
            <a:srgbClr val="08786D"/>
          </a:solidFill>
        </p:spPr>
        <p:txBody>
          <a:bodyPr/>
          <a:lstStyle/>
          <a:p>
            <a:endParaRPr lang="en-IN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3657" y="4157290"/>
            <a:ext cx="155897" cy="12471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134273" y="4110633"/>
            <a:ext cx="3366195" cy="38993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Technique:</a:t>
            </a:r>
            <a:r>
              <a:rPr lang="en-US" sz="95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Rule-based ETA engine on Firebase live data — fully deterministic and auditable. No ML required.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807839"/>
            <a:ext cx="8096845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2 — AI Crowd Prediction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577" y="1519982"/>
            <a:ext cx="3888730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The Problem Solved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23577" y="1843385"/>
            <a:ext cx="3888730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Students avoid overcrowded buses — but only if they know in advance which ones will be full. Without prediction, students cluster on the first available bus, worsening the very problem they're trying to avoid.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3577" y="2602483"/>
            <a:ext cx="3888730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No Hardware Needed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23577" y="2925887"/>
            <a:ext cx="3888730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Uses only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student app check-ins as a proxy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for boarding count. No IR sensors, no turnstiles, no physical infrastructure investment.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23577" y="3475583"/>
            <a:ext cx="3888730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Technique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3577" y="3798987"/>
            <a:ext cx="3888730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LSTM model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trained on historical app check-in data — predicts boarding volume per bus per time slot for the next day.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42172" y="1389087"/>
            <a:ext cx="4077295" cy="2946499"/>
          </a:xfrm>
          <a:prstGeom prst="roundRect">
            <a:avLst>
              <a:gd name="adj" fmla="val 666"/>
            </a:avLst>
          </a:prstGeom>
          <a:solidFill>
            <a:srgbClr val="1C3645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73067" y="1519982"/>
            <a:ext cx="3815507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Sample Output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73067" y="1859756"/>
            <a:ext cx="1842269" cy="1439242"/>
          </a:xfrm>
          <a:prstGeom prst="roundRect">
            <a:avLst>
              <a:gd name="adj" fmla="val 1364"/>
            </a:avLst>
          </a:prstGeom>
          <a:solidFill>
            <a:srgbClr val="1C3645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18249" y="2004938"/>
            <a:ext cx="1551905" cy="3897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🚌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Bus 4 — 8:15 AM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8249" y="2525613"/>
            <a:ext cx="1551905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Predicted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85% full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Admin pre-deploys larger capacity vehicle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46230" y="1859756"/>
            <a:ext cx="1842343" cy="1439242"/>
          </a:xfrm>
          <a:prstGeom prst="roundRect">
            <a:avLst>
              <a:gd name="adj" fmla="val 1364"/>
            </a:avLst>
          </a:prstGeom>
          <a:solidFill>
            <a:srgbClr val="1C3645"/>
          </a:solidFill>
          <a:ln w="14288">
            <a:solidFill>
              <a:srgbClr val="4960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891412" y="2004938"/>
            <a:ext cx="1551980" cy="38978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🚌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Bus 6 — 8:30 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91412" y="2525613"/>
            <a:ext cx="1551980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Predicted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40% full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Students choose this slot to avoid crowds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73067" y="3446264"/>
            <a:ext cx="4272707" cy="2094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Students choose. Admins pre-deploy capacity.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Both sides win.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292200"/>
            <a:ext cx="8096845" cy="76988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Feature 3 — Safety, Complaints &amp; Instant Queries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2323877"/>
            <a:ext cx="327273" cy="327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14487" y="2323877"/>
            <a:ext cx="2098923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Smart Buddy Mode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014487" y="2594893"/>
            <a:ext cx="2098923" cy="12564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Detects when the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last student on a route checks out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at their stop and sends an automated safety confirmation to parents. Zero manual check-ins required from students or parents.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7046" y="2323877"/>
            <a:ext cx="327273" cy="3272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67956" y="2323877"/>
            <a:ext cx="2098923" cy="38501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AI Complaint Clustering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767956" y="2787402"/>
            <a:ext cx="2098923" cy="104700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sentence-transformers NLP pipeline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groups free-text complaints by route, issue type, and frequency. Auto-surfaces insights like: </a:t>
            </a:r>
            <a:r>
              <a:rPr lang="en-US" sz="100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"Route 5 = 42% of all delay complaints this month."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0516" y="2323877"/>
            <a:ext cx="327273" cy="3272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21425" y="2323877"/>
            <a:ext cx="2098997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GenAI Chatbot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521425" y="2594893"/>
            <a:ext cx="2098997" cy="125640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LangChain + Groq Llama-3.3-70B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answers natural language queries like "Where is Bus 7?" or "Which bus is least crowded right now?" Grounded in live Firebase data — no hallucinations.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0096"/>
            <a:ext cx="8096845" cy="3789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Tech Stack — Grouped by Layer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523577" y="1042764"/>
            <a:ext cx="855404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i="1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Every AI claim in this deck maps directly to a row in this table.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23577" y="1389980"/>
            <a:ext cx="8096845" cy="3343349"/>
          </a:xfrm>
          <a:prstGeom prst="roundRect">
            <a:avLst>
              <a:gd name="adj" fmla="val 57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23577" y="1763316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23577" y="2134270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523577" y="2505224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23577" y="2876178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23577" y="3247132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23577" y="3618086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23577" y="3989040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523577" y="4359994"/>
            <a:ext cx="8096845" cy="8054"/>
          </a:xfrm>
          <a:prstGeom prst="rect">
            <a:avLst/>
          </a:prstGeom>
          <a:solidFill>
            <a:srgbClr val="FFFFFF">
              <a:alpha val="24000"/>
            </a:srgbClr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28414" y="1394743"/>
            <a:ext cx="1779166" cy="368573"/>
          </a:xfrm>
          <a:prstGeom prst="rect">
            <a:avLst/>
          </a:prstGeom>
          <a:solidFill>
            <a:srgbClr val="1C3645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57225" y="1475556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07580" y="1394743"/>
            <a:ext cx="2426196" cy="368573"/>
          </a:xfrm>
          <a:prstGeom prst="rect">
            <a:avLst/>
          </a:prstGeom>
          <a:solidFill>
            <a:srgbClr val="1C3645"/>
          </a:solidFill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436391" y="1475556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33776" y="1394743"/>
            <a:ext cx="3881884" cy="368573"/>
          </a:xfrm>
          <a:prstGeom prst="rect">
            <a:avLst/>
          </a:prstGeom>
          <a:solidFill>
            <a:srgbClr val="1C3645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62587" y="1475556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Role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7225" y="1846511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Mobile / Web App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36391" y="1846511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Next.js + Flutter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62587" y="1846511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Student app, admin dashboard, parent alerts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7225" y="2217465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Live Data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436391" y="2217465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Firebase Realtime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62587" y="2217465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GPS sync, check-ins, push notifications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7225" y="2588419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Backend 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436391" y="2588419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FastAPI (Python)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62587" y="2588419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REST + WebSocket microservices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7225" y="2959373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36391" y="2959373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LSTM + SARIMA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62587" y="2959373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ETA prediction, crowd demand forecasting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7225" y="3330327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NLP Clustering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36391" y="3330327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sentence-transformers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62587" y="3330327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Complaint grouping by route &amp; issue type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7225" y="3701281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GenAI Chatbot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436391" y="3701281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LangChain + Groq Llama-3.3-70B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62587" y="3701281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Natural language queries on live data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7225" y="4072235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Maps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436391" y="4072235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Google Maps / Leaflet.js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62587" y="4072235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Route visualization, stop heatmaps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7225" y="4443189"/>
            <a:ext cx="1978744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Auth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436391" y="4443189"/>
            <a:ext cx="2625775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Firebase Auth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62587" y="4443189"/>
            <a:ext cx="4081463" cy="2045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Role-based access: student / driver / admin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21866"/>
            <a:ext cx="8096845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Who Benefits — and How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3577" y="1768599"/>
            <a:ext cx="3982938" cy="1165771"/>
          </a:xfrm>
          <a:prstGeom prst="roundRect">
            <a:avLst>
              <a:gd name="adj" fmla="val 1684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54472" y="1899493"/>
            <a:ext cx="3721150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🎓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Students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4472" y="2175272"/>
            <a:ext cx="3721150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Know exactly when to leave home. Never miss a bus or stand in an unnecessary crowd. Personalized alerts respect individual walk times.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37410" y="1768599"/>
            <a:ext cx="3983013" cy="1165771"/>
          </a:xfrm>
          <a:prstGeom prst="roundRect">
            <a:avLst>
              <a:gd name="adj" fmla="val 1684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768304" y="1899493"/>
            <a:ext cx="37212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👨‍👩‍👧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Parents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68304" y="2175272"/>
            <a:ext cx="3721224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Receive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real-time safety confirmation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the moment their child checks out at their stop — no phone calls, no anxiety.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3577" y="3065264"/>
            <a:ext cx="3982938" cy="956370"/>
          </a:xfrm>
          <a:prstGeom prst="roundRect">
            <a:avLst>
              <a:gd name="adj" fmla="val 2053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4472" y="3196158"/>
            <a:ext cx="3721150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🏫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College Admin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54472" y="3471937"/>
            <a:ext cx="3721150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Data-driven route optimization, automated complaint intelligence, fewer manual escalations. </a:t>
            </a: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Actionable insights, not raw noise.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37410" y="3065264"/>
            <a:ext cx="3983013" cy="956370"/>
          </a:xfrm>
          <a:prstGeom prst="roundRect">
            <a:avLst>
              <a:gd name="adj" fmla="val 2053"/>
            </a:avLst>
          </a:prstGeom>
          <a:solidFill>
            <a:srgbClr val="304755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768304" y="3196158"/>
            <a:ext cx="3721224" cy="1972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🌱</a:t>
            </a: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Environment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68304" y="3471937"/>
            <a:ext cx="3721224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Green Mobility Score</a:t>
            </a: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quantifies fuel waste and CO₂ per route — enabling measurable, reportable sustainability improvements.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7583"/>
            <a:ext cx="8096845" cy="3849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Future Scope — Planned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23577" y="1074316"/>
            <a:ext cx="3544119" cy="198834"/>
          </a:xfrm>
          <a:prstGeom prst="roundRect">
            <a:avLst>
              <a:gd name="adj" fmla="val 7901"/>
            </a:avLst>
          </a:prstGeom>
          <a:noFill/>
          <a:ln w="4763">
            <a:solidFill>
              <a:srgbClr val="0A98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02084" y="1113532"/>
            <a:ext cx="3844305" cy="1204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0A988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ROADMAP — PLANNED EXTENSIONS, NOT PART OF THE CURRENT BUILD</a:t>
            </a:r>
            <a:endParaRPr lang="en-US" sz="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420416"/>
            <a:ext cx="3982938" cy="1582266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6894" y="1532855"/>
            <a:ext cx="196304" cy="19630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8759" y="1958280"/>
            <a:ext cx="3692575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RFID / IR Hardware Pilot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8759" y="2229296"/>
            <a:ext cx="3692575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Physical boarding sensors to replace app check-in dependency — higher accuracy, lower friction for students.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7410" y="1420416"/>
            <a:ext cx="3983013" cy="1582266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0727" y="1532855"/>
            <a:ext cx="196304" cy="1963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782592" y="1958280"/>
            <a:ext cx="3692649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Driver Fatigue Detection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782592" y="2229296"/>
            <a:ext cx="3692649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YOLOv8 computer vision model flags drowsy driving and alerts dispatch in real time — zero additional hardware beyond a dashcam.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3133576"/>
            <a:ext cx="3982938" cy="1582266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16894" y="3246016"/>
            <a:ext cx="196304" cy="19630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68759" y="3671441"/>
            <a:ext cx="3692575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Automated Emergency Dispatch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668759" y="3942457"/>
            <a:ext cx="3692575" cy="62820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GPS anomaly + accelerometer event triggers instant alert to campus security and nearest hospital — no human in the loop required.</a:t>
            </a:r>
            <a:endParaRPr lang="en-US" sz="10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37410" y="3133576"/>
            <a:ext cx="3983013" cy="1582266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0727" y="3246016"/>
            <a:ext cx="196304" cy="196304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782592" y="3671441"/>
            <a:ext cx="3692649" cy="19250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Dynamic Pooling</a:t>
            </a:r>
            <a:endParaRPr lang="en-US" sz="1200" dirty="0"/>
          </a:p>
        </p:txBody>
      </p:sp>
      <p:sp>
        <p:nvSpPr>
          <p:cNvPr id="20" name="Text 10"/>
          <p:cNvSpPr/>
          <p:nvPr/>
        </p:nvSpPr>
        <p:spPr>
          <a:xfrm>
            <a:off x="4782592" y="3942457"/>
            <a:ext cx="3692649" cy="41880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Uber Pool-style algorithm adjusts pickup stops in real time based on live demand clusters — reduces empty-seat kilometers.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10096"/>
            <a:ext cx="8096845" cy="34885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Thank You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23577" y="920204"/>
            <a:ext cx="8096845" cy="481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0A988B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CampusFlow AI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38150" y="1562993"/>
            <a:ext cx="4074542" cy="3170411"/>
          </a:xfrm>
          <a:prstGeom prst="roundRect">
            <a:avLst>
              <a:gd name="adj" fmla="val 561"/>
            </a:avLst>
          </a:prstGeom>
          <a:solidFill>
            <a:srgbClr val="1C3645"/>
          </a:solidFill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556766" y="1670447"/>
            <a:ext cx="3837310" cy="174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Project Team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56766" y="1952402"/>
            <a:ext cx="3837310" cy="54247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6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Team : TECHIES</a:t>
            </a:r>
            <a:endParaRPr lang="en-US" sz="16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St. Joseph's Institute of Technology</a:t>
            </a:r>
            <a:endParaRPr lang="en-US" sz="160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Dept. of ADS - B, 3rd Year </a:t>
            </a:r>
            <a:endParaRPr lang="en-US" sz="1600" dirty="0">
              <a:solidFill>
                <a:srgbClr val="CAD6DE"/>
              </a:solidFill>
              <a:latin typeface="Cabin" pitchFamily="34" charset="0"/>
              <a:ea typeface="Cabin" pitchFamily="34" charset="-122"/>
              <a:cs typeface="Cabin" pitchFamily="34" charset="-120"/>
            </a:endParaRPr>
          </a:p>
          <a:p>
            <a:pPr marL="0" indent="0" algn="l">
              <a:lnSpc>
                <a:spcPct val="127000"/>
              </a:lnSpc>
              <a:buNone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</a:rPr>
              <a:t>Team Members :</a:t>
            </a:r>
            <a:endParaRPr lang="en-US" sz="1600" dirty="0">
              <a:solidFill>
                <a:srgbClr val="CAD6DE"/>
              </a:solidFill>
              <a:latin typeface="Cabin" pitchFamily="34" charset="0"/>
            </a:endParaRPr>
          </a:p>
          <a:p>
            <a:pPr marL="285750" indent="-285750" algn="l">
              <a:lnSpc>
                <a:spcPct val="12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</a:rPr>
              <a:t>Keerthanadevi Baskaran</a:t>
            </a:r>
            <a:endParaRPr lang="en-US" sz="1600" dirty="0">
              <a:solidFill>
                <a:srgbClr val="CAD6DE"/>
              </a:solidFill>
              <a:latin typeface="Cabin" pitchFamily="34" charset="0"/>
            </a:endParaRPr>
          </a:p>
          <a:p>
            <a:pPr marL="285750" indent="-285750" algn="l">
              <a:lnSpc>
                <a:spcPct val="12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</a:rPr>
              <a:t>Lakshmi Tharani MS</a:t>
            </a:r>
            <a:endParaRPr lang="en-US" sz="1600" dirty="0">
              <a:solidFill>
                <a:srgbClr val="CAD6DE"/>
              </a:solidFill>
              <a:latin typeface="Cabin" pitchFamily="34" charset="0"/>
            </a:endParaRPr>
          </a:p>
          <a:p>
            <a:pPr marL="285750" indent="-285750" algn="l">
              <a:lnSpc>
                <a:spcPct val="127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CAD6DE"/>
                </a:solidFill>
                <a:latin typeface="Cabin" pitchFamily="34" charset="0"/>
              </a:rPr>
              <a:t>Lakshanadevi M</a:t>
            </a:r>
            <a:endParaRPr lang="en-US" sz="1600" dirty="0">
              <a:solidFill>
                <a:srgbClr val="CAD6DE"/>
              </a:solidFill>
              <a:latin typeface="Cabin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6766" y="2602334"/>
            <a:ext cx="3837310" cy="174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21498" y="1670447"/>
            <a:ext cx="3903687" cy="17450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What We Built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5997" y="1971787"/>
            <a:ext cx="177924" cy="1779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07037" y="1965871"/>
            <a:ext cx="3518148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Smart Departure Assistant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personalized leave-time alerts</a:t>
            </a:r>
            <a:endParaRPr lang="en-US" sz="9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5997" y="2548570"/>
            <a:ext cx="177924" cy="1779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07037" y="2542654"/>
            <a:ext cx="3518148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LSTM Crowd Prediction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next-day boarding forecasts</a:t>
            </a:r>
            <a:endParaRPr lang="en-US" sz="9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5997" y="3125353"/>
            <a:ext cx="177924" cy="1779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07037" y="3119437"/>
            <a:ext cx="3518148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Smart Buddy Mode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automated parent safety confirmation</a:t>
            </a:r>
            <a:endParaRPr lang="en-US" sz="9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65997" y="3702137"/>
            <a:ext cx="177924" cy="17792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07037" y="3696221"/>
            <a:ext cx="3518148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b="1" dirty="0">
                <a:solidFill>
                  <a:srgbClr val="CAD6DE"/>
                </a:solidFill>
                <a:latin typeface="Cabin Bold" pitchFamily="34" charset="0"/>
                <a:ea typeface="Cabin Bold" pitchFamily="34" charset="-122"/>
                <a:cs typeface="Cabin Bold" pitchFamily="34" charset="-120"/>
              </a:rPr>
              <a:t>GenAI Chatbot</a:t>
            </a: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— live natural language queries on Firebase data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721498" y="4178945"/>
            <a:ext cx="3903687" cy="433536"/>
          </a:xfrm>
          <a:prstGeom prst="roundRect">
            <a:avLst>
              <a:gd name="adj" fmla="val 4105"/>
            </a:avLst>
          </a:prstGeom>
          <a:solidFill>
            <a:srgbClr val="08786D"/>
          </a:solidFill>
        </p:spPr>
        <p:txBody>
          <a:bodyPr/>
          <a:lstStyle/>
          <a:p>
            <a:endParaRPr lang="en-IN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114" y="4351958"/>
            <a:ext cx="148233" cy="11861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06963" y="4305300"/>
            <a:ext cx="3856806" cy="180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Software-first · No new hardware · Built for 2,000+ students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6428</Words>
  <Application>WPS Presentation</Application>
  <PresentationFormat>On-screen Show (16:9)</PresentationFormat>
  <Paragraphs>300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30" baseType="lpstr">
      <vt:lpstr>Arial</vt:lpstr>
      <vt:lpstr>SimSun</vt:lpstr>
      <vt:lpstr>Wingdings</vt:lpstr>
      <vt:lpstr>Unbounded</vt:lpstr>
      <vt:lpstr>Unbounded</vt:lpstr>
      <vt:lpstr>Unbounded</vt:lpstr>
      <vt:lpstr>Times New Roman</vt:lpstr>
      <vt:lpstr>Cabin</vt:lpstr>
      <vt:lpstr>Cabin</vt:lpstr>
      <vt:lpstr>Cabin</vt:lpstr>
      <vt:lpstr>Cabin Bold</vt:lpstr>
      <vt:lpstr>Cabin Bold</vt:lpstr>
      <vt:lpstr>Cabin Bold</vt:lpstr>
      <vt:lpstr>Calibri</vt:lpstr>
      <vt:lpstr>Microsoft YaHei</vt:lpstr>
      <vt:lpstr>Arial Unicode MS</vt:lpstr>
      <vt:lpstr>Aptos</vt:lpstr>
      <vt:lpstr>Segoe UI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Dell</cp:lastModifiedBy>
  <cp:revision>3</cp:revision>
  <dcterms:created xsi:type="dcterms:W3CDTF">2026-07-26T12:09:00Z</dcterms:created>
  <dcterms:modified xsi:type="dcterms:W3CDTF">2026-07-26T15:20:52Z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8B97091E600344CD907933D3A4A4533C_12</vt:lpwstr>
  </property>
  <property fmtid="{D5CDD505-2E9C-101B-9397-08002B2CF9AE}" pid="3" name="KSOProductBuildVer">
    <vt:lpwstr>1033-12.1.0.27458</vt:lpwstr>
  </property>
</Properties>
</file>